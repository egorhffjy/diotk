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169-A1D3-404B-81F1-512EC6DF9E9D}" type="datetimeFigureOut">
              <a:rPr lang="ru-RU" smtClean="0"/>
              <a:t>28.11.2016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BB0A-1C58-45F3-991C-3AFBFDB64C2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6590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169-A1D3-404B-81F1-512EC6DF9E9D}" type="datetimeFigureOut">
              <a:rPr lang="ru-RU" smtClean="0"/>
              <a:t>28.11.2016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BB0A-1C58-45F3-991C-3AFBFDB64C2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293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169-A1D3-404B-81F1-512EC6DF9E9D}" type="datetimeFigureOut">
              <a:rPr lang="ru-RU" smtClean="0"/>
              <a:t>28.11.2016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BB0A-1C58-45F3-991C-3AFBFDB64C2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712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169-A1D3-404B-81F1-512EC6DF9E9D}" type="datetimeFigureOut">
              <a:rPr lang="ru-RU" smtClean="0"/>
              <a:t>28.11.2016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BB0A-1C58-45F3-991C-3AFBFDB64C2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4365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169-A1D3-404B-81F1-512EC6DF9E9D}" type="datetimeFigureOut">
              <a:rPr lang="ru-RU" smtClean="0"/>
              <a:t>28.11.2016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BB0A-1C58-45F3-991C-3AFBFDB64C2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8182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169-A1D3-404B-81F1-512EC6DF9E9D}" type="datetimeFigureOut">
              <a:rPr lang="ru-RU" smtClean="0"/>
              <a:t>28.11.2016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BB0A-1C58-45F3-991C-3AFBFDB64C2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2980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169-A1D3-404B-81F1-512EC6DF9E9D}" type="datetimeFigureOut">
              <a:rPr lang="ru-RU" smtClean="0"/>
              <a:t>28.11.2016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BB0A-1C58-45F3-991C-3AFBFDB64C2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807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169-A1D3-404B-81F1-512EC6DF9E9D}" type="datetimeFigureOut">
              <a:rPr lang="ru-RU" smtClean="0"/>
              <a:t>28.11.2016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BB0A-1C58-45F3-991C-3AFBFDB64C2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5704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169-A1D3-404B-81F1-512EC6DF9E9D}" type="datetimeFigureOut">
              <a:rPr lang="ru-RU" smtClean="0"/>
              <a:t>28.11.2016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BB0A-1C58-45F3-991C-3AFBFDB64C2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9998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169-A1D3-404B-81F1-512EC6DF9E9D}" type="datetimeFigureOut">
              <a:rPr lang="ru-RU" smtClean="0"/>
              <a:t>28.11.2016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BB0A-1C58-45F3-991C-3AFBFDB64C2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5294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169-A1D3-404B-81F1-512EC6DF9E9D}" type="datetimeFigureOut">
              <a:rPr lang="ru-RU" smtClean="0"/>
              <a:t>28.11.2016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BB0A-1C58-45F3-991C-3AFBFDB64C2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225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67169-A1D3-404B-81F1-512EC6DF9E9D}" type="datetimeFigureOut">
              <a:rPr lang="ru-RU" smtClean="0"/>
              <a:t>28.11.2016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ABB0A-1C58-45F3-991C-3AFBFDB64C2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574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ОПТИЧЕСКИЕ МЕТОДЫ КОНТРОЛЯ </a:t>
            </a:r>
            <a:r>
              <a:rPr lang="ru-RU" sz="3600" b="1" dirty="0" smtClean="0"/>
              <a:t>ПАРАМЕТРОВ ПОЛУПРОВОДНИКОВЫХ СТРУКТУР</a:t>
            </a:r>
            <a:r>
              <a:rPr lang="ru-RU" sz="3600" dirty="0"/>
              <a:t/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525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1.1. Оптическая микроскопия 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5283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Области применения ОМ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Одним из наиболее распространенных средств контроля </a:t>
            </a:r>
            <a:r>
              <a:rPr lang="ru-RU" dirty="0" smtClean="0"/>
              <a:t>поверхности объекта </a:t>
            </a:r>
            <a:r>
              <a:rPr lang="ru-RU" dirty="0"/>
              <a:t>является оптический микроскоп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С его помощью можно проконтролировать результаты селективного травления, что позволяет по форме ямок травления определить тип и концентрацию структурных дефектов приповерхностного слоя или кристаллографическую ориентацию полупроводниковой пластины. </a:t>
            </a:r>
          </a:p>
          <a:p>
            <a:r>
              <a:rPr lang="ru-RU" dirty="0"/>
              <a:t>Совмещение реперных знаков при проведении операции фотолитографии часто невозможно без помощи микроскопа. В случае отказа полупроводникового прибора анализ отказа, как правило, начинается с внешнего осмотра либо корпуса прибора, либо прибора </a:t>
            </a:r>
            <a:r>
              <a:rPr lang="ru-RU" dirty="0" smtClean="0"/>
              <a:t>со </a:t>
            </a:r>
            <a:r>
              <a:rPr lang="ru-RU" dirty="0"/>
              <a:t>вскрытым корпусом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8680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Применение оптического микроскопа в технологии ЭС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В целом оптический микроскоп позволяет проконтролировать состояние следующих объектов:</a:t>
            </a:r>
          </a:p>
          <a:p>
            <a:r>
              <a:rPr lang="ru-RU" dirty="0"/>
              <a:t>- основание и крышка прибора или интегральной</a:t>
            </a:r>
            <a:br>
              <a:rPr lang="ru-RU" dirty="0"/>
            </a:br>
            <a:r>
              <a:rPr lang="ru-RU" dirty="0"/>
              <a:t>микросхемы;</a:t>
            </a:r>
          </a:p>
          <a:p>
            <a:r>
              <a:rPr lang="ru-RU" dirty="0"/>
              <a:t>- сварные или паянные швы; </a:t>
            </a:r>
          </a:p>
          <a:p>
            <a:r>
              <a:rPr lang="ru-RU" dirty="0"/>
              <a:t>- контактные площадки; </a:t>
            </a:r>
          </a:p>
          <a:p>
            <a:r>
              <a:rPr lang="ru-RU" dirty="0"/>
              <a:t>- полупроводниковая пластина после механической обработки или травления;</a:t>
            </a:r>
          </a:p>
          <a:p>
            <a:r>
              <a:rPr lang="ru-RU" dirty="0"/>
              <a:t>- металлические и оксидные слои, сформированные на пластине; </a:t>
            </a:r>
          </a:p>
          <a:p>
            <a:r>
              <a:rPr lang="ru-RU" dirty="0"/>
              <a:t>- фоторезистивные слои и рисунок фотошаблонов;</a:t>
            </a:r>
          </a:p>
          <a:p>
            <a:r>
              <a:rPr lang="ru-RU" dirty="0"/>
              <a:t>- печатные платы и электронные компоненты,</a:t>
            </a:r>
            <a:br>
              <a:rPr lang="ru-RU" dirty="0"/>
            </a:br>
            <a:r>
              <a:rPr lang="ru-RU" dirty="0"/>
              <a:t>смонтированные на </a:t>
            </a:r>
            <a:r>
              <a:rPr lang="ru-RU" dirty="0" smtClean="0"/>
              <a:t>ней</a:t>
            </a:r>
            <a:r>
              <a:rPr lang="ru-RU" dirty="0"/>
              <a:t> </a:t>
            </a:r>
            <a:r>
              <a:rPr lang="ru-RU" dirty="0" smtClean="0"/>
              <a:t>и др.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9911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Оптическая схема микроскопа</a:t>
            </a: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680" y="1600200"/>
            <a:ext cx="5904655" cy="499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57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Увеличение ОМ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err="1"/>
              <a:t>Конденсорная</a:t>
            </a:r>
            <a:r>
              <a:rPr lang="ru-RU" dirty="0"/>
              <a:t> линза и диафрагма обеспечивают равномерное освещение поля зрения. </a:t>
            </a:r>
            <a:endParaRPr lang="ru-RU" dirty="0" smtClean="0"/>
          </a:p>
          <a:p>
            <a:r>
              <a:rPr lang="ru-RU" i="1" dirty="0" smtClean="0"/>
              <a:t>Увеличение </a:t>
            </a:r>
            <a:r>
              <a:rPr lang="ru-RU" dirty="0"/>
              <a:t>микроскопа N определяется соотношением</a:t>
            </a:r>
            <a:r>
              <a:rPr lang="ru-RU" dirty="0" smtClean="0"/>
              <a:t>: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r>
              <a:rPr lang="ru-RU" dirty="0"/>
              <a:t>где D – расстояние наилучшего зрения, примерно равное 250 мм; </a:t>
            </a:r>
            <a:r>
              <a:rPr lang="ru-RU" dirty="0" smtClean="0"/>
              <a:t>Δ </a:t>
            </a:r>
            <a:r>
              <a:rPr lang="ru-RU" dirty="0"/>
              <a:t>– расстояние между задним фокусом объектива и передним фокусом окуляра, называемое оптическим интервалом или оптической длиной тубуса; f1 и f2– фокусные расстояния объектива и окуляра.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635896" y="2852936"/>
            <a:ext cx="2376264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111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Числовая апертура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Важной характеристикой микроскопа является </a:t>
            </a:r>
            <a:r>
              <a:rPr lang="ru-RU" i="1" dirty="0"/>
              <a:t>числовая апертура </a:t>
            </a:r>
            <a:r>
              <a:rPr lang="ru-RU" dirty="0"/>
              <a:t>NA, которая определяется выражением</a:t>
            </a:r>
            <a:r>
              <a:rPr lang="ru-RU" dirty="0" smtClean="0"/>
              <a:t>: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r>
              <a:rPr lang="ru-RU" dirty="0"/>
              <a:t>где n – показатель преломления среды перед объективом; α – угол </a:t>
            </a:r>
            <a:r>
              <a:rPr lang="ru-RU" dirty="0" err="1"/>
              <a:t>полураствора</a:t>
            </a:r>
            <a:r>
              <a:rPr lang="ru-RU" dirty="0"/>
              <a:t> конуса в котором сходится свет </a:t>
            </a:r>
            <a:r>
              <a:rPr lang="ru-RU" dirty="0" smtClean="0"/>
              <a:t>(см рис</a:t>
            </a:r>
            <a:r>
              <a:rPr lang="ru-RU" dirty="0"/>
              <a:t>. 1.1). Числовая апертура определяет способность линзы объектива собирать рассеянный от объекта свет.</a:t>
            </a:r>
          </a:p>
          <a:p>
            <a:r>
              <a:rPr lang="ru-RU" dirty="0"/>
              <a:t>Для того чтобы увеличить апертуру, пространство между рассматриваемым объектом и объективом заполняется так называемой иммерсионной жидкостью – прозрачным веществом с показателем преломления больше единицы. В качестве такой жидкости используют кедровое масло, раствор глицерина и др. 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59833" y="2348880"/>
            <a:ext cx="2808312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12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Разрешающая способность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Разрешающая способность </a:t>
            </a:r>
            <a:r>
              <a:rPr lang="ru-RU" dirty="0"/>
              <a:t>σ характеризует способность линзы объектива раздельно наблюдать близко расположенные детали объекта. Она</a:t>
            </a:r>
            <a:br>
              <a:rPr lang="ru-RU" dirty="0"/>
            </a:br>
            <a:r>
              <a:rPr lang="ru-RU" dirty="0" smtClean="0"/>
              <a:t>определяется </a:t>
            </a:r>
            <a:r>
              <a:rPr lang="ru-RU" dirty="0"/>
              <a:t>выражением</a:t>
            </a:r>
            <a:r>
              <a:rPr lang="ru-RU" dirty="0" smtClean="0"/>
              <a:t>: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914822" y="4581128"/>
            <a:ext cx="3169346" cy="107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14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Глубина резкости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i="1" dirty="0"/>
              <a:t>Глубина резкости </a:t>
            </a:r>
            <a:r>
              <a:rPr lang="ru-RU" dirty="0"/>
              <a:t>микроскопа характеризуется величиной вертикального смещения образца, которое может быть произведено без потери фокусировки. </a:t>
            </a:r>
            <a:endParaRPr lang="ru-RU" dirty="0" smtClean="0"/>
          </a:p>
          <a:p>
            <a:r>
              <a:rPr lang="ru-RU" dirty="0" smtClean="0"/>
              <a:t>Эта </a:t>
            </a:r>
            <a:r>
              <a:rPr lang="ru-RU" dirty="0"/>
              <a:t>величина обратно пропорциональна квадрату числовой апертуры. 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/>
              <a:t>означает, что при грубой поверхности образца целесообразно использовать объективы с малой числовой апертурой.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6417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628801"/>
            <a:ext cx="7772400" cy="197165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1.2</a:t>
            </a:r>
            <a:r>
              <a:rPr lang="ru-RU" b="1" dirty="0"/>
              <a:t>. Оптическая микроскопия в режиме интерференционного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контраста (интерферометрия)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0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Сущность интерферометрических методов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Сущность интерферометрических методов состоит в получении информации об объекте по образованию в плоскости изображения соответствующего распределения интенсивности и фазы оптического излучения, прошедшего через объект или отраженного от него. </a:t>
            </a:r>
          </a:p>
        </p:txBody>
      </p:sp>
    </p:spTree>
    <p:extLst>
      <p:ext uri="{BB962C8B-B14F-4D97-AF65-F5344CB8AC3E}">
        <p14:creationId xmlns:p14="http://schemas.microsoft.com/office/powerpoint/2010/main" val="217897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Применение интерферометрии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Интерференционные методы применяются для решения следующих задач:</a:t>
            </a:r>
          </a:p>
          <a:p>
            <a:r>
              <a:rPr lang="ru-RU" dirty="0"/>
              <a:t>- определения класса чистоты обработки поверхности подложек;</a:t>
            </a:r>
          </a:p>
          <a:p>
            <a:r>
              <a:rPr lang="ru-RU" dirty="0"/>
              <a:t>- определения глубины и ширины рисок, канавок и ступенек, образованных в результате травления;</a:t>
            </a:r>
          </a:p>
          <a:p>
            <a:r>
              <a:rPr lang="ru-RU" dirty="0"/>
              <a:t>- определения геометрических размеров элементов структуры микросхем;</a:t>
            </a:r>
          </a:p>
          <a:p>
            <a:r>
              <a:rPr lang="ru-RU" dirty="0"/>
              <a:t>- определения толщины оксидных или нитридных слоев, слоя </a:t>
            </a:r>
            <a:r>
              <a:rPr lang="ru-RU" dirty="0" err="1"/>
              <a:t>фоторезиста</a:t>
            </a:r>
            <a:r>
              <a:rPr lang="ru-RU" dirty="0"/>
              <a:t> или металлизации.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0243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Метод </a:t>
            </a:r>
            <a:r>
              <a:rPr lang="ru-RU" b="1" dirty="0" err="1" smtClean="0"/>
              <a:t>Номарски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Одним из методов интерференционного контраста является </a:t>
            </a:r>
            <a:r>
              <a:rPr lang="ru-RU" i="1" dirty="0" smtClean="0"/>
              <a:t>метод </a:t>
            </a:r>
            <a:r>
              <a:rPr lang="ru-RU" i="1" dirty="0" err="1" smtClean="0"/>
              <a:t>Номарски</a:t>
            </a:r>
            <a:r>
              <a:rPr lang="ru-RU" dirty="0"/>
              <a:t>. При использовании этого метода неровности поверхности разной высоты приобретают различную окраску или различные оттенки серого цвета. </a:t>
            </a:r>
            <a:endParaRPr lang="ru-RU" dirty="0" smtClean="0"/>
          </a:p>
          <a:p>
            <a:r>
              <a:rPr lang="ru-RU" dirty="0" smtClean="0"/>
              <a:t>Наблюдаемый </a:t>
            </a:r>
            <a:r>
              <a:rPr lang="ru-RU" dirty="0"/>
              <a:t>контраст обеспечивается расщеплением первичного светового пучка на два луча, падающих в две близко расположенные</a:t>
            </a:r>
            <a:br>
              <a:rPr lang="ru-RU" dirty="0"/>
            </a:br>
            <a:r>
              <a:rPr lang="ru-RU" dirty="0"/>
              <a:t>точки на поверхности объекта, с последующим отражением и интерференцией отраженных лучей. </a:t>
            </a:r>
          </a:p>
          <a:p>
            <a:r>
              <a:rPr lang="ru-RU" dirty="0"/>
              <a:t>При наличии на поверхности неровности или изменения показателя преломления (в случае фазовой границы) оптическая разность хода лучей меняется, что обуславливает вариацию интенсивности в восстановленном из двух лучей отраженном пучке. В конечном итоге </a:t>
            </a:r>
            <a:r>
              <a:rPr lang="ru-RU" dirty="0" smtClean="0"/>
              <a:t>это проявляется </a:t>
            </a:r>
            <a:r>
              <a:rPr lang="ru-RU" dirty="0"/>
              <a:t>в виде интерференционного контраста </a:t>
            </a:r>
            <a:r>
              <a:rPr lang="ru-RU" dirty="0" smtClean="0"/>
              <a:t>микроскопического изображения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6962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Схема интерферометра </a:t>
            </a:r>
            <a:r>
              <a:rPr lang="ru-RU" b="1" dirty="0" err="1"/>
              <a:t>Номарски</a:t>
            </a:r>
            <a:endParaRPr lang="ru-RU" b="1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640" y="1340768"/>
            <a:ext cx="6768752" cy="496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826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Комментарии к схеме </a:t>
            </a:r>
            <a:r>
              <a:rPr lang="ru-RU" b="1" dirty="0"/>
              <a:t>интерферометра </a:t>
            </a:r>
            <a:r>
              <a:rPr lang="ru-RU" b="1" dirty="0" err="1"/>
              <a:t>Номарски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Данная схема интерферометра разработана </a:t>
            </a:r>
            <a:r>
              <a:rPr lang="ru-RU" dirty="0" err="1"/>
              <a:t>Номарски</a:t>
            </a:r>
            <a:r>
              <a:rPr lang="ru-RU" dirty="0"/>
              <a:t> и носит</a:t>
            </a:r>
            <a:br>
              <a:rPr lang="ru-RU" dirty="0"/>
            </a:br>
            <a:r>
              <a:rPr lang="ru-RU" dirty="0"/>
              <a:t>его имя. Свет от источника, пройдя </a:t>
            </a:r>
            <a:r>
              <a:rPr lang="ru-RU" dirty="0" err="1"/>
              <a:t>конденсорную</a:t>
            </a:r>
            <a:r>
              <a:rPr lang="ru-RU" dirty="0"/>
              <a:t> линзу и поляризатор</a:t>
            </a:r>
            <a:r>
              <a:rPr lang="ru-RU" dirty="0" smtClean="0"/>
              <a:t>, отражается </a:t>
            </a:r>
            <a:r>
              <a:rPr lang="ru-RU" dirty="0"/>
              <a:t>от полупрозрачного зеркала и проходит через призму </a:t>
            </a:r>
            <a:r>
              <a:rPr lang="ru-RU" dirty="0" err="1"/>
              <a:t>Волластона</a:t>
            </a:r>
            <a:r>
              <a:rPr lang="ru-RU" dirty="0"/>
              <a:t>. Призма </a:t>
            </a:r>
            <a:r>
              <a:rPr lang="ru-RU" dirty="0" err="1"/>
              <a:t>Волластона</a:t>
            </a:r>
            <a:r>
              <a:rPr lang="ru-RU" dirty="0"/>
              <a:t> состоит из двух кварцевых кристаллов, где световой пучок расщепляется на два линейно поляризованных в перпендикулярных плоскостях луча, расходящиеся под малым углом друг к другу с разными скоростями. По выходе из призмы и отражении от поверхности объекта два луча, пройдя через призму </a:t>
            </a:r>
            <a:r>
              <a:rPr lang="ru-RU" dirty="0" err="1"/>
              <a:t>Волластона</a:t>
            </a:r>
            <a:r>
              <a:rPr lang="ru-RU" dirty="0"/>
              <a:t> в обратном направлении , восстанавливаются в один. При наличии неровности на поверхности объекта (например, ступеньки тонкой пленки, канавки, трещины и т. д.) свет на выходе из призмы </a:t>
            </a:r>
            <a:r>
              <a:rPr lang="ru-RU" dirty="0" err="1"/>
              <a:t>Волластона</a:t>
            </a:r>
            <a:r>
              <a:rPr lang="ru-RU" dirty="0"/>
              <a:t> будет эллиптически-поляризованным. При этом форма и ориентация эллипса будут зависеть от рельефа поверхности, в частности, от величины ступеньки пленки или глубины канавки. Через анализатор пройдет только та часть общего светового потока, у которого световой вектор будет параллелен плоскости анализатора. </a:t>
            </a:r>
          </a:p>
          <a:p>
            <a:r>
              <a:rPr lang="ru-RU" dirty="0"/>
              <a:t>Таким образом, наблюдатель через окуляр будет видеть изображение поверхности объекта с характерным распределением светлых и темных областей, соответствующих рельефу поверхности. Данный метод позволяет наблюдать неровности высотой 20 </a:t>
            </a:r>
            <a:r>
              <a:rPr lang="ru-RU" dirty="0" err="1"/>
              <a:t>нм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0473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b="1" dirty="0"/>
              <a:t>Оптическая схема </a:t>
            </a:r>
            <a:r>
              <a:rPr lang="ru-RU" sz="3600" b="1" dirty="0" smtClean="0"/>
              <a:t>микроинтерферометра Майкельсона</a:t>
            </a:r>
            <a:endParaRPr lang="ru-RU" sz="3600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fontScale="85000" lnSpcReduction="20000"/>
          </a:bodyPr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Оптическая </a:t>
            </a:r>
            <a:r>
              <a:rPr lang="ru-RU" dirty="0"/>
              <a:t>схема микроинтерферометра (а); образец – кремниевая пластина с оксидным слоем (б) и поле зрения микроинтерферометра (в)</a:t>
            </a:r>
          </a:p>
          <a:p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611560" y="1340768"/>
            <a:ext cx="8064896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67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Комментарии к схеме интерферометра Майкельсона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4116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Другой метод интерференционного контраста реализован в </a:t>
            </a:r>
            <a:r>
              <a:rPr lang="ru-RU" i="1" dirty="0"/>
              <a:t>микроинтерферометре Майкельсона</a:t>
            </a:r>
            <a:r>
              <a:rPr lang="ru-RU" dirty="0"/>
              <a:t> (</a:t>
            </a:r>
            <a:r>
              <a:rPr lang="ru-RU" dirty="0" smtClean="0"/>
              <a:t>рис. </a:t>
            </a:r>
            <a:r>
              <a:rPr lang="ru-RU" dirty="0"/>
              <a:t>а). Пучок параллельных лучей, формируемых </a:t>
            </a:r>
            <a:r>
              <a:rPr lang="ru-RU" dirty="0" err="1"/>
              <a:t>конденсорной</a:t>
            </a:r>
            <a:r>
              <a:rPr lang="ru-RU" dirty="0"/>
              <a:t> линзой, падает на полупрозрачное зеркало</a:t>
            </a:r>
            <a:r>
              <a:rPr lang="ru-RU" dirty="0" smtClean="0"/>
              <a:t>. </a:t>
            </a:r>
            <a:r>
              <a:rPr lang="ru-RU" dirty="0"/>
              <a:t>Каждый из лучей в точке А расщепляется на два луча, при этом один падает </a:t>
            </a:r>
            <a:r>
              <a:rPr lang="ru-RU" dirty="0" smtClean="0"/>
              <a:t>на опорное </a:t>
            </a:r>
            <a:r>
              <a:rPr lang="ru-RU" dirty="0"/>
              <a:t>зеркало, другой – на поверхность образца. После отражения </a:t>
            </a:r>
            <a:r>
              <a:rPr lang="ru-RU" dirty="0" smtClean="0"/>
              <a:t>оба луча </a:t>
            </a:r>
            <a:r>
              <a:rPr lang="ru-RU" dirty="0"/>
              <a:t>встречаются в точке А и интерферируют. В плоскости </a:t>
            </a:r>
            <a:r>
              <a:rPr lang="ru-RU" dirty="0" smtClean="0"/>
              <a:t>изображения формируется </a:t>
            </a:r>
            <a:r>
              <a:rPr lang="ru-RU" dirty="0"/>
              <a:t>интерференционная картина, представляющая собой систему параллельных светлых и темных полос, что обусловлено слабой расходимостью светового пучка. Чем меньше расходимость лучей в пучке, тем больше расстояние между полосами. </a:t>
            </a:r>
          </a:p>
          <a:p>
            <a:r>
              <a:rPr lang="ru-RU" dirty="0"/>
              <a:t>Необходимо также учесть, что луч, отраженный от опорного зеркала, проходит полупрозрачное зеркало трижды, а луч, отраженный от объекта – только один раз. Поэтому, если по каким-то причинам (например, при изменении температуры) показатель преломления полупрозрачного зеркала изменится, то это вызовет изменения в интерференционной картине. Чтобы скомпенсировать влияние этого фактора, на пути второго луча ставится компенсационная пластина, имеющая те же геометрические и оптические параметры, что и полупрозрачное зеркало.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8619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Измерение толщин тонких пленок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Если поверхность объекта не является совершенно гладкой, например, имеется неровность в виде ступеньки оксидного слоя на поверхности</a:t>
            </a:r>
            <a:br>
              <a:rPr lang="ru-RU" dirty="0"/>
            </a:br>
            <a:r>
              <a:rPr lang="ru-RU" dirty="0"/>
              <a:t>кремниевой пластины (</a:t>
            </a:r>
            <a:r>
              <a:rPr lang="ru-RU" dirty="0" smtClean="0"/>
              <a:t>рис. </a:t>
            </a:r>
            <a:r>
              <a:rPr lang="ru-RU" dirty="0"/>
              <a:t>б), то интерференционные полосы в месте</a:t>
            </a:r>
            <a:br>
              <a:rPr lang="ru-RU" dirty="0"/>
            </a:br>
            <a:r>
              <a:rPr lang="ru-RU" dirty="0"/>
              <a:t>расположения ступеньки претерпевают излом (рис. </a:t>
            </a:r>
            <a:r>
              <a:rPr lang="ru-RU" dirty="0" smtClean="0"/>
              <a:t>в</a:t>
            </a:r>
            <a:r>
              <a:rPr lang="ru-RU" dirty="0"/>
              <a:t>). Толщина слоя</a:t>
            </a:r>
            <a:br>
              <a:rPr lang="ru-RU" dirty="0"/>
            </a:br>
            <a:r>
              <a:rPr lang="ru-RU" dirty="0"/>
              <a:t>SiO2 пропорциональна величине излома ∆Х: 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где </a:t>
            </a:r>
            <a:r>
              <a:rPr lang="ru-RU" dirty="0"/>
              <a:t>Х – расстояние между интерференционными полосами; λ – длина волны света (при работе в белом свете λ принимается равной 550 </a:t>
            </a:r>
            <a:r>
              <a:rPr lang="ru-RU" dirty="0" err="1"/>
              <a:t>нм</a:t>
            </a:r>
            <a:r>
              <a:rPr lang="ru-RU" dirty="0"/>
              <a:t>). </a:t>
            </a:r>
          </a:p>
          <a:p>
            <a:r>
              <a:rPr lang="ru-RU" dirty="0" smtClean="0"/>
              <a:t>Данный </a:t>
            </a:r>
            <a:r>
              <a:rPr lang="ru-RU" dirty="0"/>
              <a:t>метод позволяет измерить толщину оксидного слоя до</a:t>
            </a:r>
            <a:br>
              <a:rPr lang="ru-RU" dirty="0"/>
            </a:br>
            <a:r>
              <a:rPr lang="ru-RU" dirty="0"/>
              <a:t>3·10</a:t>
            </a:r>
            <a:r>
              <a:rPr lang="ru-RU" baseline="30000" dirty="0"/>
              <a:t>4</a:t>
            </a:r>
            <a:r>
              <a:rPr lang="ru-RU" dirty="0"/>
              <a:t> </a:t>
            </a:r>
            <a:r>
              <a:rPr lang="ru-RU" dirty="0" err="1"/>
              <a:t>нм</a:t>
            </a:r>
            <a:r>
              <a:rPr lang="ru-RU" dirty="0"/>
              <a:t>. Погрешность измерения не превышает 30 </a:t>
            </a:r>
            <a:r>
              <a:rPr lang="ru-RU" dirty="0" err="1"/>
              <a:t>нм</a:t>
            </a:r>
            <a:r>
              <a:rPr lang="ru-RU" dirty="0"/>
              <a:t>. Метод можно значительно улучшить, если в качестве источника света использовать лазер,</a:t>
            </a:r>
            <a:br>
              <a:rPr lang="ru-RU" dirty="0"/>
            </a:br>
            <a:r>
              <a:rPr lang="ru-RU" dirty="0"/>
              <a:t>дающий высокую </a:t>
            </a:r>
            <a:r>
              <a:rPr lang="ru-RU" dirty="0" err="1"/>
              <a:t>монохроматичность</a:t>
            </a:r>
            <a:r>
              <a:rPr lang="ru-RU" dirty="0"/>
              <a:t> и малую расходимость лазерного</a:t>
            </a:r>
            <a:br>
              <a:rPr lang="ru-RU" dirty="0"/>
            </a:br>
            <a:r>
              <a:rPr lang="ru-RU" dirty="0"/>
              <a:t>луча.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59832" y="3068960"/>
            <a:ext cx="3168351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81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1.3. </a:t>
            </a:r>
            <a:r>
              <a:rPr lang="ru-RU" b="1" dirty="0" err="1"/>
              <a:t>Эллипсометрия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717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/>
              <a:t>Применение метода </a:t>
            </a:r>
            <a:r>
              <a:rPr lang="ru-RU" sz="3600" b="1" dirty="0" err="1" smtClean="0"/>
              <a:t>эллипсометрии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7260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Эллипсометрические методы обладают высокой </a:t>
            </a:r>
            <a:r>
              <a:rPr lang="ru-RU" dirty="0" smtClean="0"/>
              <a:t>чувствительностью к </a:t>
            </a:r>
            <a:r>
              <a:rPr lang="ru-RU" dirty="0"/>
              <a:t>наличию на поверхности объекта очень тонких пленок, а также к изменению микрогеометрии, структуры и оптических свойств поверхности. </a:t>
            </a:r>
            <a:endParaRPr lang="ru-RU" dirty="0" smtClean="0"/>
          </a:p>
          <a:p>
            <a:r>
              <a:rPr lang="ru-RU" dirty="0" smtClean="0"/>
              <a:t>Эллипсометрические </a:t>
            </a:r>
            <a:r>
              <a:rPr lang="ru-RU" dirty="0"/>
              <a:t>методы используются для решения следующих задач:</a:t>
            </a:r>
            <a:br>
              <a:rPr lang="ru-RU" dirty="0"/>
            </a:br>
            <a:r>
              <a:rPr lang="ru-RU" dirty="0"/>
              <a:t>- контроль фотолитографических и электрохимических процессов;</a:t>
            </a:r>
            <a:br>
              <a:rPr lang="ru-RU" dirty="0"/>
            </a:br>
            <a:r>
              <a:rPr lang="ru-RU" dirty="0"/>
              <a:t>- исследование электрофизических свойств полупроводников;</a:t>
            </a:r>
            <a:br>
              <a:rPr lang="ru-RU" dirty="0"/>
            </a:br>
            <a:r>
              <a:rPr lang="ru-RU" dirty="0"/>
              <a:t>- контроль поверхностных слоев объектов, подвергнутых ионной обработке или травлению;</a:t>
            </a:r>
          </a:p>
          <a:p>
            <a:r>
              <a:rPr lang="ru-RU" dirty="0"/>
              <a:t>- измерение толщины и показателя преломления диэлектрических</a:t>
            </a:r>
            <a:br>
              <a:rPr lang="ru-RU" dirty="0"/>
            </a:br>
            <a:r>
              <a:rPr lang="ru-RU" dirty="0"/>
              <a:t>пленок и эпитаксиальных слоев, сформированных на поверхности пластин;</a:t>
            </a:r>
            <a:br>
              <a:rPr lang="ru-RU" dirty="0"/>
            </a:br>
            <a:r>
              <a:rPr lang="ru-RU" dirty="0"/>
              <a:t>- исследование явлений, происходящих на поверхности пластин при</a:t>
            </a:r>
            <a:br>
              <a:rPr lang="ru-RU" dirty="0"/>
            </a:br>
            <a:r>
              <a:rPr lang="ru-RU" dirty="0"/>
              <a:t>диффузии, термообработке и т. 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8986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Основы метода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904656"/>
          </a:xfrm>
        </p:spPr>
        <p:txBody>
          <a:bodyPr>
            <a:noAutofit/>
          </a:bodyPr>
          <a:lstStyle/>
          <a:p>
            <a:r>
              <a:rPr lang="ru-RU" sz="1600" dirty="0"/>
              <a:t>Как известно, при распространении плоской электромагнитной волны в идеальной диэлектрической среде напряженность электрического поля волны описывается выражением </a:t>
            </a:r>
          </a:p>
          <a:p>
            <a:r>
              <a:rPr lang="ru-RU" sz="1600" dirty="0"/>
              <a:t>  </a:t>
            </a:r>
          </a:p>
          <a:p>
            <a:endParaRPr lang="ru-RU" sz="1600" dirty="0" smtClean="0"/>
          </a:p>
          <a:p>
            <a:r>
              <a:rPr lang="ru-RU" sz="1600" dirty="0" smtClean="0"/>
              <a:t>где </a:t>
            </a:r>
            <a:r>
              <a:rPr lang="ru-RU" sz="1600" dirty="0"/>
              <a:t>E</a:t>
            </a:r>
            <a:r>
              <a:rPr lang="ru-RU" sz="1600" baseline="-25000" dirty="0"/>
              <a:t>0</a:t>
            </a:r>
            <a:r>
              <a:rPr lang="ru-RU" sz="1600" dirty="0"/>
              <a:t> – амплитуда незатухающей световой волны; i – мнимая единица; ω –</a:t>
            </a:r>
            <a:br>
              <a:rPr lang="ru-RU" sz="1600" dirty="0"/>
            </a:br>
            <a:r>
              <a:rPr lang="ru-RU" sz="1600" dirty="0"/>
              <a:t>циклическая частота; V и с – скорость света соответственно в среде и в вакууме; n – показатель преломления среды. Если среда не является идеальным диэлектриком, т. е. обладает отличной от нуля проводимостью σ, то показатель преломления n в выражении (1.1) необходимо заменить на комплексный показатель</a:t>
            </a:r>
          </a:p>
          <a:p>
            <a:endParaRPr lang="ru-RU" sz="1600" dirty="0" smtClean="0"/>
          </a:p>
          <a:p>
            <a:r>
              <a:rPr lang="ru-RU" sz="1600" dirty="0" smtClean="0"/>
              <a:t>где </a:t>
            </a:r>
            <a:r>
              <a:rPr lang="ru-RU" sz="1600" dirty="0"/>
              <a:t>k – коэффициент экстинкции, определяемый электропроводностью</a:t>
            </a:r>
            <a:br>
              <a:rPr lang="ru-RU" sz="1600" dirty="0"/>
            </a:br>
            <a:r>
              <a:rPr lang="ru-RU" sz="1600" dirty="0"/>
              <a:t>среды. Тогда выражение примет вид</a:t>
            </a:r>
          </a:p>
          <a:p>
            <a:r>
              <a:rPr lang="ru-RU" sz="1600" dirty="0"/>
              <a:t/>
            </a:r>
            <a:br>
              <a:rPr lang="ru-RU" sz="1600" dirty="0"/>
            </a:br>
            <a:endParaRPr lang="ru-RU" sz="1600" dirty="0"/>
          </a:p>
          <a:p>
            <a:endParaRPr lang="ru-RU" sz="1600" dirty="0" smtClean="0"/>
          </a:p>
          <a:p>
            <a:r>
              <a:rPr lang="ru-RU" sz="1600" dirty="0" smtClean="0"/>
              <a:t>Таким </a:t>
            </a:r>
            <a:r>
              <a:rPr lang="ru-RU" sz="1600" dirty="0"/>
              <a:t>образом, амплитуда плоской электромагнитной волны при</a:t>
            </a:r>
            <a:br>
              <a:rPr lang="ru-RU" sz="1600" dirty="0"/>
            </a:br>
            <a:r>
              <a:rPr lang="ru-RU" sz="1600" dirty="0"/>
              <a:t>распространении в среде, не являющейся идеальным диэлектриком, убывает по экспоненциальному закону с показателем </a:t>
            </a:r>
            <a:r>
              <a:rPr lang="ru-RU" sz="1600" dirty="0" err="1"/>
              <a:t>ωkx</a:t>
            </a:r>
            <a:r>
              <a:rPr lang="ru-RU" sz="1600" dirty="0"/>
              <a:t>/c. Основными параметрами, определяющими свойства среды, являются показатель преломления n и коэффициент экстинкции k. </a:t>
            </a:r>
          </a:p>
          <a:p>
            <a:endParaRPr lang="ru-RU" sz="1800" dirty="0"/>
          </a:p>
          <a:p>
            <a:endParaRPr lang="ru-RU" sz="18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987824" y="1412776"/>
            <a:ext cx="4108450" cy="731520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2323128" y="4293096"/>
            <a:ext cx="4082314" cy="797872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6876256" y="3284984"/>
            <a:ext cx="147764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57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800" b="1" dirty="0" smtClean="0"/>
              <a:t>Взаимодействие </a:t>
            </a:r>
            <a:r>
              <a:rPr lang="ru-RU" sz="2800" b="1" dirty="0" err="1" smtClean="0"/>
              <a:t>плоскополяризованного</a:t>
            </a:r>
            <a:r>
              <a:rPr lang="ru-RU" sz="2800" b="1" dirty="0" smtClean="0"/>
              <a:t> </a:t>
            </a:r>
            <a:r>
              <a:rPr lang="ru-RU" sz="2800" b="1" dirty="0"/>
              <a:t>света с полупроводниковой пластиной (а) и с пленкой, сформированной на пластине б)</a:t>
            </a:r>
            <a:r>
              <a:rPr lang="ru-RU" sz="2800" dirty="0"/>
              <a:t/>
            </a:r>
            <a:br>
              <a:rPr lang="ru-RU" sz="2800" dirty="0"/>
            </a:br>
            <a:endParaRPr lang="ru-RU" sz="2800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628800"/>
            <a:ext cx="8712968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28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Комментарии к</a:t>
            </a:r>
            <a:r>
              <a:rPr lang="ru-RU" dirty="0" smtClean="0"/>
              <a:t> </a:t>
            </a:r>
            <a:r>
              <a:rPr lang="ru-RU" b="1" dirty="0" smtClean="0"/>
              <a:t>рисунку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08720"/>
            <a:ext cx="8928992" cy="583264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Сущность </a:t>
            </a:r>
            <a:r>
              <a:rPr lang="ru-RU" dirty="0" err="1"/>
              <a:t>эллипсометрического</a:t>
            </a:r>
            <a:r>
              <a:rPr lang="ru-RU" dirty="0"/>
              <a:t> метода заключается в следующем. Пусть на </a:t>
            </a:r>
            <a:r>
              <a:rPr lang="ru-RU" dirty="0" smtClean="0"/>
              <a:t>поверхность </a:t>
            </a:r>
            <a:r>
              <a:rPr lang="ru-RU" dirty="0"/>
              <a:t>полупроводниковой пластины падает </a:t>
            </a:r>
            <a:r>
              <a:rPr lang="ru-RU" dirty="0" err="1"/>
              <a:t>плоскополяризованный</a:t>
            </a:r>
            <a:r>
              <a:rPr lang="ru-RU" dirty="0"/>
              <a:t> луч света (рис.1.4, а). </a:t>
            </a:r>
            <a:endParaRPr lang="ru-RU" dirty="0" smtClean="0"/>
          </a:p>
          <a:p>
            <a:r>
              <a:rPr lang="ru-RU" dirty="0" smtClean="0"/>
              <a:t>Вектор </a:t>
            </a:r>
            <a:r>
              <a:rPr lang="ru-RU" dirty="0"/>
              <a:t>напряженности электрического поля электромагнитной волны может быть представлен в виде суммы двух составляющих: p – составляющей Ер, которая параллельна плоскости падения луча, и s – составляющей </a:t>
            </a:r>
            <a:r>
              <a:rPr lang="ru-RU" dirty="0" err="1"/>
              <a:t>Es</a:t>
            </a:r>
            <a:r>
              <a:rPr lang="ru-RU" dirty="0"/>
              <a:t>, которая перпендикулярна плоскости падения. В отраженном от поверхности пластины луче обе этих составляющих Ер’ и </a:t>
            </a:r>
            <a:r>
              <a:rPr lang="ru-RU" dirty="0" err="1"/>
              <a:t>Es</a:t>
            </a:r>
            <a:r>
              <a:rPr lang="ru-RU" dirty="0"/>
              <a:t>’ в общем случае меняют свои амплитуду и фазу, причем степень изменения для каждой составляющей различна.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результате отраженный луч становится эллиптически-поляризованным.</a:t>
            </a:r>
          </a:p>
          <a:p>
            <a:r>
              <a:rPr lang="ru-RU" dirty="0"/>
              <a:t> </a:t>
            </a:r>
            <a:r>
              <a:rPr lang="ru-RU" dirty="0" smtClean="0"/>
              <a:t>При </a:t>
            </a:r>
            <a:r>
              <a:rPr lang="ru-RU" dirty="0"/>
              <a:t>наличии на поверхности пластины тонкой диэлектрической или</a:t>
            </a:r>
            <a:br>
              <a:rPr lang="ru-RU" dirty="0"/>
            </a:br>
            <a:r>
              <a:rPr lang="ru-RU" dirty="0"/>
              <a:t>полупроводниковой пленки (рис. </a:t>
            </a:r>
            <a:r>
              <a:rPr lang="ru-RU" dirty="0" smtClean="0"/>
              <a:t>б</a:t>
            </a:r>
            <a:r>
              <a:rPr lang="ru-RU" dirty="0"/>
              <a:t>) в ней происходит </a:t>
            </a:r>
            <a:r>
              <a:rPr lang="ru-RU" dirty="0" smtClean="0"/>
              <a:t>дополнительный сдвиг </a:t>
            </a:r>
            <a:r>
              <a:rPr lang="ru-RU" dirty="0"/>
              <a:t>фазы между лучом, отраженным от верхней границы пленки, и лучом, отраженным от поверхности полупроводника.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6568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Оценка состояния поляризации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Оценка изменения состояния поляризации светового луча при его отражении от исследуемого объекта осуществляется с помощью </a:t>
            </a:r>
            <a:r>
              <a:rPr lang="ru-RU" dirty="0" err="1"/>
              <a:t>эллипсометрических</a:t>
            </a:r>
            <a:r>
              <a:rPr lang="ru-RU" dirty="0"/>
              <a:t> параметров Ψ и Δ. Первый </a:t>
            </a:r>
            <a:r>
              <a:rPr lang="ru-RU" dirty="0" err="1"/>
              <a:t>эллипсометрический</a:t>
            </a:r>
            <a:r>
              <a:rPr lang="ru-RU" dirty="0"/>
              <a:t> параметр Ψ определяется выражением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  <a:p>
            <a:r>
              <a:rPr lang="ru-RU" dirty="0"/>
              <a:t/>
            </a:r>
            <a:br>
              <a:rPr lang="ru-RU" dirty="0"/>
            </a:br>
            <a:r>
              <a:rPr lang="ru-RU" dirty="0"/>
              <a:t>где </a:t>
            </a:r>
            <a:r>
              <a:rPr lang="ru-RU" dirty="0" err="1"/>
              <a:t>Rp</a:t>
            </a:r>
            <a:r>
              <a:rPr lang="ru-RU" dirty="0"/>
              <a:t> и </a:t>
            </a:r>
            <a:r>
              <a:rPr lang="ru-RU" dirty="0" err="1"/>
              <a:t>Rs</a:t>
            </a:r>
            <a:r>
              <a:rPr lang="ru-RU" dirty="0"/>
              <a:t> – соответствующие коэффициенты отражения. Второй </a:t>
            </a:r>
            <a:r>
              <a:rPr lang="ru-RU" dirty="0" err="1"/>
              <a:t>эллипсометрический</a:t>
            </a:r>
            <a:r>
              <a:rPr lang="ru-RU" dirty="0"/>
              <a:t> параметр Δ определяется выражением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 </a:t>
            </a:r>
          </a:p>
          <a:p>
            <a:endParaRPr lang="ru-RU" dirty="0" smtClean="0"/>
          </a:p>
          <a:p>
            <a:r>
              <a:rPr lang="ru-RU" dirty="0" smtClean="0"/>
              <a:t>где </a:t>
            </a:r>
            <a:r>
              <a:rPr lang="ru-RU" dirty="0" err="1"/>
              <a:t>δp</a:t>
            </a:r>
            <a:r>
              <a:rPr lang="ru-RU" dirty="0"/>
              <a:t> и </a:t>
            </a:r>
            <a:r>
              <a:rPr lang="ru-RU" dirty="0" err="1"/>
              <a:t>δs</a:t>
            </a:r>
            <a:r>
              <a:rPr lang="ru-RU" dirty="0"/>
              <a:t> – изменения фаз p- и s-составляющих напряженности электрического поля волны при отражении от поверхности объекта. </a:t>
            </a:r>
            <a:endParaRPr lang="ru-RU" dirty="0" smtClean="0"/>
          </a:p>
          <a:p>
            <a:r>
              <a:rPr lang="ru-RU" dirty="0" smtClean="0"/>
              <a:t>Величины </a:t>
            </a:r>
            <a:r>
              <a:rPr lang="ru-RU" dirty="0"/>
              <a:t>Ψ и Δ измеряются в угловых единицах (радианы, градусы) и часто называются </a:t>
            </a:r>
            <a:r>
              <a:rPr lang="ru-RU" i="1" dirty="0"/>
              <a:t>поляризационными углами</a:t>
            </a:r>
            <a:r>
              <a:rPr lang="ru-RU" dirty="0"/>
              <a:t>. 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63205" y="2636912"/>
            <a:ext cx="3037205" cy="891540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3821854" y="4509120"/>
            <a:ext cx="1830266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558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/>
              <a:t>Основное уравнение </a:t>
            </a:r>
            <a:r>
              <a:rPr lang="ru-RU" sz="3600" b="1" dirty="0" err="1" smtClean="0"/>
              <a:t>эллипсометрии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832648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Параметры поляризации отраженного света определяются начальными характеристиками светового луча, а также оптическими и электрическими свойствами отражающего объекта и окружающей среды. Связь поляризационных углов Ψ и Δ с этими свойствами описывается </a:t>
            </a:r>
            <a:r>
              <a:rPr lang="ru-RU" dirty="0" smtClean="0"/>
              <a:t>основным </a:t>
            </a:r>
            <a:r>
              <a:rPr lang="ru-RU" i="1" dirty="0" smtClean="0"/>
              <a:t>уравнением </a:t>
            </a:r>
            <a:r>
              <a:rPr lang="ru-RU" i="1" dirty="0" err="1"/>
              <a:t>эллипсометрии</a:t>
            </a:r>
            <a:r>
              <a:rPr lang="ru-RU" dirty="0"/>
              <a:t>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где </a:t>
            </a:r>
            <a:r>
              <a:rPr lang="ru-RU" dirty="0" err="1"/>
              <a:t>Rp</a:t>
            </a:r>
            <a:r>
              <a:rPr lang="ru-RU" dirty="0"/>
              <a:t>* и </a:t>
            </a:r>
            <a:r>
              <a:rPr lang="ru-RU" dirty="0" err="1"/>
              <a:t>Rs</a:t>
            </a:r>
            <a:r>
              <a:rPr lang="ru-RU" dirty="0"/>
              <a:t>* - обобщенные (комплексные) коэффициенты отражения.</a:t>
            </a:r>
            <a:br>
              <a:rPr lang="ru-RU" dirty="0"/>
            </a:br>
            <a:r>
              <a:rPr lang="ru-RU" dirty="0"/>
              <a:t>При наличии на поверхности пластины диэлектрической или полупроводниковой пленки величина ρ зависит от многих параметров, а именно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 </a:t>
            </a:r>
            <a:r>
              <a:rPr lang="ru-RU" dirty="0" smtClean="0"/>
              <a:t>Необходимо </a:t>
            </a:r>
            <a:r>
              <a:rPr lang="ru-RU" dirty="0"/>
              <a:t>связать экспериментально измеряемые параметры Ψ и Δ</a:t>
            </a:r>
            <a:br>
              <a:rPr lang="ru-RU" dirty="0"/>
            </a:br>
            <a:r>
              <a:rPr lang="ru-RU" dirty="0"/>
              <a:t>с величинами, которые требуется определить, например, </a:t>
            </a:r>
            <a:r>
              <a:rPr lang="ru-RU" i="1" dirty="0"/>
              <a:t>показателем преломления </a:t>
            </a:r>
            <a:r>
              <a:rPr lang="ru-RU" dirty="0"/>
              <a:t>n1 и </a:t>
            </a:r>
            <a:r>
              <a:rPr lang="ru-RU" i="1" dirty="0"/>
              <a:t>коэффициентом экстинкции </a:t>
            </a:r>
            <a:r>
              <a:rPr lang="ru-RU" dirty="0"/>
              <a:t>k1 (предполагается, что все остальные величины, а именно, n, k, d, λ, </a:t>
            </a:r>
            <a:r>
              <a:rPr lang="el-GR" dirty="0" smtClean="0"/>
              <a:t>φ</a:t>
            </a:r>
            <a:r>
              <a:rPr lang="ru-RU" baseline="-25000" dirty="0" smtClean="0"/>
              <a:t>0</a:t>
            </a:r>
            <a:r>
              <a:rPr lang="ru-RU" dirty="0" smtClean="0"/>
              <a:t> </a:t>
            </a:r>
            <a:r>
              <a:rPr lang="ru-RU" dirty="0"/>
              <a:t>известны). Эта связь устанавливается либо с помощью теоретических моделей, либо на основе экспериментов с набором образцов, для которых величины n1 и k1 известны. Результаты представляются либо в виде номограмм в координатах Ψ и Δ, либо каким-то другим образом. Это позволяет на основе измерения Ψ и Δ определить n1 и k1.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707904" y="2132856"/>
            <a:ext cx="2664296" cy="1080120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2727007" y="4149080"/>
            <a:ext cx="3689985" cy="44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860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Схема </a:t>
            </a:r>
            <a:r>
              <a:rPr lang="ru-RU" b="1" dirty="0" err="1"/>
              <a:t>эллипсометра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>
            <a:normAutofit fontScale="70000" lnSpcReduction="20000"/>
          </a:bodyPr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r>
              <a:rPr lang="ru-RU" dirty="0" smtClean="0"/>
              <a:t>1 </a:t>
            </a:r>
            <a:r>
              <a:rPr lang="ru-RU" dirty="0"/>
              <a:t>– источник света; 2 – коллиматор; 3 – монохроматор; 4 – поляризатор; 5 – компенсатор; 6 – анализатор; 7 – фотоприемник</a:t>
            </a:r>
          </a:p>
          <a:p>
            <a:pPr marL="0" indent="0">
              <a:buNone/>
            </a:pPr>
            <a:r>
              <a:rPr lang="ru-RU" dirty="0"/>
              <a:t> 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259632" y="1628800"/>
            <a:ext cx="7056784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682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/>
              <a:t>Комментарии к схеме </a:t>
            </a:r>
            <a:r>
              <a:rPr lang="ru-RU" sz="3600" b="1" dirty="0" err="1" smtClean="0"/>
              <a:t>эллипсометра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268760"/>
            <a:ext cx="8856984" cy="540060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Схема </a:t>
            </a:r>
            <a:r>
              <a:rPr lang="ru-RU" dirty="0" err="1"/>
              <a:t>эллипсометра</a:t>
            </a:r>
            <a:r>
              <a:rPr lang="ru-RU" dirty="0"/>
              <a:t> представлена на </a:t>
            </a:r>
            <a:r>
              <a:rPr lang="ru-RU" dirty="0" smtClean="0"/>
              <a:t>рис.</a:t>
            </a:r>
          </a:p>
          <a:p>
            <a:r>
              <a:rPr lang="ru-RU" dirty="0" smtClean="0"/>
              <a:t> </a:t>
            </a:r>
            <a:r>
              <a:rPr lang="ru-RU" i="1" dirty="0"/>
              <a:t>Коллиматор</a:t>
            </a:r>
            <a:r>
              <a:rPr lang="ru-RU" dirty="0"/>
              <a:t> </a:t>
            </a:r>
            <a:r>
              <a:rPr lang="ru-RU" dirty="0" smtClean="0"/>
              <a:t>служит для </a:t>
            </a:r>
            <a:r>
              <a:rPr lang="ru-RU" dirty="0"/>
              <a:t>формирования пучка параллельных лучей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i="1" dirty="0"/>
              <a:t>Поляризатор</a:t>
            </a:r>
            <a:r>
              <a:rPr lang="ru-RU" dirty="0"/>
              <a:t> из естественного света делает свет </a:t>
            </a:r>
            <a:r>
              <a:rPr lang="ru-RU" dirty="0" smtClean="0"/>
              <a:t> </a:t>
            </a:r>
            <a:r>
              <a:rPr lang="ru-RU" dirty="0" err="1" smtClean="0"/>
              <a:t>плоскополяризованным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i="1" dirty="0" smtClean="0"/>
              <a:t>Компенсатор</a:t>
            </a:r>
            <a:r>
              <a:rPr lang="ru-RU" dirty="0" smtClean="0"/>
              <a:t> представляет собой </a:t>
            </a:r>
            <a:r>
              <a:rPr lang="ru-RU" dirty="0"/>
              <a:t>четвертьволновую пластину, которая из эллиптически поляризованного света делает его </a:t>
            </a:r>
            <a:r>
              <a:rPr lang="ru-RU" dirty="0" err="1"/>
              <a:t>плоскополяризованным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Анализатор пропускает </a:t>
            </a:r>
            <a:r>
              <a:rPr lang="ru-RU" dirty="0"/>
              <a:t>только такой свет, у которого плоскость поляризации параллельна плоскости анализатора. </a:t>
            </a:r>
            <a:endParaRPr lang="ru-RU" dirty="0" smtClean="0"/>
          </a:p>
          <a:p>
            <a:r>
              <a:rPr lang="ru-RU" dirty="0" smtClean="0"/>
              <a:t>Измерение </a:t>
            </a:r>
            <a:r>
              <a:rPr lang="ru-RU" dirty="0"/>
              <a:t>поляризационных углов Ψ и Δ осуществляется поворотом поляризатора, анализатора и компенсатора до полного гашения света, поступающего на фотоприемник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8245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Лазерная </a:t>
            </a:r>
            <a:r>
              <a:rPr lang="ru-RU" b="1" dirty="0" err="1"/>
              <a:t>эллипсометрия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506916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 Возможности </a:t>
            </a:r>
            <a:r>
              <a:rPr lang="ru-RU" dirty="0" err="1"/>
              <a:t>эллипсометров</a:t>
            </a:r>
            <a:r>
              <a:rPr lang="ru-RU" dirty="0"/>
              <a:t> существенно расширяются, если в качестве источника излучения использовать лазеры. </a:t>
            </a:r>
            <a:endParaRPr lang="ru-RU" dirty="0" smtClean="0"/>
          </a:p>
          <a:p>
            <a:r>
              <a:rPr lang="ru-RU" dirty="0" smtClean="0"/>
              <a:t>Так</a:t>
            </a:r>
            <a:r>
              <a:rPr lang="ru-RU" dirty="0"/>
              <a:t>, например, использование лазера, излучающего в инфракрасном диапазоне на длине волны 10,6 мкм, позволило расширить диапазон измерения толщины эпитаксиальных слоев кремния до 1,6 мкм с погрешностью на уровне 0,01 мкм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Кроме того, лазерная </a:t>
            </a:r>
            <a:r>
              <a:rPr lang="ru-RU" dirty="0" err="1"/>
              <a:t>эллипсометрия</a:t>
            </a:r>
            <a:r>
              <a:rPr lang="ru-RU" dirty="0"/>
              <a:t> позволяет решать такие задачи, как бесконтактное измерение концентрации и подвижности свободных носителей заряда в полупроводнике, контроль адгезии и адсорбции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41993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1058</Words>
  <Application>Microsoft Office PowerPoint</Application>
  <PresentationFormat>Экран (4:3)</PresentationFormat>
  <Paragraphs>146</Paragraphs>
  <Slides>28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29" baseType="lpstr">
      <vt:lpstr>Тема Office</vt:lpstr>
      <vt:lpstr>ОПТИЧЕСКИЕ МЕТОДЫ КОНТРОЛЯ ПАРАМЕТРОВ ПОЛУПРОВОДНИКОВЫХ СТРУКТУР </vt:lpstr>
      <vt:lpstr>1.1. Оптическая микроскопия </vt:lpstr>
      <vt:lpstr>Области применения ОМ</vt:lpstr>
      <vt:lpstr>Применение оптического микроскопа в технологии ЭС</vt:lpstr>
      <vt:lpstr>Оптическая схема микроскопа</vt:lpstr>
      <vt:lpstr>Увеличение ОМ</vt:lpstr>
      <vt:lpstr>Числовая апертура</vt:lpstr>
      <vt:lpstr>Разрешающая способность</vt:lpstr>
      <vt:lpstr>Глубина резкости</vt:lpstr>
      <vt:lpstr> 1.2. Оптическая микроскопия в режиме интерференционного контраста (интерферометрия) </vt:lpstr>
      <vt:lpstr>Сущность интерферометрических методов</vt:lpstr>
      <vt:lpstr>Применение интерферометрии</vt:lpstr>
      <vt:lpstr>Метод Номарски</vt:lpstr>
      <vt:lpstr>Схема интерферометра Номарски</vt:lpstr>
      <vt:lpstr>Комментарии к схеме интерферометра Номарски</vt:lpstr>
      <vt:lpstr>Оптическая схема микроинтерферометра Майкельсона</vt:lpstr>
      <vt:lpstr>Комментарии к схеме интерферометра Майкельсона</vt:lpstr>
      <vt:lpstr>Измерение толщин тонких пленок</vt:lpstr>
      <vt:lpstr>1.3. Эллипсометрия </vt:lpstr>
      <vt:lpstr>Применение метода эллипсометрии</vt:lpstr>
      <vt:lpstr>Основы метода</vt:lpstr>
      <vt:lpstr> Взаимодействие плоскополяризованного света с полупроводниковой пластиной (а) и с пленкой, сформированной на пластине б) </vt:lpstr>
      <vt:lpstr>Комментарии к рисунку</vt:lpstr>
      <vt:lpstr>Оценка состояния поляризации</vt:lpstr>
      <vt:lpstr>Основное уравнение эллипсометрии</vt:lpstr>
      <vt:lpstr>Схема эллипсометра</vt:lpstr>
      <vt:lpstr>Комментарии к схеме эллипсометра</vt:lpstr>
      <vt:lpstr>Лазерная эллипсометрия</vt:lpstr>
    </vt:vector>
  </TitlesOfParts>
  <Company>-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-</dc:creator>
  <cp:lastModifiedBy>-</cp:lastModifiedBy>
  <cp:revision>35</cp:revision>
  <dcterms:created xsi:type="dcterms:W3CDTF">2016-10-03T08:24:13Z</dcterms:created>
  <dcterms:modified xsi:type="dcterms:W3CDTF">2016-11-28T11:35:10Z</dcterms:modified>
</cp:coreProperties>
</file>