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323" r:id="rId2"/>
    <p:sldId id="324" r:id="rId3"/>
    <p:sldId id="325" r:id="rId4"/>
    <p:sldId id="326" r:id="rId5"/>
    <p:sldId id="327" r:id="rId6"/>
    <p:sldId id="328" r:id="rId7"/>
    <p:sldId id="329" r:id="rId8"/>
    <p:sldId id="330" r:id="rId9"/>
    <p:sldId id="331" r:id="rId10"/>
    <p:sldId id="332" r:id="rId11"/>
    <p:sldId id="333" r:id="rId12"/>
    <p:sldId id="334" r:id="rId13"/>
    <p:sldId id="335" r:id="rId14"/>
    <p:sldId id="336" r:id="rId15"/>
    <p:sldId id="337" r:id="rId16"/>
    <p:sldId id="338" r:id="rId17"/>
    <p:sldId id="339" r:id="rId18"/>
    <p:sldId id="340" r:id="rId19"/>
    <p:sldId id="341" r:id="rId20"/>
    <p:sldId id="342" r:id="rId21"/>
    <p:sldId id="343" r:id="rId22"/>
    <p:sldId id="344" r:id="rId23"/>
    <p:sldId id="345" r:id="rId24"/>
    <p:sldId id="346" r:id="rId25"/>
    <p:sldId id="347" r:id="rId26"/>
    <p:sldId id="348" r:id="rId27"/>
    <p:sldId id="349" r:id="rId28"/>
    <p:sldId id="350" r:id="rId29"/>
    <p:sldId id="351" r:id="rId30"/>
    <p:sldId id="352" r:id="rId31"/>
    <p:sldId id="353" r:id="rId32"/>
    <p:sldId id="354" r:id="rId33"/>
    <p:sldId id="356" r:id="rId34"/>
    <p:sldId id="357" r:id="rId35"/>
    <p:sldId id="358" r:id="rId36"/>
    <p:sldId id="359" r:id="rId37"/>
    <p:sldId id="360" r:id="rId38"/>
    <p:sldId id="361" r:id="rId39"/>
    <p:sldId id="362" r:id="rId40"/>
    <p:sldId id="363" r:id="rId41"/>
    <p:sldId id="355" r:id="rId42"/>
    <p:sldId id="365" r:id="rId43"/>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58F9C38-7FCB-4953-AA90-F814521C9B9D}" type="datetimeFigureOut">
              <a:rPr lang="ru-RU" smtClean="0"/>
              <a:pPr/>
              <a:t>09.12.2024</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7C91AD6-A301-4FB2-BBF1-45F824BF2743}" type="slidenum">
              <a:rPr lang="ru-RU" smtClean="0"/>
              <a:pPr/>
              <a:t>‹#›</a:t>
            </a:fld>
            <a:endParaRPr lang="ru-RU"/>
          </a:p>
        </p:txBody>
      </p:sp>
    </p:spTree>
    <p:extLst>
      <p:ext uri="{BB962C8B-B14F-4D97-AF65-F5344CB8AC3E}">
        <p14:creationId xmlns:p14="http://schemas.microsoft.com/office/powerpoint/2010/main" val="3612468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85236D75-B7A0-405F-A76F-332630F0DF88}" type="datetimeFigureOut">
              <a:rPr lang="ru-RU" smtClean="0"/>
              <a:pPr/>
              <a:t>09.12.2024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092BC97-1C50-4CBF-BE88-6566FFC65F3D}" type="slidenum">
              <a:rPr lang="ru-RU" smtClean="0"/>
              <a:pPr/>
              <a:t>‹#›</a:t>
            </a:fld>
            <a:endParaRPr lang="ru-RU"/>
          </a:p>
        </p:txBody>
      </p:sp>
    </p:spTree>
    <p:extLst>
      <p:ext uri="{BB962C8B-B14F-4D97-AF65-F5344CB8AC3E}">
        <p14:creationId xmlns:p14="http://schemas.microsoft.com/office/powerpoint/2010/main" val="2926100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85236D75-B7A0-405F-A76F-332630F0DF88}" type="datetimeFigureOut">
              <a:rPr lang="ru-RU" smtClean="0"/>
              <a:pPr/>
              <a:t>09.12.2024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092BC97-1C50-4CBF-BE88-6566FFC65F3D}" type="slidenum">
              <a:rPr lang="ru-RU" smtClean="0"/>
              <a:pPr/>
              <a:t>‹#›</a:t>
            </a:fld>
            <a:endParaRPr lang="ru-RU"/>
          </a:p>
        </p:txBody>
      </p:sp>
    </p:spTree>
    <p:extLst>
      <p:ext uri="{BB962C8B-B14F-4D97-AF65-F5344CB8AC3E}">
        <p14:creationId xmlns:p14="http://schemas.microsoft.com/office/powerpoint/2010/main" val="2304946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85236D75-B7A0-405F-A76F-332630F0DF88}" type="datetimeFigureOut">
              <a:rPr lang="ru-RU" smtClean="0"/>
              <a:pPr/>
              <a:t>09.12.2024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092BC97-1C50-4CBF-BE88-6566FFC65F3D}" type="slidenum">
              <a:rPr lang="ru-RU" smtClean="0"/>
              <a:pPr/>
              <a:t>‹#›</a:t>
            </a:fld>
            <a:endParaRPr lang="ru-RU"/>
          </a:p>
        </p:txBody>
      </p:sp>
    </p:spTree>
    <p:extLst>
      <p:ext uri="{BB962C8B-B14F-4D97-AF65-F5344CB8AC3E}">
        <p14:creationId xmlns:p14="http://schemas.microsoft.com/office/powerpoint/2010/main" val="3226235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85236D75-B7A0-405F-A76F-332630F0DF88}" type="datetimeFigureOut">
              <a:rPr lang="ru-RU" smtClean="0"/>
              <a:pPr/>
              <a:t>09.12.2024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092BC97-1C50-4CBF-BE88-6566FFC65F3D}" type="slidenum">
              <a:rPr lang="ru-RU" smtClean="0"/>
              <a:pPr/>
              <a:t>‹#›</a:t>
            </a:fld>
            <a:endParaRPr lang="ru-RU"/>
          </a:p>
        </p:txBody>
      </p:sp>
    </p:spTree>
    <p:extLst>
      <p:ext uri="{BB962C8B-B14F-4D97-AF65-F5344CB8AC3E}">
        <p14:creationId xmlns:p14="http://schemas.microsoft.com/office/powerpoint/2010/main" val="1248484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85236D75-B7A0-405F-A76F-332630F0DF88}" type="datetimeFigureOut">
              <a:rPr lang="ru-RU" smtClean="0"/>
              <a:pPr/>
              <a:t>09.12.2024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C092BC97-1C50-4CBF-BE88-6566FFC65F3D}" type="slidenum">
              <a:rPr lang="ru-RU" smtClean="0"/>
              <a:pPr/>
              <a:t>‹#›</a:t>
            </a:fld>
            <a:endParaRPr lang="ru-RU"/>
          </a:p>
        </p:txBody>
      </p:sp>
    </p:spTree>
    <p:extLst>
      <p:ext uri="{BB962C8B-B14F-4D97-AF65-F5344CB8AC3E}">
        <p14:creationId xmlns:p14="http://schemas.microsoft.com/office/powerpoint/2010/main" val="1490829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85236D75-B7A0-405F-A76F-332630F0DF88}" type="datetimeFigureOut">
              <a:rPr lang="ru-RU" smtClean="0"/>
              <a:pPr/>
              <a:t>09.12.2024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C092BC97-1C50-4CBF-BE88-6566FFC65F3D}" type="slidenum">
              <a:rPr lang="ru-RU" smtClean="0"/>
              <a:pPr/>
              <a:t>‹#›</a:t>
            </a:fld>
            <a:endParaRPr lang="ru-RU"/>
          </a:p>
        </p:txBody>
      </p:sp>
    </p:spTree>
    <p:extLst>
      <p:ext uri="{BB962C8B-B14F-4D97-AF65-F5344CB8AC3E}">
        <p14:creationId xmlns:p14="http://schemas.microsoft.com/office/powerpoint/2010/main" val="4104773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85236D75-B7A0-405F-A76F-332630F0DF88}" type="datetimeFigureOut">
              <a:rPr lang="ru-RU" smtClean="0"/>
              <a:pPr/>
              <a:t>09.12.2024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C092BC97-1C50-4CBF-BE88-6566FFC65F3D}" type="slidenum">
              <a:rPr lang="ru-RU" smtClean="0"/>
              <a:pPr/>
              <a:t>‹#›</a:t>
            </a:fld>
            <a:endParaRPr lang="ru-RU"/>
          </a:p>
        </p:txBody>
      </p:sp>
    </p:spTree>
    <p:extLst>
      <p:ext uri="{BB962C8B-B14F-4D97-AF65-F5344CB8AC3E}">
        <p14:creationId xmlns:p14="http://schemas.microsoft.com/office/powerpoint/2010/main" val="3938416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85236D75-B7A0-405F-A76F-332630F0DF88}" type="datetimeFigureOut">
              <a:rPr lang="ru-RU" smtClean="0"/>
              <a:pPr/>
              <a:t>09.12.2024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092BC97-1C50-4CBF-BE88-6566FFC65F3D}" type="slidenum">
              <a:rPr lang="ru-RU" smtClean="0"/>
              <a:pPr/>
              <a:t>‹#›</a:t>
            </a:fld>
            <a:endParaRPr lang="ru-RU"/>
          </a:p>
        </p:txBody>
      </p:sp>
    </p:spTree>
    <p:extLst>
      <p:ext uri="{BB962C8B-B14F-4D97-AF65-F5344CB8AC3E}">
        <p14:creationId xmlns:p14="http://schemas.microsoft.com/office/powerpoint/2010/main" val="567846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85236D75-B7A0-405F-A76F-332630F0DF88}" type="datetimeFigureOut">
              <a:rPr lang="ru-RU" smtClean="0"/>
              <a:pPr/>
              <a:t>09.12.2024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092BC97-1C50-4CBF-BE88-6566FFC65F3D}" type="slidenum">
              <a:rPr lang="ru-RU" smtClean="0"/>
              <a:pPr/>
              <a:t>‹#›</a:t>
            </a:fld>
            <a:endParaRPr lang="ru-RU"/>
          </a:p>
        </p:txBody>
      </p:sp>
    </p:spTree>
    <p:extLst>
      <p:ext uri="{BB962C8B-B14F-4D97-AF65-F5344CB8AC3E}">
        <p14:creationId xmlns:p14="http://schemas.microsoft.com/office/powerpoint/2010/main" val="3060505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85236D75-B7A0-405F-A76F-332630F0DF88}" type="datetimeFigureOut">
              <a:rPr lang="ru-RU" smtClean="0"/>
              <a:pPr/>
              <a:t>09.12.2024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092BC97-1C50-4CBF-BE88-6566FFC65F3D}" type="slidenum">
              <a:rPr lang="ru-RU" smtClean="0"/>
              <a:pPr/>
              <a:t>‹#›</a:t>
            </a:fld>
            <a:endParaRPr lang="ru-RU"/>
          </a:p>
        </p:txBody>
      </p:sp>
    </p:spTree>
    <p:extLst>
      <p:ext uri="{BB962C8B-B14F-4D97-AF65-F5344CB8AC3E}">
        <p14:creationId xmlns:p14="http://schemas.microsoft.com/office/powerpoint/2010/main" val="1818604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85236D75-B7A0-405F-A76F-332630F0DF88}" type="datetimeFigureOut">
              <a:rPr lang="ru-RU" smtClean="0"/>
              <a:pPr/>
              <a:t>09.12.2024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092BC97-1C50-4CBF-BE88-6566FFC65F3D}" type="slidenum">
              <a:rPr lang="ru-RU" smtClean="0"/>
              <a:pPr/>
              <a:t>‹#›</a:t>
            </a:fld>
            <a:endParaRPr lang="ru-RU"/>
          </a:p>
        </p:txBody>
      </p:sp>
    </p:spTree>
    <p:extLst>
      <p:ext uri="{BB962C8B-B14F-4D97-AF65-F5344CB8AC3E}">
        <p14:creationId xmlns:p14="http://schemas.microsoft.com/office/powerpoint/2010/main" val="3404098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236D75-B7A0-405F-A76F-332630F0DF88}" type="datetimeFigureOut">
              <a:rPr lang="ru-RU" smtClean="0"/>
              <a:pPr/>
              <a:t>09.12.2024</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92BC97-1C50-4CBF-BE88-6566FFC65F3D}" type="slidenum">
              <a:rPr lang="ru-RU" smtClean="0"/>
              <a:pPr/>
              <a:t>‹#›</a:t>
            </a:fld>
            <a:endParaRPr lang="ru-RU"/>
          </a:p>
        </p:txBody>
      </p:sp>
    </p:spTree>
    <p:extLst>
      <p:ext uri="{BB962C8B-B14F-4D97-AF65-F5344CB8AC3E}">
        <p14:creationId xmlns:p14="http://schemas.microsoft.com/office/powerpoint/2010/main" val="6531293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1412777"/>
            <a:ext cx="7772400" cy="2187674"/>
          </a:xfrm>
        </p:spPr>
        <p:txBody>
          <a:bodyPr>
            <a:normAutofit/>
          </a:bodyPr>
          <a:lstStyle/>
          <a:p>
            <a:r>
              <a:rPr lang="ru-RU" dirty="0"/>
              <a:t>Контроль и диагностирование технического состояния систем управления</a:t>
            </a:r>
          </a:p>
        </p:txBody>
      </p:sp>
      <p:sp>
        <p:nvSpPr>
          <p:cNvPr id="3" name="Подзаголовок 2"/>
          <p:cNvSpPr>
            <a:spLocks noGrp="1"/>
          </p:cNvSpPr>
          <p:nvPr>
            <p:ph type="subTitle" idx="1"/>
          </p:nvPr>
        </p:nvSpPr>
        <p:spPr/>
        <p:txBody>
          <a:bodyPr/>
          <a:lstStyle/>
          <a:p>
            <a:r>
              <a:rPr lang="ru-RU" dirty="0"/>
              <a:t>Классификация способов и средств диагностирования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332656"/>
            <a:ext cx="9144000" cy="6001643"/>
          </a:xfrm>
          <a:prstGeom prst="rect">
            <a:avLst/>
          </a:prstGeom>
        </p:spPr>
        <p:txBody>
          <a:bodyPr wrap="square">
            <a:spAutoFit/>
          </a:bodyPr>
          <a:lstStyle/>
          <a:p>
            <a:r>
              <a:rPr lang="ru-RU" sz="2400" dirty="0"/>
              <a:t>Диагностика оборудования, автоматический контроль точности обработки, стабильности протекания технологического процесса являются основными показателями установок с числовым программным управлением. Диагностика использует информацию управляющей программы, сигналы измерительных приборов, ряда вспомогательных датчиков.</a:t>
            </a:r>
          </a:p>
          <a:p>
            <a:r>
              <a:rPr lang="ru-RU" sz="2400" dirty="0"/>
              <a:t>Диагностика установок с числовым программным управлением выполняется на основе специальных тестов. В качестве объекта диагностирования могут использоваться как средства труда (инструмент, приспособление и т.д.), продукты труда (изделие), так и технологический процесс.</a:t>
            </a:r>
          </a:p>
          <a:p>
            <a:r>
              <a:rPr lang="ru-RU" sz="2400" dirty="0"/>
              <a:t>В любой системе автоматического управления (САУ) необходимы функции контроля, однако, если автоматизация производства частичная или комплексная, то достаточно простой схемы осуществления контроля и выдачи полученной информации в звуковом, световом или графическом виде</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836712"/>
            <a:ext cx="9144000" cy="3416320"/>
          </a:xfrm>
          <a:prstGeom prst="rect">
            <a:avLst/>
          </a:prstGeom>
        </p:spPr>
        <p:txBody>
          <a:bodyPr wrap="square">
            <a:spAutoFit/>
          </a:bodyPr>
          <a:lstStyle/>
          <a:p>
            <a:r>
              <a:rPr lang="ru-RU" i="1" u="sng" dirty="0"/>
              <a:t>Технический контроль</a:t>
            </a:r>
            <a:r>
              <a:rPr lang="ru-RU" i="1" dirty="0"/>
              <a:t> - </a:t>
            </a:r>
            <a:r>
              <a:rPr lang="ru-RU" dirty="0"/>
              <a:t>это проверка соответствия объекта управления техническим требованиям. В ГПС технический контроль охватывает и средства производства, и орудия труда, и техпроцесс. Контроль производится либо с помощью системы автоматического контроля (САК), либо - системы телемеханики (ТК).</a:t>
            </a:r>
          </a:p>
          <a:p>
            <a:r>
              <a:rPr lang="ru-RU" i="1" u="sng" dirty="0"/>
              <a:t>Техническое диагностирование</a:t>
            </a:r>
            <a:r>
              <a:rPr lang="ru-RU" i="1" dirty="0"/>
              <a:t> </a:t>
            </a:r>
            <a:r>
              <a:rPr lang="ru-RU" dirty="0"/>
              <a:t>- это не только проверка соответствия объекта техническим требованиям, но и выявление причины и вида дефекта.</a:t>
            </a:r>
          </a:p>
          <a:p>
            <a:r>
              <a:rPr lang="ru-RU" dirty="0"/>
              <a:t>Совокупность проверок, последовательность их реализации и правила обработки результатов для определения технического состояния объекта управления задаются алгоритмом управления. Если этот алгоритм задает только одну фиксированную последовательность проверок, то он называется </a:t>
            </a:r>
            <a:r>
              <a:rPr lang="ru-RU" i="1" dirty="0"/>
              <a:t>безусловным, </a:t>
            </a:r>
            <a:r>
              <a:rPr lang="ru-RU" dirty="0"/>
              <a:t>а если в зависимости от предыдущего такта работы, то </a:t>
            </a:r>
            <a:r>
              <a:rPr lang="ru-RU" i="1" dirty="0"/>
              <a:t>условным. </a:t>
            </a:r>
            <a:r>
              <a:rPr lang="ru-RU" dirty="0"/>
              <a:t>Если он обеспечивает определение оптимальных значений заданной целевой функции диагностики, то </a:t>
            </a:r>
            <a:r>
              <a:rPr lang="ru-RU" i="1" dirty="0"/>
              <a:t>оптимальным.</a:t>
            </a:r>
            <a:endParaRPr lang="ru-RU"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0" y="404664"/>
            <a:ext cx="9144000" cy="600164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50850" algn="just"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dirty="0">
                <a:ln>
                  <a:noFill/>
                </a:ln>
                <a:solidFill>
                  <a:schemeClr val="tx1"/>
                </a:solidFill>
                <a:effectLst/>
                <a:latin typeface="Arial" pitchFamily="34" charset="0"/>
                <a:ea typeface="Times New Roman" pitchFamily="18" charset="0"/>
              </a:rPr>
              <a:t>Процесс диагностирования </a:t>
            </a:r>
            <a:r>
              <a:rPr kumimoji="0" lang="ru-RU" sz="2400" b="0" i="1" u="none" strike="noStrike" cap="none" normalizeH="0" baseline="0" dirty="0">
                <a:ln>
                  <a:noFill/>
                </a:ln>
                <a:solidFill>
                  <a:schemeClr val="tx1"/>
                </a:solidFill>
                <a:effectLst/>
                <a:latin typeface="Arial" pitchFamily="34" charset="0"/>
                <a:ea typeface="Times New Roman" pitchFamily="18" charset="0"/>
              </a:rPr>
              <a:t>скрытых объектов </a:t>
            </a:r>
            <a:r>
              <a:rPr kumimoji="0" lang="ru-RU" sz="2400" b="0" i="0" u="none" strike="noStrike" cap="none" normalizeH="0" baseline="0" dirty="0">
                <a:ln>
                  <a:noFill/>
                </a:ln>
                <a:solidFill>
                  <a:schemeClr val="tx1"/>
                </a:solidFill>
                <a:effectLst/>
                <a:latin typeface="Arial" pitchFamily="34" charset="0"/>
                <a:ea typeface="Times New Roman" pitchFamily="18" charset="0"/>
              </a:rPr>
              <a:t>включает в себя измерительные элементы, контрольные элементы и логические элементы, а </a:t>
            </a:r>
            <a:r>
              <a:rPr kumimoji="0" lang="ru-RU" sz="2400" b="0" i="1" u="none" strike="noStrike" cap="none" normalizeH="0" baseline="0" dirty="0">
                <a:ln>
                  <a:noFill/>
                </a:ln>
                <a:solidFill>
                  <a:schemeClr val="tx1"/>
                </a:solidFill>
                <a:effectLst/>
                <a:latin typeface="Arial" pitchFamily="34" charset="0"/>
                <a:ea typeface="Times New Roman" pitchFamily="18" charset="0"/>
              </a:rPr>
              <a:t>явные объекты </a:t>
            </a:r>
            <a:r>
              <a:rPr kumimoji="0" lang="ru-RU" sz="2400" b="0" i="0" u="none" strike="noStrike" cap="none" normalizeH="0" baseline="0" dirty="0">
                <a:ln>
                  <a:noFill/>
                </a:ln>
                <a:solidFill>
                  <a:schemeClr val="tx1"/>
                </a:solidFill>
                <a:effectLst/>
                <a:latin typeface="Arial" pitchFamily="34" charset="0"/>
                <a:ea typeface="Times New Roman" pitchFamily="18" charset="0"/>
              </a:rPr>
              <a:t>диагностируются визуально.</a:t>
            </a:r>
            <a:endParaRPr kumimoji="0" lang="ru-RU" sz="24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pPr>
            <a:r>
              <a:rPr kumimoji="0" lang="ru-RU" sz="2400" b="0" i="0" u="none" strike="noStrike" cap="none" normalizeH="0" baseline="0" dirty="0">
                <a:ln>
                  <a:noFill/>
                </a:ln>
                <a:solidFill>
                  <a:schemeClr val="tx1"/>
                </a:solidFill>
                <a:effectLst/>
                <a:latin typeface="Arial" pitchFamily="34" charset="0"/>
                <a:ea typeface="Times New Roman" pitchFamily="18" charset="0"/>
              </a:rPr>
              <a:t>Диагностирование станка обычно производится в два этапа: </a:t>
            </a:r>
            <a:endParaRPr kumimoji="0" lang="ru-RU" sz="24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pPr>
            <a:r>
              <a:rPr kumimoji="0" lang="ru-RU" sz="2400" b="0" i="1" u="none" strike="noStrike" cap="none" normalizeH="0" baseline="0" dirty="0">
                <a:ln>
                  <a:noFill/>
                </a:ln>
                <a:solidFill>
                  <a:schemeClr val="tx1"/>
                </a:solidFill>
                <a:effectLst/>
                <a:latin typeface="Arial" pitchFamily="34" charset="0"/>
                <a:ea typeface="Times New Roman" pitchFamily="18" charset="0"/>
              </a:rPr>
              <a:t>1) </a:t>
            </a:r>
            <a:r>
              <a:rPr kumimoji="0" lang="ru-RU" sz="2400" b="0" i="0" u="none" strike="noStrike" cap="none" normalizeH="0" baseline="0" dirty="0">
                <a:ln>
                  <a:noFill/>
                </a:ln>
                <a:solidFill>
                  <a:schemeClr val="tx1"/>
                </a:solidFill>
                <a:effectLst/>
                <a:latin typeface="Arial" pitchFamily="34" charset="0"/>
                <a:ea typeface="Times New Roman" pitchFamily="18" charset="0"/>
              </a:rPr>
              <a:t>Сборка и наладка, т.е. проверка соответствия деталей и узлов;</a:t>
            </a:r>
            <a:endParaRPr kumimoji="0" lang="ru-RU" sz="24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pPr>
            <a:r>
              <a:rPr kumimoji="0" lang="ru-RU" sz="2400" b="0" i="1" u="none" strike="noStrike" cap="none" normalizeH="0" baseline="0" dirty="0">
                <a:ln>
                  <a:noFill/>
                </a:ln>
                <a:solidFill>
                  <a:schemeClr val="tx1"/>
                </a:solidFill>
                <a:effectLst/>
                <a:latin typeface="Arial" pitchFamily="34" charset="0"/>
                <a:ea typeface="Times New Roman" pitchFamily="18" charset="0"/>
              </a:rPr>
              <a:t>2) </a:t>
            </a:r>
            <a:r>
              <a:rPr kumimoji="0" lang="ru-RU" sz="2400" b="0" i="0" u="none" strike="noStrike" cap="none" normalizeH="0" baseline="0" dirty="0">
                <a:ln>
                  <a:noFill/>
                </a:ln>
                <a:solidFill>
                  <a:schemeClr val="tx1"/>
                </a:solidFill>
                <a:effectLst/>
                <a:latin typeface="Arial" pitchFamily="34" charset="0"/>
                <a:ea typeface="Times New Roman" pitchFamily="18" charset="0"/>
              </a:rPr>
              <a:t>Эксплуатация, ремонт, т.е. применение силовых и </a:t>
            </a:r>
            <a:r>
              <a:rPr kumimoji="0" lang="ru-RU" sz="2400" b="0" i="0" u="none" strike="noStrike" cap="none" normalizeH="0" baseline="0" dirty="0" err="1">
                <a:ln>
                  <a:noFill/>
                </a:ln>
                <a:solidFill>
                  <a:schemeClr val="tx1"/>
                </a:solidFill>
                <a:effectLst/>
                <a:latin typeface="Arial" pitchFamily="34" charset="0"/>
                <a:ea typeface="Times New Roman" pitchFamily="18" charset="0"/>
              </a:rPr>
              <a:t>точностных</a:t>
            </a:r>
            <a:r>
              <a:rPr kumimoji="0" lang="ru-RU" sz="2400" b="0" i="0" u="none" strike="noStrike" cap="none" normalizeH="0" baseline="0" dirty="0">
                <a:ln>
                  <a:noFill/>
                </a:ln>
                <a:solidFill>
                  <a:schemeClr val="tx1"/>
                </a:solidFill>
                <a:effectLst/>
                <a:latin typeface="Arial" pitchFamily="34" charset="0"/>
                <a:ea typeface="Times New Roman" pitchFamily="18" charset="0"/>
              </a:rPr>
              <a:t> методов.</a:t>
            </a:r>
            <a:endParaRPr kumimoji="0" lang="ru-RU" sz="24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pPr>
            <a:r>
              <a:rPr kumimoji="0" lang="ru-RU" sz="2400" b="0" i="0" u="none" strike="noStrike" cap="none" normalizeH="0" baseline="0" dirty="0">
                <a:ln>
                  <a:noFill/>
                </a:ln>
                <a:solidFill>
                  <a:schemeClr val="tx1"/>
                </a:solidFill>
                <a:effectLst/>
                <a:latin typeface="Arial" pitchFamily="34" charset="0"/>
                <a:ea typeface="Times New Roman" pitchFamily="18" charset="0"/>
              </a:rPr>
              <a:t>В соответствии с этапами производства диагностики различают активный и пассивный контроль.</a:t>
            </a:r>
            <a:endParaRPr kumimoji="0" lang="ru-RU" sz="24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pPr>
            <a:r>
              <a:rPr kumimoji="0" lang="ru-RU" sz="2400" b="0" i="1" u="none" strike="noStrike" cap="none" normalizeH="0" baseline="0" dirty="0">
                <a:ln>
                  <a:noFill/>
                </a:ln>
                <a:solidFill>
                  <a:schemeClr val="tx1"/>
                </a:solidFill>
                <a:effectLst/>
                <a:latin typeface="Arial" pitchFamily="34" charset="0"/>
                <a:ea typeface="Times New Roman" pitchFamily="18" charset="0"/>
              </a:rPr>
              <a:t>Активный контроль </a:t>
            </a:r>
            <a:r>
              <a:rPr kumimoji="0" lang="ru-RU" sz="2400" b="0" i="0" u="none" strike="noStrike" cap="none" normalizeH="0" baseline="0" dirty="0">
                <a:ln>
                  <a:noFill/>
                </a:ln>
                <a:solidFill>
                  <a:schemeClr val="tx1"/>
                </a:solidFill>
                <a:effectLst/>
                <a:latin typeface="Arial" pitchFamily="34" charset="0"/>
                <a:ea typeface="Times New Roman" pitchFamily="18" charset="0"/>
              </a:rPr>
              <a:t>- тот, при котором действительный параметр изделия сравнивается с заданным размером.</a:t>
            </a:r>
            <a:endParaRPr kumimoji="0" lang="ru-RU" sz="24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pPr>
            <a:r>
              <a:rPr kumimoji="0" lang="ru-RU" sz="2400" b="0" i="1" u="none" strike="noStrike" cap="none" normalizeH="0" baseline="0" dirty="0">
                <a:ln>
                  <a:noFill/>
                </a:ln>
                <a:solidFill>
                  <a:schemeClr val="tx1"/>
                </a:solidFill>
                <a:effectLst/>
                <a:latin typeface="Arial" pitchFamily="34" charset="0"/>
                <a:ea typeface="Times New Roman" pitchFamily="18" charset="0"/>
              </a:rPr>
              <a:t>Пассивный контроль </a:t>
            </a:r>
            <a:r>
              <a:rPr kumimoji="0" lang="ru-RU" sz="2400" b="0" i="0" u="none" strike="noStrike" cap="none" normalizeH="0" baseline="0" dirty="0">
                <a:ln>
                  <a:noFill/>
                </a:ln>
                <a:solidFill>
                  <a:schemeClr val="tx1"/>
                </a:solidFill>
                <a:effectLst/>
                <a:latin typeface="Arial" pitchFamily="34" charset="0"/>
                <a:ea typeface="Times New Roman" pitchFamily="18" charset="0"/>
              </a:rPr>
              <a:t>- тот, при котором действительный параметр изделия сравнивается с заданным размером.</a:t>
            </a:r>
            <a:endParaRPr kumimoji="0" lang="ru-RU" sz="2400" b="0" i="0" u="none" strike="noStrike" cap="none" normalizeH="0" baseline="0" dirty="0">
              <a:ln>
                <a:noFill/>
              </a:ln>
              <a:solidFill>
                <a:schemeClr val="tx1"/>
              </a:solidFill>
              <a:effectLst/>
              <a:latin typeface="Arial"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512" y="1340768"/>
            <a:ext cx="8352928" cy="410445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p:cNvGraphicFramePr>
            <a:graphicFrameLocks noGrp="1"/>
          </p:cNvGraphicFramePr>
          <p:nvPr/>
        </p:nvGraphicFramePr>
        <p:xfrm>
          <a:off x="251520" y="1340768"/>
          <a:ext cx="8892480" cy="4032448"/>
        </p:xfrm>
        <a:graphic>
          <a:graphicData uri="http://schemas.openxmlformats.org/drawingml/2006/table">
            <a:tbl>
              <a:tblPr/>
              <a:tblGrid>
                <a:gridCol w="4398615">
                  <a:extLst>
                    <a:ext uri="{9D8B030D-6E8A-4147-A177-3AD203B41FA5}">
                      <a16:colId xmlns:a16="http://schemas.microsoft.com/office/drawing/2014/main" val="20000"/>
                    </a:ext>
                  </a:extLst>
                </a:gridCol>
                <a:gridCol w="4493865">
                  <a:extLst>
                    <a:ext uri="{9D8B030D-6E8A-4147-A177-3AD203B41FA5}">
                      <a16:colId xmlns:a16="http://schemas.microsoft.com/office/drawing/2014/main" val="20001"/>
                    </a:ext>
                  </a:extLst>
                </a:gridCol>
              </a:tblGrid>
              <a:tr h="504056">
                <a:tc>
                  <a:txBody>
                    <a:bodyPr/>
                    <a:lstStyle/>
                    <a:p>
                      <a:pPr algn="ctr">
                        <a:lnSpc>
                          <a:spcPct val="115000"/>
                        </a:lnSpc>
                        <a:spcAft>
                          <a:spcPts val="0"/>
                        </a:spcAft>
                      </a:pPr>
                      <a:r>
                        <a:rPr lang="ru-RU" sz="2400" i="1" dirty="0">
                          <a:latin typeface="Times New Roman"/>
                          <a:ea typeface="Times New Roman"/>
                        </a:rPr>
                        <a:t>САК</a:t>
                      </a:r>
                      <a:endParaRPr lang="ru-RU" sz="2400" dirty="0">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ru-RU" sz="2400" i="1" spc="-15" dirty="0">
                          <a:latin typeface="Times New Roman"/>
                          <a:ea typeface="Times New Roman"/>
                        </a:rPr>
                        <a:t>Техническое диагностирование</a:t>
                      </a:r>
                      <a:endParaRPr lang="ru-RU" sz="2400" dirty="0">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008112">
                <a:tc>
                  <a:txBody>
                    <a:bodyPr/>
                    <a:lstStyle/>
                    <a:p>
                      <a:pPr algn="just">
                        <a:lnSpc>
                          <a:spcPct val="115000"/>
                        </a:lnSpc>
                        <a:spcAft>
                          <a:spcPts val="0"/>
                        </a:spcAft>
                      </a:pPr>
                      <a:r>
                        <a:rPr lang="ru-RU" sz="2400">
                          <a:latin typeface="Times New Roman"/>
                          <a:ea typeface="Times New Roman"/>
                        </a:rPr>
                        <a:t>Устанавливает наличие дефекта</a:t>
                      </a: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15000"/>
                        </a:lnSpc>
                        <a:spcAft>
                          <a:spcPts val="0"/>
                        </a:spcAft>
                      </a:pPr>
                      <a:r>
                        <a:rPr lang="ru-RU" sz="2400" spc="-10" dirty="0">
                          <a:latin typeface="Times New Roman"/>
                          <a:ea typeface="Times New Roman"/>
                        </a:rPr>
                        <a:t>Выявляет причины, место и вид дефекта</a:t>
                      </a:r>
                      <a:endParaRPr lang="ru-RU" sz="2400" dirty="0">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512168">
                <a:tc>
                  <a:txBody>
                    <a:bodyPr/>
                    <a:lstStyle/>
                    <a:p>
                      <a:pPr algn="just">
                        <a:lnSpc>
                          <a:spcPct val="115000"/>
                        </a:lnSpc>
                        <a:spcAft>
                          <a:spcPts val="0"/>
                        </a:spcAft>
                      </a:pPr>
                      <a:r>
                        <a:rPr lang="ru-RU" sz="2400">
                          <a:latin typeface="Times New Roman"/>
                          <a:ea typeface="Times New Roman"/>
                        </a:rPr>
                        <a:t>Не прогнозируется состояние объекта, не </a:t>
                      </a:r>
                      <a:r>
                        <a:rPr lang="ru-RU" sz="2400" spc="-10">
                          <a:latin typeface="Times New Roman"/>
                          <a:ea typeface="Times New Roman"/>
                        </a:rPr>
                        <a:t>изучается характер изменения параметров</a:t>
                      </a:r>
                      <a:endParaRPr lang="ru-RU" sz="2400">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15000"/>
                        </a:lnSpc>
                        <a:spcAft>
                          <a:spcPts val="0"/>
                        </a:spcAft>
                      </a:pPr>
                      <a:r>
                        <a:rPr lang="ru-RU" sz="2400" spc="-5" dirty="0">
                          <a:latin typeface="Times New Roman"/>
                          <a:ea typeface="Times New Roman"/>
                        </a:rPr>
                        <a:t>Прогнозируется состояние объекта, </a:t>
                      </a:r>
                      <a:r>
                        <a:rPr lang="ru-RU" sz="2400" dirty="0">
                          <a:latin typeface="Times New Roman"/>
                          <a:ea typeface="Times New Roman"/>
                        </a:rPr>
                        <a:t>изучается характер изменения параметров</a:t>
                      </a: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08112">
                <a:tc>
                  <a:txBody>
                    <a:bodyPr/>
                    <a:lstStyle/>
                    <a:p>
                      <a:pPr algn="just">
                        <a:lnSpc>
                          <a:spcPct val="115000"/>
                        </a:lnSpc>
                        <a:spcAft>
                          <a:spcPts val="0"/>
                        </a:spcAft>
                      </a:pPr>
                      <a:r>
                        <a:rPr lang="ru-RU" sz="2400">
                          <a:latin typeface="Times New Roman"/>
                          <a:ea typeface="Times New Roman"/>
                        </a:rPr>
                        <a:t>Как  правило, производятся  проверки в статическом режиме</a:t>
                      </a: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15000"/>
                        </a:lnSpc>
                        <a:spcAft>
                          <a:spcPts val="0"/>
                        </a:spcAft>
                      </a:pPr>
                      <a:r>
                        <a:rPr lang="ru-RU" sz="2400" dirty="0">
                          <a:latin typeface="Times New Roman"/>
                          <a:ea typeface="Times New Roman"/>
                        </a:rPr>
                        <a:t>Производятся на холостых ходах</a:t>
                      </a: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6625"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085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Arial" pitchFamily="34" charset="0"/>
                <a:ea typeface="Times New Roman" pitchFamily="18" charset="0"/>
              </a:rPr>
              <a:t>Различия между системой автоматического контроля и техническим диагностированием представлены в таблице 2.</a:t>
            </a:r>
            <a:endParaRPr kumimoji="0" lang="ru-RU" sz="900" b="0" i="0" u="none" strike="noStrike" cap="none" normalizeH="0" baseline="0">
              <a:ln>
                <a:noFill/>
              </a:ln>
              <a:solidFill>
                <a:schemeClr val="tx1"/>
              </a:solidFill>
              <a:effectLst/>
              <a:latin typeface="Arial" pitchFamily="34" charset="0"/>
            </a:endParaRPr>
          </a:p>
          <a:p>
            <a:pPr marL="0" marR="0" lvl="0" indent="450850" algn="l" defTabSz="914400" rtl="0" eaLnBrk="0" fontAlgn="base" latinLnBrk="0" hangingPunct="0">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Arial" pitchFamily="34" charset="0"/>
                <a:ea typeface="Times New Roman" pitchFamily="18" charset="0"/>
              </a:rPr>
              <a:t>Таблица 2 - Основные отличия САК и технического диагностирования</a:t>
            </a:r>
            <a:endParaRPr kumimoji="0" lang="ru-RU" sz="1800" b="0" i="0" u="none" strike="noStrike" cap="none" normalizeH="0" baseline="0">
              <a:ln>
                <a:noFill/>
              </a:ln>
              <a:solidFill>
                <a:schemeClr val="tx1"/>
              </a:solidFill>
              <a:effectLst/>
              <a:latin typeface="Arial"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1"/>
          <p:cNvSpPr>
            <a:spLocks noChangeArrowheads="1"/>
          </p:cNvSpPr>
          <p:nvPr/>
        </p:nvSpPr>
        <p:spPr bwMode="auto">
          <a:xfrm>
            <a:off x="0" y="368121"/>
            <a:ext cx="9144000" cy="470898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50850" algn="just" defTabSz="914400" rtl="0" eaLnBrk="1" fontAlgn="base" latinLnBrk="0" hangingPunct="1">
              <a:lnSpc>
                <a:spcPct val="100000"/>
              </a:lnSpc>
              <a:spcBef>
                <a:spcPct val="0"/>
              </a:spcBef>
              <a:spcAft>
                <a:spcPct val="0"/>
              </a:spcAft>
              <a:buClrTx/>
              <a:buSzTx/>
              <a:buFontTx/>
              <a:buNone/>
              <a:tabLst/>
            </a:pPr>
            <a:r>
              <a:rPr kumimoji="0" lang="ru-RU" sz="2000" b="1" i="1" u="none" strike="noStrike" cap="none" normalizeH="0" baseline="0" dirty="0">
                <a:ln>
                  <a:noFill/>
                </a:ln>
                <a:solidFill>
                  <a:schemeClr val="tx1"/>
                </a:solidFill>
                <a:effectLst/>
                <a:latin typeface="Arial" pitchFamily="34" charset="0"/>
                <a:ea typeface="Times New Roman" pitchFamily="18" charset="0"/>
              </a:rPr>
              <a:t>Функциональное диагностирование</a:t>
            </a:r>
            <a:r>
              <a:rPr kumimoji="0" lang="ru-RU" sz="2000" b="0" i="0" u="none" strike="noStrike" cap="none" normalizeH="0" baseline="0" dirty="0">
                <a:ln>
                  <a:noFill/>
                </a:ln>
                <a:solidFill>
                  <a:schemeClr val="tx1"/>
                </a:solidFill>
                <a:effectLst/>
                <a:latin typeface="Arial" pitchFamily="34" charset="0"/>
                <a:ea typeface="Times New Roman" pitchFamily="18" charset="0"/>
              </a:rPr>
              <a:t> осуществляется в случае поступления на основные входы объекта воздействия, задаваемого рабочим алгоритмом</a:t>
            </a:r>
            <a:endParaRPr kumimoji="0" lang="ru-RU" sz="20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Диагностирование включает в себя </a:t>
            </a:r>
            <a:r>
              <a:rPr kumimoji="0" lang="ru-RU" sz="2000" b="0" i="0" u="sng" strike="noStrike" cap="none" normalizeH="0" baseline="0" dirty="0">
                <a:ln>
                  <a:noFill/>
                </a:ln>
                <a:solidFill>
                  <a:schemeClr val="tx1"/>
                </a:solidFill>
                <a:effectLst/>
                <a:latin typeface="Arial" pitchFamily="34" charset="0"/>
                <a:ea typeface="Times New Roman" pitchFamily="18" charset="0"/>
              </a:rPr>
              <a:t>три этапа</a:t>
            </a:r>
            <a:r>
              <a:rPr kumimoji="0" lang="ru-RU" sz="2000" b="0" i="0" u="none" strike="noStrike" cap="none" normalizeH="0" baseline="0" dirty="0">
                <a:ln>
                  <a:noFill/>
                </a:ln>
                <a:solidFill>
                  <a:schemeClr val="tx1"/>
                </a:solidFill>
                <a:effectLst/>
                <a:latin typeface="Arial" pitchFamily="34" charset="0"/>
                <a:ea typeface="Times New Roman" pitchFamily="18" charset="0"/>
              </a:rPr>
              <a:t>: измерение, анализ и принятие решения.</a:t>
            </a:r>
            <a:endParaRPr kumimoji="0" lang="ru-RU" sz="20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pPr>
            <a:r>
              <a:rPr kumimoji="0" lang="ru-RU" sz="2000" b="1" i="1" u="none" strike="noStrike" cap="none" normalizeH="0" baseline="0" dirty="0">
                <a:ln>
                  <a:noFill/>
                </a:ln>
                <a:solidFill>
                  <a:schemeClr val="tx1"/>
                </a:solidFill>
                <a:effectLst/>
                <a:latin typeface="Arial" pitchFamily="34" charset="0"/>
                <a:ea typeface="Times New Roman" pitchFamily="18" charset="0"/>
              </a:rPr>
              <a:t>Оптимальное диагностирование</a:t>
            </a:r>
            <a:r>
              <a:rPr kumimoji="0" lang="ru-RU" sz="2000" b="0" i="0" u="none" strike="noStrike" cap="none" normalizeH="0" baseline="0" dirty="0">
                <a:ln>
                  <a:noFill/>
                </a:ln>
                <a:solidFill>
                  <a:schemeClr val="tx1"/>
                </a:solidFill>
                <a:effectLst/>
                <a:latin typeface="Arial" pitchFamily="34" charset="0"/>
                <a:ea typeface="Times New Roman" pitchFamily="18" charset="0"/>
              </a:rPr>
              <a:t> предполагает поиск и обнаружение неисправностей с помощью эксперимента.</a:t>
            </a:r>
            <a:endParaRPr kumimoji="0" lang="ru-RU" sz="20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К числу важнейших групп факторов, обеспечивающих рост эффективности затрат на техническое обслуживание и ремонт, относят широкое внедрение прогрессивных форм организации, производства этих работ и управления ими, а также развитие систем технического диагностирования.</a:t>
            </a:r>
            <a:endParaRPr kumimoji="0" lang="ru-RU" sz="20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Состояние функционирования (допустимое, предаварийное, аварийное)  определяется с помощью технического диагностирования, с его же помощью осуществляется поиск неисправностей.</a:t>
            </a:r>
            <a:endParaRPr kumimoji="0" lang="ru-RU" sz="2000" b="0" i="0" u="none" strike="noStrike" cap="none" normalizeH="0" baseline="0" dirty="0">
              <a:ln>
                <a:noFill/>
              </a:ln>
              <a:solidFill>
                <a:schemeClr val="tx1"/>
              </a:solidFill>
              <a:effectLst/>
              <a:latin typeface="Arial"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
          <p:cNvSpPr>
            <a:spLocks noChangeArrowheads="1"/>
          </p:cNvSpPr>
          <p:nvPr/>
        </p:nvSpPr>
        <p:spPr bwMode="auto">
          <a:xfrm>
            <a:off x="0" y="-251639"/>
            <a:ext cx="9144000" cy="7109639"/>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50850" algn="just" defTabSz="914400" rtl="0" eaLnBrk="1" fontAlgn="base" latinLnBrk="0" hangingPunct="1">
              <a:lnSpc>
                <a:spcPct val="100000"/>
              </a:lnSpc>
              <a:spcBef>
                <a:spcPct val="0"/>
              </a:spcBef>
              <a:spcAft>
                <a:spcPct val="0"/>
              </a:spcAft>
              <a:buClrTx/>
              <a:buSzTx/>
              <a:buFontTx/>
              <a:buNone/>
              <a:tabLst/>
            </a:pPr>
            <a:r>
              <a:rPr kumimoji="0" lang="ru-RU" sz="2400" b="1" i="1" u="none" strike="noStrike" cap="none" normalizeH="0" baseline="0" dirty="0">
                <a:ln>
                  <a:noFill/>
                </a:ln>
                <a:solidFill>
                  <a:schemeClr val="tx1"/>
                </a:solidFill>
                <a:effectLst/>
                <a:latin typeface="Arial" pitchFamily="34" charset="0"/>
                <a:ea typeface="Times New Roman" pitchFamily="18" charset="0"/>
              </a:rPr>
              <a:t>Тестовый контроль</a:t>
            </a:r>
            <a:r>
              <a:rPr kumimoji="0" lang="ru-RU" sz="2400" b="0" i="0" u="none" strike="noStrike" cap="none" normalizeH="0" baseline="0" dirty="0">
                <a:ln>
                  <a:noFill/>
                </a:ln>
                <a:solidFill>
                  <a:schemeClr val="tx1"/>
                </a:solidFill>
                <a:effectLst/>
                <a:latin typeface="Arial" pitchFamily="34" charset="0"/>
                <a:ea typeface="Times New Roman" pitchFamily="18" charset="0"/>
              </a:rPr>
              <a:t> предназначен для определения неисправностей. Характеризуется возможностью подачи специального воздействия на объект управления. Используется для оценки причин выпуска станком изделий с отклонениями от размеров. Производится проверка управляющих сигналов и </a:t>
            </a:r>
            <a:r>
              <a:rPr kumimoji="0" lang="ru-RU" sz="2400" b="0" i="0" u="none" strike="noStrike" cap="none" normalizeH="0" baseline="0" dirty="0" err="1">
                <a:ln>
                  <a:noFill/>
                </a:ln>
                <a:solidFill>
                  <a:schemeClr val="tx1"/>
                </a:solidFill>
                <a:effectLst/>
                <a:latin typeface="Arial" pitchFamily="34" charset="0"/>
                <a:ea typeface="Times New Roman" pitchFamily="18" charset="0"/>
              </a:rPr>
              <a:t>подналадки</a:t>
            </a:r>
            <a:r>
              <a:rPr kumimoji="0" lang="ru-RU" sz="2400" b="0" i="0" u="none" strike="noStrike" cap="none" normalizeH="0" baseline="0" dirty="0">
                <a:ln>
                  <a:noFill/>
                </a:ln>
                <a:solidFill>
                  <a:schemeClr val="tx1"/>
                </a:solidFill>
                <a:effectLst/>
                <a:latin typeface="Arial" pitchFamily="34" charset="0"/>
                <a:ea typeface="Times New Roman" pitchFamily="18" charset="0"/>
              </a:rPr>
              <a:t> путём подачи команды и проверки ее исполнения. Цель проведения тестового контроля - выяснение места, причины, времени отказа.</a:t>
            </a:r>
            <a:endParaRPr kumimoji="0" lang="ru-RU" sz="24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pPr>
            <a:r>
              <a:rPr kumimoji="0" lang="ru-RU" sz="2400" b="1" i="1" u="none" strike="noStrike" cap="none" normalizeH="0" baseline="0" dirty="0">
                <a:ln>
                  <a:noFill/>
                </a:ln>
                <a:solidFill>
                  <a:schemeClr val="tx1"/>
                </a:solidFill>
                <a:effectLst/>
                <a:latin typeface="Arial" pitchFamily="34" charset="0"/>
                <a:ea typeface="Times New Roman" pitchFamily="18" charset="0"/>
              </a:rPr>
              <a:t>Аппаратный контроль</a:t>
            </a:r>
            <a:r>
              <a:rPr kumimoji="0" lang="ru-RU" sz="2400" b="0" i="0" u="none" strike="noStrike" cap="none" normalizeH="0" baseline="0" dirty="0">
                <a:ln>
                  <a:noFill/>
                </a:ln>
                <a:solidFill>
                  <a:schemeClr val="tx1"/>
                </a:solidFill>
                <a:effectLst/>
                <a:latin typeface="Arial" pitchFamily="34" charset="0"/>
                <a:ea typeface="Times New Roman" pitchFamily="18" charset="0"/>
              </a:rPr>
              <a:t> - применяется на станках ЧПУ типа </a:t>
            </a:r>
            <a:r>
              <a:rPr kumimoji="0" lang="en-US" sz="2400" b="0" i="0" u="none" strike="noStrike" cap="none" normalizeH="0" baseline="0" dirty="0">
                <a:ln>
                  <a:noFill/>
                </a:ln>
                <a:solidFill>
                  <a:schemeClr val="tx1"/>
                </a:solidFill>
                <a:effectLst/>
                <a:latin typeface="Arial" pitchFamily="34" charset="0"/>
                <a:ea typeface="Times New Roman" pitchFamily="18" charset="0"/>
              </a:rPr>
              <a:t>NC</a:t>
            </a:r>
            <a:r>
              <a:rPr kumimoji="0" lang="ru-RU" sz="2400" b="0" i="0" u="none" strike="noStrike" cap="none" normalizeH="0" baseline="0" dirty="0">
                <a:ln>
                  <a:noFill/>
                </a:ln>
                <a:solidFill>
                  <a:schemeClr val="tx1"/>
                </a:solidFill>
                <a:effectLst/>
                <a:latin typeface="Arial" pitchFamily="34" charset="0"/>
                <a:ea typeface="Times New Roman" pitchFamily="18" charset="0"/>
              </a:rPr>
              <a:t>, т.е. микроконтроллерных. Для обнаружения ошибок в программе и функциональных неисправностях в системе. Функции могут быть заданы в аналоговом виде или с помощью программы (ПМК, электронные схемы), они однозначны и не могут в изменяться. Производится с помощью использования программы «тест» в начале работы или в фоновом режиме.</a:t>
            </a:r>
            <a:endParaRPr kumimoji="0" lang="ru-RU" sz="24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pPr>
            <a:r>
              <a:rPr kumimoji="0" lang="ru-RU" sz="2400" b="1" i="1" u="none" strike="noStrike" cap="none" normalizeH="0" baseline="0" dirty="0">
                <a:ln>
                  <a:noFill/>
                </a:ln>
                <a:solidFill>
                  <a:schemeClr val="tx1"/>
                </a:solidFill>
                <a:effectLst/>
                <a:latin typeface="Arial" pitchFamily="34" charset="0"/>
                <a:ea typeface="Times New Roman" pitchFamily="18" charset="0"/>
              </a:rPr>
              <a:t>Комбинированный метод</a:t>
            </a:r>
            <a:r>
              <a:rPr kumimoji="0" lang="ru-RU" sz="2400" b="0" i="0" u="none" strike="noStrike" cap="none" normalizeH="0" baseline="0" dirty="0">
                <a:ln>
                  <a:noFill/>
                </a:ln>
                <a:solidFill>
                  <a:schemeClr val="tx1"/>
                </a:solidFill>
                <a:effectLst/>
                <a:latin typeface="Arial" pitchFamily="34" charset="0"/>
                <a:ea typeface="Times New Roman" pitchFamily="18" charset="0"/>
              </a:rPr>
              <a:t> - заключается в совокупном использовании логических и математических обработок информации.</a:t>
            </a:r>
            <a:endParaRPr kumimoji="0" lang="ru-RU" sz="2400" b="0" i="0" u="none" strike="noStrike" cap="none" normalizeH="0" baseline="0" dirty="0">
              <a:ln>
                <a:noFill/>
              </a:ln>
              <a:solidFill>
                <a:schemeClr val="tx1"/>
              </a:solidFill>
              <a:effectLst/>
              <a:latin typeface="Arial"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1"/>
          <p:cNvSpPr>
            <a:spLocks noChangeArrowheads="1"/>
          </p:cNvSpPr>
          <p:nvPr/>
        </p:nvSpPr>
        <p:spPr bwMode="auto">
          <a:xfrm>
            <a:off x="0" y="-5417"/>
            <a:ext cx="9144000" cy="6863417"/>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50850" algn="just" defTabSz="914400" rtl="0" eaLnBrk="1" fontAlgn="base" latinLnBrk="0" hangingPunct="1">
              <a:lnSpc>
                <a:spcPct val="100000"/>
              </a:lnSpc>
              <a:spcBef>
                <a:spcPct val="0"/>
              </a:spcBef>
              <a:spcAft>
                <a:spcPct val="0"/>
              </a:spcAft>
              <a:buClrTx/>
              <a:buSzTx/>
              <a:buFontTx/>
              <a:buNone/>
              <a:tabLst>
                <a:tab pos="484188" algn="l"/>
              </a:tabLst>
            </a:pPr>
            <a:r>
              <a:rPr kumimoji="0" lang="ru-RU" sz="2000" b="1" i="0" u="none" strike="noStrike" cap="none" normalizeH="0" baseline="0" dirty="0">
                <a:ln>
                  <a:noFill/>
                </a:ln>
                <a:solidFill>
                  <a:schemeClr val="tx1"/>
                </a:solidFill>
                <a:effectLst/>
                <a:latin typeface="Arial" pitchFamily="34" charset="0"/>
                <a:ea typeface="Times New Roman" pitchFamily="18" charset="0"/>
              </a:rPr>
              <a:t>2.</a:t>
            </a:r>
            <a:r>
              <a:rPr kumimoji="0" lang="ru-RU" sz="2000" b="0" i="0" u="sng" strike="noStrike" cap="none" normalizeH="0" baseline="0" dirty="0">
                <a:ln>
                  <a:noFill/>
                </a:ln>
                <a:solidFill>
                  <a:schemeClr val="tx1"/>
                </a:solidFill>
                <a:effectLst/>
                <a:latin typeface="Arial" pitchFamily="34" charset="0"/>
                <a:ea typeface="Times New Roman" pitchFamily="18" charset="0"/>
              </a:rPr>
              <a:t>Классификация методов диагностирования.</a:t>
            </a:r>
            <a:endParaRPr kumimoji="0" lang="ru-RU" sz="20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tab pos="484188" algn="l"/>
              </a:tabLst>
            </a:pPr>
            <a:r>
              <a:rPr kumimoji="0" lang="ru-RU" sz="2000" b="0" i="1" u="none" strike="noStrike" cap="none" normalizeH="0" baseline="0" dirty="0">
                <a:ln>
                  <a:noFill/>
                </a:ln>
                <a:solidFill>
                  <a:schemeClr val="tx1"/>
                </a:solidFill>
                <a:effectLst/>
                <a:latin typeface="Arial" pitchFamily="34" charset="0"/>
                <a:ea typeface="Times New Roman" pitchFamily="18" charset="0"/>
              </a:rPr>
              <a:t>По принципу диагностирования: </a:t>
            </a:r>
            <a:r>
              <a:rPr kumimoji="0" lang="ru-RU" sz="2000" b="0" i="0" u="none" strike="noStrike" cap="none" normalizeH="0" baseline="0" dirty="0">
                <a:ln>
                  <a:noFill/>
                </a:ln>
                <a:solidFill>
                  <a:schemeClr val="tx1"/>
                </a:solidFill>
                <a:effectLst/>
                <a:latin typeface="Arial" pitchFamily="34" charset="0"/>
                <a:ea typeface="Times New Roman" pitchFamily="18" charset="0"/>
              </a:rPr>
              <a:t>1) Для проверки функций оборудования;</a:t>
            </a:r>
            <a:endParaRPr kumimoji="0" lang="ru-RU" sz="20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tab pos="484188" algn="l"/>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2) Для оценки точности параметров обработки изделий или нормирования точности. </a:t>
            </a:r>
            <a:endParaRPr kumimoji="0" lang="ru-RU" sz="20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tab pos="484188" algn="l"/>
              </a:tabLst>
            </a:pPr>
            <a:r>
              <a:rPr kumimoji="0" lang="ru-RU" sz="2000" b="0" i="1" u="none" strike="noStrike" cap="none" normalizeH="0" baseline="0" dirty="0">
                <a:ln>
                  <a:noFill/>
                </a:ln>
                <a:solidFill>
                  <a:schemeClr val="tx1"/>
                </a:solidFill>
                <a:effectLst/>
                <a:latin typeface="Arial" pitchFamily="34" charset="0"/>
                <a:ea typeface="Times New Roman" pitchFamily="18" charset="0"/>
              </a:rPr>
              <a:t>По степени автоматизации: а</a:t>
            </a:r>
            <a:r>
              <a:rPr kumimoji="0" lang="ru-RU" sz="2000" b="0" i="0" u="none" strike="noStrike" cap="none" normalizeH="0" baseline="0" dirty="0">
                <a:ln>
                  <a:noFill/>
                </a:ln>
                <a:solidFill>
                  <a:schemeClr val="tx1"/>
                </a:solidFill>
                <a:effectLst/>
                <a:latin typeface="Arial" pitchFamily="34" charset="0"/>
                <a:ea typeface="Times New Roman" pitchFamily="18" charset="0"/>
              </a:rPr>
              <a:t>втоматического; полуавтоматического; ручного диагностирования. </a:t>
            </a:r>
            <a:endParaRPr kumimoji="0" lang="ru-RU" sz="20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tab pos="484188" algn="l"/>
              </a:tabLst>
            </a:pPr>
            <a:r>
              <a:rPr kumimoji="0" lang="ru-RU" sz="2000" b="0" i="1" u="none" strike="noStrike" cap="none" normalizeH="0" baseline="0" dirty="0">
                <a:ln>
                  <a:noFill/>
                </a:ln>
                <a:solidFill>
                  <a:schemeClr val="tx1"/>
                </a:solidFill>
                <a:effectLst/>
                <a:latin typeface="Arial" pitchFamily="34" charset="0"/>
                <a:ea typeface="Times New Roman" pitchFamily="18" charset="0"/>
              </a:rPr>
              <a:t>По характеру решаемых задач</a:t>
            </a:r>
            <a:r>
              <a:rPr kumimoji="0" lang="ru-RU" sz="2000" b="0" i="0" u="none" strike="noStrike" cap="none" normalizeH="0" baseline="0" dirty="0">
                <a:ln>
                  <a:noFill/>
                </a:ln>
                <a:solidFill>
                  <a:schemeClr val="tx1"/>
                </a:solidFill>
                <a:effectLst/>
                <a:latin typeface="Arial" pitchFamily="34" charset="0"/>
                <a:ea typeface="Times New Roman" pitchFamily="18" charset="0"/>
              </a:rPr>
              <a:t>: 1)Для проверки функций оборудования;</a:t>
            </a:r>
            <a:endParaRPr kumimoji="0" lang="ru-RU" sz="2000" b="0" i="0" u="none" strike="noStrike" cap="none" normalizeH="0" baseline="0" dirty="0">
              <a:ln>
                <a:noFill/>
              </a:ln>
              <a:solidFill>
                <a:schemeClr val="tx1"/>
              </a:solidFill>
              <a:effectLst/>
              <a:latin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tab pos="484188" algn="l"/>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Для оценки точности параметров обработки изделий или нормирования точности.</a:t>
            </a:r>
            <a:endParaRPr kumimoji="0" lang="ru-RU" sz="20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tab pos="484188" algn="l"/>
              </a:tabLst>
            </a:pPr>
            <a:r>
              <a:rPr kumimoji="0" lang="ru-RU" sz="2000" b="0" i="1" u="none" strike="noStrike" cap="none" normalizeH="0" baseline="0" dirty="0">
                <a:ln>
                  <a:noFill/>
                </a:ln>
                <a:solidFill>
                  <a:schemeClr val="tx1"/>
                </a:solidFill>
                <a:effectLst/>
                <a:latin typeface="Arial" pitchFamily="34" charset="0"/>
                <a:ea typeface="Times New Roman" pitchFamily="18" charset="0"/>
              </a:rPr>
              <a:t>По методу диагностирования</a:t>
            </a:r>
            <a:r>
              <a:rPr kumimoji="0" lang="ru-RU" sz="2000" b="0" i="0" u="none" strike="noStrike" cap="none" normalizeH="0" baseline="0" dirty="0">
                <a:ln>
                  <a:noFill/>
                </a:ln>
                <a:solidFill>
                  <a:schemeClr val="tx1"/>
                </a:solidFill>
                <a:effectLst/>
                <a:latin typeface="Arial" pitchFamily="34" charset="0"/>
                <a:ea typeface="Times New Roman" pitchFamily="18" charset="0"/>
              </a:rPr>
              <a:t>:</a:t>
            </a:r>
            <a:endParaRPr kumimoji="0" lang="ru-RU" sz="20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tab pos="484188" algn="l"/>
              </a:tabLst>
            </a:pPr>
            <a:r>
              <a:rPr kumimoji="0" lang="ru-RU" sz="2000" b="1" i="1" u="none" strike="noStrike" cap="none" normalizeH="0" baseline="0" dirty="0">
                <a:ln>
                  <a:noFill/>
                </a:ln>
                <a:solidFill>
                  <a:schemeClr val="tx1"/>
                </a:solidFill>
                <a:effectLst/>
                <a:latin typeface="Arial" pitchFamily="34" charset="0"/>
                <a:ea typeface="Times New Roman" pitchFamily="18" charset="0"/>
              </a:rPr>
              <a:t>Метод эталонных модулей. </a:t>
            </a:r>
            <a:r>
              <a:rPr kumimoji="0" lang="ru-RU" sz="2000" b="0" i="0" u="none" strike="noStrike" cap="none" normalizeH="0" baseline="0" dirty="0">
                <a:ln>
                  <a:noFill/>
                </a:ln>
                <a:solidFill>
                  <a:schemeClr val="tx1"/>
                </a:solidFill>
                <a:effectLst/>
                <a:latin typeface="Arial" pitchFamily="34" charset="0"/>
                <a:ea typeface="Times New Roman" pitchFamily="18" charset="0"/>
              </a:rPr>
              <a:t>Сравнение расчетных и экстремальных значений с нормами технических условий. Метод основан на основе науки - Квалиметрии. Квалиметрия - наука, о количественной оценке качества изделий.</a:t>
            </a:r>
            <a:endParaRPr kumimoji="0" lang="ru-RU" sz="20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tab pos="484188" algn="l"/>
              </a:tabLst>
            </a:pPr>
            <a:r>
              <a:rPr kumimoji="0" lang="ru-RU" sz="2000" b="1" i="1" u="none" strike="noStrike" cap="none" normalizeH="0" baseline="0" dirty="0">
                <a:ln>
                  <a:noFill/>
                </a:ln>
                <a:solidFill>
                  <a:schemeClr val="tx1"/>
                </a:solidFill>
                <a:effectLst/>
                <a:latin typeface="Arial" pitchFamily="34" charset="0"/>
                <a:ea typeface="Times New Roman" pitchFamily="18" charset="0"/>
              </a:rPr>
              <a:t>Метод сравнения осциллограмм. </a:t>
            </a:r>
            <a:r>
              <a:rPr kumimoji="0" lang="ru-RU" sz="2000" b="0" i="0" u="none" strike="noStrike" cap="none" normalizeH="0" baseline="0" dirty="0">
                <a:ln>
                  <a:noFill/>
                </a:ln>
                <a:solidFill>
                  <a:schemeClr val="tx1"/>
                </a:solidFill>
                <a:effectLst/>
                <a:latin typeface="Arial" pitchFamily="34" charset="0"/>
                <a:ea typeface="Times New Roman" pitchFamily="18" charset="0"/>
              </a:rPr>
              <a:t>Методы делят на </a:t>
            </a:r>
            <a:r>
              <a:rPr kumimoji="0" lang="ru-RU" sz="2000" b="0" i="0" u="none" strike="noStrike" cap="none" normalizeH="0" baseline="0" dirty="0" err="1">
                <a:ln>
                  <a:noFill/>
                </a:ln>
                <a:solidFill>
                  <a:schemeClr val="tx1"/>
                </a:solidFill>
                <a:effectLst/>
                <a:latin typeface="Arial" pitchFamily="34" charset="0"/>
                <a:ea typeface="Times New Roman" pitchFamily="18" charset="0"/>
              </a:rPr>
              <a:t>эхологические</a:t>
            </a:r>
            <a:r>
              <a:rPr kumimoji="0" lang="ru-RU" sz="2000" b="0" i="0" u="none" strike="noStrike" cap="none" normalizeH="0" baseline="0" dirty="0">
                <a:ln>
                  <a:noFill/>
                </a:ln>
                <a:solidFill>
                  <a:schemeClr val="tx1"/>
                </a:solidFill>
                <a:effectLst/>
                <a:latin typeface="Arial" pitchFamily="34" charset="0"/>
                <a:ea typeface="Times New Roman" pitchFamily="18" charset="0"/>
              </a:rPr>
              <a:t>, спектральные и т.д. в память вносят спектральный анализ изделия при различных ситуациях. При работе имеет место постоянное сопоставление.</a:t>
            </a:r>
            <a:endParaRPr kumimoji="0" lang="ru-RU" sz="20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tab pos="484188" algn="l"/>
              </a:tabLst>
            </a:pPr>
            <a:r>
              <a:rPr kumimoji="0" lang="ru-RU" sz="2000" b="1" i="1" u="none" strike="noStrike" cap="none" normalizeH="0" baseline="0" dirty="0">
                <a:ln>
                  <a:noFill/>
                </a:ln>
                <a:solidFill>
                  <a:schemeClr val="tx1"/>
                </a:solidFill>
                <a:effectLst/>
                <a:latin typeface="Arial" pitchFamily="34" charset="0"/>
                <a:ea typeface="Times New Roman" pitchFamily="18" charset="0"/>
              </a:rPr>
              <a:t>Метод временных интервалов</a:t>
            </a:r>
            <a:r>
              <a:rPr kumimoji="0" lang="ru-RU" sz="2000" b="0" i="0" u="none" strike="noStrike" cap="none" normalizeH="0" baseline="0" dirty="0">
                <a:ln>
                  <a:noFill/>
                </a:ln>
                <a:solidFill>
                  <a:schemeClr val="tx1"/>
                </a:solidFill>
                <a:effectLst/>
                <a:latin typeface="Arial" pitchFamily="34" charset="0"/>
                <a:ea typeface="Times New Roman" pitchFamily="18" charset="0"/>
              </a:rPr>
              <a:t>: С помощью микроконтроллеров релейных схем, таймеров, датчиков, осуществляющих анализ работы, расчет циклограмм.</a:t>
            </a:r>
            <a:endParaRPr kumimoji="0" lang="ru-RU" sz="2000" b="0" i="0" u="none" strike="noStrike" cap="none" normalizeH="0" baseline="0" dirty="0">
              <a:ln>
                <a:noFill/>
              </a:ln>
              <a:solidFill>
                <a:schemeClr val="tx1"/>
              </a:solidFill>
              <a:effectLst/>
              <a:latin typeface="Arial"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
          <p:cNvSpPr>
            <a:spLocks noChangeArrowheads="1"/>
          </p:cNvSpPr>
          <p:nvPr/>
        </p:nvSpPr>
        <p:spPr bwMode="auto">
          <a:xfrm>
            <a:off x="0" y="620688"/>
            <a:ext cx="9144000" cy="5324535"/>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50850" algn="just" defTabSz="914400" rtl="0" eaLnBrk="1" fontAlgn="base" latinLnBrk="0" hangingPunct="1">
              <a:lnSpc>
                <a:spcPct val="100000"/>
              </a:lnSpc>
              <a:spcBef>
                <a:spcPct val="0"/>
              </a:spcBef>
              <a:spcAft>
                <a:spcPct val="0"/>
              </a:spcAft>
              <a:buClrTx/>
              <a:buSzTx/>
              <a:buFontTx/>
              <a:buNone/>
              <a:tabLst>
                <a:tab pos="484188" algn="l"/>
              </a:tabLst>
            </a:pPr>
            <a:r>
              <a:rPr kumimoji="0" lang="ru-RU" sz="2000" b="1" i="1" u="none" strike="noStrike" cap="none" normalizeH="0" baseline="0" dirty="0">
                <a:ln>
                  <a:noFill/>
                </a:ln>
                <a:solidFill>
                  <a:schemeClr val="tx1"/>
                </a:solidFill>
                <a:effectLst/>
                <a:latin typeface="Arial" pitchFamily="34" charset="0"/>
                <a:ea typeface="Times New Roman" pitchFamily="18" charset="0"/>
              </a:rPr>
              <a:t>Тестовый метод. </a:t>
            </a:r>
            <a:r>
              <a:rPr kumimoji="0" lang="ru-RU" sz="2000" b="0" i="0" u="none" strike="noStrike" cap="none" normalizeH="0" baseline="0" dirty="0">
                <a:ln>
                  <a:noFill/>
                </a:ln>
                <a:solidFill>
                  <a:schemeClr val="tx1"/>
                </a:solidFill>
                <a:effectLst/>
                <a:latin typeface="Arial" pitchFamily="34" charset="0"/>
                <a:ea typeface="Times New Roman" pitchFamily="18" charset="0"/>
              </a:rPr>
              <a:t>Заключается в сравнении измеряемых величин с запрограммированными.</a:t>
            </a:r>
            <a:endParaRPr kumimoji="0" lang="ru-RU" sz="20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tab pos="484188" algn="l"/>
              </a:tabLst>
            </a:pPr>
            <a:r>
              <a:rPr kumimoji="0" lang="ru-RU" sz="2000" b="1" i="1" u="none" strike="noStrike" cap="none" normalizeH="0" baseline="0" dirty="0">
                <a:ln>
                  <a:noFill/>
                </a:ln>
                <a:solidFill>
                  <a:schemeClr val="tx1"/>
                </a:solidFill>
                <a:effectLst/>
                <a:latin typeface="Arial" pitchFamily="34" charset="0"/>
                <a:ea typeface="Times New Roman" pitchFamily="18" charset="0"/>
              </a:rPr>
              <a:t>Корреляционный метод. </a:t>
            </a:r>
            <a:r>
              <a:rPr kumimoji="0" lang="ru-RU" sz="2000" b="0" i="0" u="none" strike="noStrike" cap="none" normalizeH="0" baseline="0" dirty="0">
                <a:ln>
                  <a:noFill/>
                </a:ln>
                <a:solidFill>
                  <a:schemeClr val="tx1"/>
                </a:solidFill>
                <a:effectLst/>
                <a:latin typeface="Arial" pitchFamily="34" charset="0"/>
                <a:ea typeface="Times New Roman" pitchFamily="18" charset="0"/>
              </a:rPr>
              <a:t>Заключается в разработке поправок на </a:t>
            </a:r>
            <a:r>
              <a:rPr kumimoji="0" lang="ru-RU" sz="2000" b="0" i="0" u="none" strike="noStrike" cap="none" normalizeH="0" baseline="0" dirty="0" err="1">
                <a:ln>
                  <a:noFill/>
                </a:ln>
                <a:solidFill>
                  <a:schemeClr val="tx1"/>
                </a:solidFill>
                <a:effectLst/>
                <a:latin typeface="Arial" pitchFamily="34" charset="0"/>
                <a:ea typeface="Times New Roman" pitchFamily="18" charset="0"/>
              </a:rPr>
              <a:t>учитывание</a:t>
            </a:r>
            <a:r>
              <a:rPr kumimoji="0" lang="ru-RU" sz="2000" b="0" i="0" u="none" strike="noStrike" cap="none" normalizeH="0" baseline="0" dirty="0">
                <a:ln>
                  <a:noFill/>
                </a:ln>
                <a:solidFill>
                  <a:schemeClr val="tx1"/>
                </a:solidFill>
                <a:effectLst/>
                <a:latin typeface="Arial" pitchFamily="34" charset="0"/>
                <a:ea typeface="Times New Roman" pitchFamily="18" charset="0"/>
              </a:rPr>
              <a:t> случайных факторов. Используется в комбинации с другими методами.</a:t>
            </a:r>
            <a:endParaRPr kumimoji="0" lang="ru-RU" sz="20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tab pos="484188" algn="l"/>
              </a:tabLst>
            </a:pPr>
            <a:r>
              <a:rPr kumimoji="0" lang="ru-RU" sz="2000" b="1" i="1" u="none" strike="noStrike" cap="none" normalizeH="0" baseline="0" dirty="0">
                <a:ln>
                  <a:noFill/>
                </a:ln>
                <a:solidFill>
                  <a:schemeClr val="tx1"/>
                </a:solidFill>
                <a:effectLst/>
                <a:latin typeface="Arial" pitchFamily="34" charset="0"/>
                <a:ea typeface="Times New Roman" pitchFamily="18" charset="0"/>
              </a:rPr>
              <a:t>Метод определения предельных</a:t>
            </a:r>
            <a:r>
              <a:rPr kumimoji="0" lang="ru-RU" sz="2000" b="0" i="0" u="none" strike="noStrike" cap="none" normalizeH="0" baseline="0" dirty="0">
                <a:ln>
                  <a:noFill/>
                </a:ln>
                <a:solidFill>
                  <a:schemeClr val="tx1"/>
                </a:solidFill>
                <a:effectLst/>
                <a:latin typeface="Arial" pitchFamily="34" charset="0"/>
                <a:ea typeface="Times New Roman" pitchFamily="18" charset="0"/>
              </a:rPr>
              <a:t> (аварийных) состояний основан на обнаружении факта выхода устройств или систем в недопустимые или несоответствующие заданной программе области. С помощью этого метода определяется недопустимое понижение уровня смазки, охлаждающей жидкости в емкостях, засорение фильтров и т.д.</a:t>
            </a:r>
            <a:endParaRPr kumimoji="0" lang="ru-RU" sz="20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None/>
              <a:tabLst>
                <a:tab pos="484188" algn="l"/>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Автоматические средства диагностирования </a:t>
            </a:r>
            <a:r>
              <a:rPr kumimoji="0" lang="ru-RU" sz="2000" b="0" i="1" u="none" strike="noStrike" cap="none" normalizeH="0" baseline="0" dirty="0">
                <a:ln>
                  <a:noFill/>
                </a:ln>
                <a:solidFill>
                  <a:schemeClr val="tx1"/>
                </a:solidFill>
                <a:effectLst/>
                <a:latin typeface="Arial" pitchFamily="34" charset="0"/>
                <a:ea typeface="Times New Roman" pitchFamily="18" charset="0"/>
              </a:rPr>
              <a:t>по назначению</a:t>
            </a:r>
            <a:r>
              <a:rPr kumimoji="0" lang="ru-RU" sz="2000" b="0" i="0" u="none" strike="noStrike" cap="none" normalizeH="0" baseline="0" dirty="0">
                <a:ln>
                  <a:noFill/>
                </a:ln>
                <a:solidFill>
                  <a:schemeClr val="tx1"/>
                </a:solidFill>
                <a:effectLst/>
                <a:latin typeface="Arial" pitchFamily="34" charset="0"/>
                <a:ea typeface="Times New Roman" pitchFamily="18" charset="0"/>
              </a:rPr>
              <a:t> делятся  на информационные и защитно-предохранительные. Диагностическая информация в таких случаях выводится на табло. Диагностирование проводится :</a:t>
            </a:r>
            <a:endParaRPr kumimoji="0" lang="ru-RU" sz="20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Char char="•"/>
              <a:tabLst>
                <a:tab pos="484188" algn="l"/>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В период наладки оборудования;</a:t>
            </a:r>
            <a:endParaRPr kumimoji="0" lang="ru-RU" sz="2000" b="0" i="0" u="none" strike="noStrike" cap="none" normalizeH="0" baseline="0" dirty="0">
              <a:ln>
                <a:noFill/>
              </a:ln>
              <a:solidFill>
                <a:schemeClr val="tx1"/>
              </a:solidFill>
              <a:effectLst/>
              <a:latin typeface="Arial" pitchFamily="34" charset="0"/>
            </a:endParaRPr>
          </a:p>
          <a:p>
            <a:pPr marL="0" marR="0" lvl="0" indent="450850" algn="just" defTabSz="914400" rtl="0" eaLnBrk="0" fontAlgn="base" latinLnBrk="0" hangingPunct="0">
              <a:lnSpc>
                <a:spcPct val="100000"/>
              </a:lnSpc>
              <a:spcBef>
                <a:spcPct val="0"/>
              </a:spcBef>
              <a:spcAft>
                <a:spcPct val="0"/>
              </a:spcAft>
              <a:buClrTx/>
              <a:buSzTx/>
              <a:buFontTx/>
              <a:buChar char="•"/>
              <a:tabLst>
                <a:tab pos="484188" algn="l"/>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В период эксплуатации оборудования;</a:t>
            </a:r>
          </a:p>
          <a:p>
            <a:pPr lvl="0" indent="450850" algn="just" eaLnBrk="0" fontAlgn="base" hangingPunct="0">
              <a:spcBef>
                <a:spcPct val="0"/>
              </a:spcBef>
              <a:spcAft>
                <a:spcPct val="0"/>
              </a:spcAft>
              <a:buFontTx/>
              <a:buChar char="•"/>
              <a:tabLst>
                <a:tab pos="484188" algn="l"/>
              </a:tabLst>
            </a:pPr>
            <a:r>
              <a:rPr lang="ru-RU" sz="2000" dirty="0"/>
              <a:t>В период плановых ремонтов</a:t>
            </a:r>
            <a:endParaRPr kumimoji="0" lang="ru-RU" sz="2000" b="0" i="0" u="none" strike="noStrike" cap="none" normalizeH="0" baseline="0" dirty="0">
              <a:ln>
                <a:noFill/>
              </a:ln>
              <a:solidFill>
                <a:schemeClr val="tx1"/>
              </a:solidFill>
              <a:effectLst/>
              <a:latin typeface="Arial"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1"/>
          <p:cNvSpPr>
            <a:spLocks noChangeArrowheads="1"/>
          </p:cNvSpPr>
          <p:nvPr/>
        </p:nvSpPr>
        <p:spPr bwMode="auto">
          <a:xfrm>
            <a:off x="0" y="279855"/>
            <a:ext cx="9144000" cy="40934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50850" algn="just" defTabSz="914400" rtl="0" eaLnBrk="1" fontAlgn="base" latinLnBrk="0" hangingPunct="1">
              <a:lnSpc>
                <a:spcPct val="100000"/>
              </a:lnSpc>
              <a:spcBef>
                <a:spcPct val="0"/>
              </a:spcBef>
              <a:spcAft>
                <a:spcPct val="0"/>
              </a:spcAft>
              <a:buClrTx/>
              <a:buSzTx/>
              <a:buFontTx/>
              <a:buNone/>
              <a:tabLst>
                <a:tab pos="914400" algn="l"/>
              </a:tabLst>
            </a:pPr>
            <a:r>
              <a:rPr kumimoji="0" lang="ru-RU" sz="2000" b="1" i="0" u="none" strike="noStrike" cap="none" normalizeH="0" baseline="0" dirty="0">
                <a:ln>
                  <a:noFill/>
                </a:ln>
                <a:solidFill>
                  <a:schemeClr val="tx1"/>
                </a:solidFill>
                <a:effectLst/>
                <a:latin typeface="Arial" pitchFamily="34" charset="0"/>
                <a:ea typeface="Times New Roman" pitchFamily="18" charset="0"/>
              </a:rPr>
              <a:t>3.</a:t>
            </a:r>
            <a:r>
              <a:rPr kumimoji="0" lang="ru-RU" sz="2000" b="0" i="0" u="sng" strike="noStrike" cap="none" normalizeH="0" baseline="0" dirty="0">
                <a:ln>
                  <a:noFill/>
                </a:ln>
                <a:solidFill>
                  <a:schemeClr val="tx1"/>
                </a:solidFill>
                <a:effectLst/>
                <a:latin typeface="Arial" pitchFamily="34" charset="0"/>
                <a:ea typeface="Times New Roman" pitchFamily="18" charset="0"/>
              </a:rPr>
              <a:t> Функции системы технического диагностирования</a:t>
            </a:r>
            <a:endParaRPr kumimoji="0" lang="ru-RU" sz="2000" b="0" i="0" u="none" strike="noStrike" cap="none" normalizeH="0" baseline="0" dirty="0">
              <a:ln>
                <a:noFill/>
              </a:ln>
              <a:solidFill>
                <a:schemeClr val="tx1"/>
              </a:solidFill>
              <a:effectLst/>
              <a:latin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914400" algn="l"/>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Автоматический контроль за подготовкой станка к работе. Выдача разрешения на пуск.</a:t>
            </a:r>
            <a:endParaRPr kumimoji="0" lang="ru-RU" sz="2000" b="0" i="0" u="none" strike="noStrike" cap="none" normalizeH="0" baseline="0" dirty="0">
              <a:ln>
                <a:noFill/>
              </a:ln>
              <a:solidFill>
                <a:schemeClr val="tx1"/>
              </a:solidFill>
              <a:effectLst/>
              <a:latin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tab pos="914400" algn="l"/>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наличие: заготовки на станке, инструменты в магазине, давление в </a:t>
            </a:r>
            <a:r>
              <a:rPr kumimoji="0" lang="ru-RU" sz="2000" b="0" i="0" u="none" strike="noStrike" cap="none" normalizeH="0" baseline="0" dirty="0" err="1">
                <a:ln>
                  <a:noFill/>
                </a:ln>
                <a:solidFill>
                  <a:schemeClr val="tx1"/>
                </a:solidFill>
                <a:effectLst/>
                <a:latin typeface="Arial" pitchFamily="34" charset="0"/>
                <a:ea typeface="Times New Roman" pitchFamily="18" charset="0"/>
              </a:rPr>
              <a:t>гидросистеме</a:t>
            </a:r>
            <a:r>
              <a:rPr kumimoji="0" lang="ru-RU" sz="2000" b="0" i="0" u="none" strike="noStrike" cap="none" normalizeH="0" baseline="0" dirty="0">
                <a:ln>
                  <a:noFill/>
                </a:ln>
                <a:solidFill>
                  <a:schemeClr val="tx1"/>
                </a:solidFill>
                <a:effectLst/>
                <a:latin typeface="Arial" pitchFamily="34" charset="0"/>
                <a:ea typeface="Times New Roman" pitchFamily="18" charset="0"/>
              </a:rPr>
              <a:t>, СОЖ и воздуха в магистралях;</a:t>
            </a:r>
            <a:endParaRPr kumimoji="0" lang="ru-RU" sz="2000" b="0" i="0" u="none" strike="noStrike" cap="none" normalizeH="0" baseline="0" dirty="0">
              <a:ln>
                <a:noFill/>
              </a:ln>
              <a:solidFill>
                <a:schemeClr val="tx1"/>
              </a:solidFill>
              <a:effectLst/>
              <a:latin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tab pos="914400" algn="l"/>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контроль подачи смазки к узлам станка.</a:t>
            </a:r>
            <a:endParaRPr kumimoji="0" lang="ru-RU" sz="2000" b="0" i="0" u="none" strike="noStrike" cap="none" normalizeH="0" baseline="0" dirty="0">
              <a:ln>
                <a:noFill/>
              </a:ln>
              <a:solidFill>
                <a:schemeClr val="tx1"/>
              </a:solidFill>
              <a:effectLst/>
              <a:latin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914400" algn="l"/>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Оперативный поиск места и причины отказа или сбоя по циклу. Сигнал о нарушении цикла. Нет количества и времени простоев. Отдача сигнала на смену инструмента.</a:t>
            </a:r>
            <a:endParaRPr kumimoji="0" lang="ru-RU" sz="2000" b="0" i="0" u="none" strike="noStrike" cap="none" normalizeH="0" baseline="0" dirty="0">
              <a:ln>
                <a:noFill/>
              </a:ln>
              <a:solidFill>
                <a:schemeClr val="tx1"/>
              </a:solidFill>
              <a:effectLst/>
              <a:latin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tab pos="914400" algn="l"/>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время выполнения цикла и его элементов;</a:t>
            </a:r>
            <a:endParaRPr kumimoji="0" lang="ru-RU" sz="2000" b="0" i="0" u="none" strike="noStrike" cap="none" normalizeH="0" baseline="0" dirty="0">
              <a:ln>
                <a:noFill/>
              </a:ln>
              <a:solidFill>
                <a:schemeClr val="tx1"/>
              </a:solidFill>
              <a:effectLst/>
              <a:latin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tab pos="914400" algn="l"/>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ресурс режущих инструментов;</a:t>
            </a:r>
            <a:endParaRPr kumimoji="0" lang="ru-RU" sz="2000" b="0" i="0" u="none" strike="noStrike" cap="none" normalizeH="0" baseline="0" dirty="0">
              <a:ln>
                <a:noFill/>
              </a:ln>
              <a:solidFill>
                <a:schemeClr val="tx1"/>
              </a:solidFill>
              <a:effectLst/>
              <a:latin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tab pos="914400" algn="l"/>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время простоев по организационным причинам: отсутствие заготовок, инструментов, УП, оператора и т.д.</a:t>
            </a:r>
            <a:endParaRPr kumimoji="0" lang="ru-RU" sz="2000" b="0" i="0" u="none" strike="noStrike" cap="none" normalizeH="0" baseline="0" dirty="0">
              <a:ln>
                <a:noFill/>
              </a:ln>
              <a:solidFill>
                <a:schemeClr val="tx1"/>
              </a:solidFill>
              <a:effectLst/>
              <a:latin typeface="Arial"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474345"/>
            <a:ext cx="9144000" cy="5632311"/>
          </a:xfrm>
          <a:prstGeom prst="rect">
            <a:avLst/>
          </a:prstGeom>
        </p:spPr>
        <p:txBody>
          <a:bodyPr wrap="square">
            <a:spAutoFit/>
          </a:bodyPr>
          <a:lstStyle/>
          <a:p>
            <a:pPr lvl="0"/>
            <a:r>
              <a:rPr lang="ru-RU" sz="2400" dirty="0"/>
              <a:t>Определение причин неисправности узлов. Оперативный профилактический контроль состояния узлов и выдача сигнала на проведение техобслуживания.</a:t>
            </a:r>
          </a:p>
          <a:p>
            <a:pPr lvl="1"/>
            <a:r>
              <a:rPr lang="ru-RU" sz="2400" dirty="0"/>
              <a:t>момент в приводе подач;</a:t>
            </a:r>
          </a:p>
          <a:p>
            <a:pPr lvl="1"/>
            <a:r>
              <a:rPr lang="ru-RU" sz="2400" dirty="0"/>
              <a:t>давление в </a:t>
            </a:r>
            <a:r>
              <a:rPr lang="ru-RU" sz="2400" dirty="0" err="1"/>
              <a:t>гидросистеме</a:t>
            </a:r>
            <a:r>
              <a:rPr lang="ru-RU" sz="2400" dirty="0"/>
              <a:t>;</a:t>
            </a:r>
          </a:p>
          <a:p>
            <a:pPr lvl="1"/>
            <a:r>
              <a:rPr lang="ru-RU" sz="2400" dirty="0"/>
              <a:t>перегрев двигателей;</a:t>
            </a:r>
          </a:p>
          <a:p>
            <a:pPr lvl="1"/>
            <a:r>
              <a:rPr lang="ru-RU" sz="2400" dirty="0"/>
              <a:t>усилие зажима в приспособлении;</a:t>
            </a:r>
          </a:p>
          <a:p>
            <a:pPr lvl="1"/>
            <a:r>
              <a:rPr lang="ru-RU" sz="2400" dirty="0"/>
              <a:t>ошибки в системе слежения координатам.</a:t>
            </a:r>
          </a:p>
          <a:p>
            <a:pPr lvl="0"/>
            <a:r>
              <a:rPr lang="ru-RU" sz="2400" dirty="0"/>
              <a:t>Выявление медленно изменяющихся процессов. Определение ресурса работоспособности станка.</a:t>
            </a:r>
          </a:p>
          <a:p>
            <a:pPr lvl="1"/>
            <a:r>
              <a:rPr lang="ru-RU" sz="2400" dirty="0"/>
              <a:t>зоны нечувствительности привода, точности позиционирования, быстродействия;</a:t>
            </a:r>
          </a:p>
          <a:p>
            <a:pPr lvl="1"/>
            <a:r>
              <a:rPr lang="ru-RU" sz="2400" dirty="0"/>
              <a:t>точность установки инструмента в шпинделе станка;</a:t>
            </a:r>
          </a:p>
          <a:p>
            <a:pPr lvl="1"/>
            <a:r>
              <a:rPr lang="ru-RU" sz="2400" dirty="0"/>
              <a:t>жесткость стыков узла;</a:t>
            </a:r>
          </a:p>
          <a:p>
            <a:pPr lvl="1"/>
            <a:r>
              <a:rPr lang="ru-RU" sz="2400" dirty="0"/>
              <a:t>относительное расположение узлов станка.</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2136339"/>
            <a:ext cx="9144000" cy="2308324"/>
          </a:xfrm>
          <a:prstGeom prst="rect">
            <a:avLst/>
          </a:prstGeom>
        </p:spPr>
        <p:txBody>
          <a:bodyPr wrap="square">
            <a:spAutoFit/>
          </a:bodyPr>
          <a:lstStyle/>
          <a:p>
            <a:pPr lvl="0"/>
            <a:r>
              <a:rPr lang="ru-RU" sz="2400" dirty="0"/>
              <a:t>Предотвращение брака, контроль геометрической точности станка и прогнозирование ее на последующий период эксплуатации.</a:t>
            </a:r>
          </a:p>
          <a:p>
            <a:pPr lvl="1"/>
            <a:r>
              <a:rPr lang="ru-RU" sz="2400" dirty="0"/>
              <a:t>относительное положение обрабатываемых поверхностей;</a:t>
            </a:r>
          </a:p>
          <a:p>
            <a:pPr lvl="1"/>
            <a:r>
              <a:rPr lang="ru-RU" sz="2400" dirty="0"/>
              <a:t>точность размеров;</a:t>
            </a:r>
          </a:p>
          <a:p>
            <a:pPr lvl="1"/>
            <a:r>
              <a:rPr lang="ru-RU" sz="2400" dirty="0"/>
              <a:t>шероховатость поверхности;</a:t>
            </a:r>
          </a:p>
          <a:p>
            <a:r>
              <a:rPr lang="ru-RU" sz="2400" dirty="0"/>
              <a:t>погрешность формы поверхностей</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1556793"/>
            <a:ext cx="7772400" cy="2043658"/>
          </a:xfrm>
        </p:spPr>
        <p:txBody>
          <a:bodyPr>
            <a:normAutofit fontScale="90000"/>
          </a:bodyPr>
          <a:lstStyle/>
          <a:p>
            <a:r>
              <a:rPr lang="ru-RU" dirty="0"/>
              <a:t>Диагностирование технического состояния систем программного управления</a:t>
            </a:r>
          </a:p>
        </p:txBody>
      </p:sp>
      <p:sp>
        <p:nvSpPr>
          <p:cNvPr id="3" name="Подзаголовок 2"/>
          <p:cNvSpPr>
            <a:spLocks noGrp="1"/>
          </p:cNvSpPr>
          <p:nvPr>
            <p:ph type="subTitle" idx="1"/>
          </p:nvPr>
        </p:nvSpPr>
        <p:spPr/>
        <p:txBody>
          <a:bodyPr/>
          <a:lstStyle/>
          <a:p>
            <a:endParaRPr lang="ru-RU"/>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1"/>
          <p:cNvSpPr>
            <a:spLocks noChangeArrowheads="1"/>
          </p:cNvSpPr>
          <p:nvPr/>
        </p:nvSpPr>
        <p:spPr bwMode="auto">
          <a:xfrm>
            <a:off x="0" y="471636"/>
            <a:ext cx="9144000" cy="5339923"/>
          </a:xfrm>
          <a:prstGeom prst="rect">
            <a:avLst/>
          </a:prstGeom>
          <a:noFill/>
          <a:ln w="9525">
            <a:noFill/>
            <a:miter lim="800000"/>
            <a:headEnd/>
            <a:tailEnd/>
          </a:ln>
          <a:effectLst/>
        </p:spPr>
        <p:txBody>
          <a:bodyPr vert="horz" wrap="square" lIns="91440" tIns="45720" rIns="91440" bIns="0" numCol="1" anchor="ctr" anchorCtr="0" compatLnSpc="1">
            <a:prstTxWarp prst="textNoShape">
              <a:avLst/>
            </a:prstTxWarp>
            <a:spAutoFit/>
          </a:bodyPr>
          <a:lstStyle/>
          <a:p>
            <a:pPr marL="0" marR="0" lvl="0" indent="450850" algn="just" defTabSz="914400" rtl="0" eaLnBrk="1" fontAlgn="t" latinLnBrk="0" hangingPunct="1">
              <a:lnSpc>
                <a:spcPct val="100000"/>
              </a:lnSpc>
              <a:spcBef>
                <a:spcPct val="0"/>
              </a:spcBef>
              <a:spcAft>
                <a:spcPct val="0"/>
              </a:spcAft>
              <a:buClrTx/>
              <a:buSzTx/>
              <a:buFontTx/>
              <a:buNone/>
              <a:tabLst/>
            </a:pPr>
            <a:r>
              <a:rPr kumimoji="0" lang="ru-RU"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Под </a:t>
            </a:r>
            <a:r>
              <a:rPr kumimoji="0" lang="ru-RU" sz="24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технической диагностикой</a:t>
            </a:r>
            <a:r>
              <a:rPr kumimoji="0" lang="ru-RU"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систем программного </a:t>
            </a:r>
            <a:r>
              <a:rPr kumimoji="0" lang="ru-RU"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управления понимается область знаний, разрабатывающая методы и средства поиска отклонений в режимах работы (или состояниях), обнаружения и устранения дефектов в системах (или ее элементах) и средства их </a:t>
            </a:r>
            <a:r>
              <a:rPr kumimoji="0" lang="ru-RU" sz="2000" b="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локализации.При</a:t>
            </a:r>
            <a:r>
              <a:rPr kumimoji="0" lang="ru-RU"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диагностировании необходимо определить, прежде всего, техническое состояние системы в данный момент времени. Это означает, что нужно проверить исправность, работоспособность и (или) правильность функционирования системы (определить, находятся ли значения параметров системы в требуемых пределах, т.е. система не отказала и правильно выполняет заданную функцию) или обнаружить дефекты, нарушающие исправность, работоспособность и правильное функционирование системы. Тогда основную </a:t>
            </a:r>
            <a:r>
              <a:rPr kumimoji="0" lang="ru-RU" sz="2000" b="1" i="1"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цель диагностирования</a:t>
            </a:r>
            <a:r>
              <a:rPr kumimoji="0" lang="ru-RU"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АСУ можно сформулировать следующим образом: необходимо оценить выходные параметры системы и выявить причины их отклонения от заданных значений. При этом необходимо учитывать весь диапазон режимов работы системы и условий ее эксплуатации, а также возможность изменения выходных параметров во времени (так называемая параметрическая надежность).</a:t>
            </a:r>
            <a:r>
              <a:rPr kumimoji="0" lang="ru-RU" sz="2000" b="0" i="0" u="none" strike="noStrike" cap="none" normalizeH="0" baseline="0" dirty="0">
                <a:ln>
                  <a:noFill/>
                </a:ln>
                <a:solidFill>
                  <a:schemeClr val="tx1"/>
                </a:solidFill>
                <a:effectLst/>
                <a:latin typeface="Arial" pitchFamily="34" charset="0"/>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1"/>
          <p:cNvSpPr>
            <a:spLocks noChangeArrowheads="1"/>
          </p:cNvSpPr>
          <p:nvPr/>
        </p:nvSpPr>
        <p:spPr bwMode="auto">
          <a:xfrm>
            <a:off x="0" y="463213"/>
            <a:ext cx="9144000" cy="4662815"/>
          </a:xfrm>
          <a:prstGeom prst="rect">
            <a:avLst/>
          </a:prstGeom>
          <a:noFill/>
          <a:ln w="9525">
            <a:noFill/>
            <a:miter lim="800000"/>
            <a:headEnd/>
            <a:tailEnd/>
          </a:ln>
          <a:effectLst/>
        </p:spPr>
        <p:txBody>
          <a:bodyPr vert="horz" wrap="square" lIns="91440" tIns="45720" rIns="91440" bIns="0" numCol="1" anchor="ctr" anchorCtr="0" compatLnSpc="1">
            <a:prstTxWarp prst="textNoShape">
              <a:avLst/>
            </a:prstTxWarp>
            <a:spAutoFit/>
          </a:bodyPr>
          <a:lstStyle/>
          <a:p>
            <a:pPr marL="0" marR="0" lvl="0" indent="450850" algn="just" defTabSz="914400" rtl="0" eaLnBrk="1" fontAlgn="t" latinLnBrk="0" hangingPunct="1">
              <a:lnSpc>
                <a:spcPct val="100000"/>
              </a:lnSpc>
              <a:spcBef>
                <a:spcPct val="0"/>
              </a:spcBef>
              <a:spcAft>
                <a:spcPct val="0"/>
              </a:spcAft>
              <a:buClrTx/>
              <a:buSzTx/>
              <a:buFontTx/>
              <a:buNone/>
              <a:tabLst/>
            </a:pPr>
            <a:r>
              <a:rPr kumimoji="0" lang="ru-RU"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Различают тестовое и функциональное </a:t>
            </a:r>
            <a:r>
              <a:rPr kumimoji="0" lang="ru-RU" sz="2000" b="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диагностирование.</a:t>
            </a:r>
            <a:r>
              <a:rPr kumimoji="0" lang="ru-RU" sz="2000" b="1"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Тестовое</a:t>
            </a:r>
            <a:r>
              <a:rPr kumimoji="0" lang="ru-RU"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диагностирование</a:t>
            </a:r>
            <a:r>
              <a:rPr kumimoji="0" lang="ru-RU"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позволяет проверить техническое состояние системы по тестовому воздействию на нее. По тесту проверяются параметры системы и ее элементов и причины их отклонения от заданных </a:t>
            </a:r>
            <a:r>
              <a:rPr kumimoji="0" lang="ru-RU" sz="2000" b="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значений.</a:t>
            </a:r>
            <a:r>
              <a:rPr kumimoji="0" lang="ru-RU" sz="2000" b="1"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Функциональное</a:t>
            </a:r>
            <a:r>
              <a:rPr kumimoji="0" lang="ru-RU"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диагностирование</a:t>
            </a:r>
            <a:r>
              <a:rPr kumimoji="0" lang="ru-RU"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позволяет определить техническое состояние системы (или ее элементов) по рабочему воздействию на </a:t>
            </a:r>
            <a:r>
              <a:rPr kumimoji="0" lang="ru-RU" sz="2000" b="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нее.Рабочее</a:t>
            </a:r>
            <a:r>
              <a:rPr kumimoji="0" lang="ru-RU"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воздействие контролирует исполнение системой заданных функций при заданных параметрах и выявить причины нарушения ее </a:t>
            </a:r>
            <a:r>
              <a:rPr kumimoji="0" lang="ru-RU" sz="2000" b="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функционирования.Тестовое</a:t>
            </a:r>
            <a:r>
              <a:rPr kumimoji="0" lang="ru-RU"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и функциональное диагностирование выполняется по так называемому алгоритму </a:t>
            </a:r>
            <a:r>
              <a:rPr kumimoji="0" lang="ru-RU" sz="2000" b="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диагностирования.</a:t>
            </a:r>
            <a:r>
              <a:rPr kumimoji="0" lang="ru-RU" sz="2000" b="1" i="1"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Алгоритм</a:t>
            </a:r>
            <a:r>
              <a:rPr kumimoji="0" lang="ru-RU" sz="2000" b="1" i="1"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диагностирования</a:t>
            </a:r>
            <a:r>
              <a:rPr kumimoji="0" lang="ru-RU"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 совокупность элементарных проверок в контрольных точках системы и правил, устанавливающих последовательность их проведения, а также анализ результатов этих проверок, по которым можно определить исправное, работоспособное или состояние правильного функционирования от неисправного состояния и уметь отличать дефекты от неисправного состояния.</a:t>
            </a:r>
            <a:r>
              <a:rPr kumimoji="0" lang="ru-RU" sz="2000" b="0" i="0" u="none" strike="noStrike" cap="none" normalizeH="0" baseline="0" dirty="0">
                <a:ln>
                  <a:noFill/>
                </a:ln>
                <a:solidFill>
                  <a:schemeClr val="tx1"/>
                </a:solidFill>
                <a:effectLst/>
                <a:latin typeface="Arial" pitchFamily="34" charset="0"/>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1"/>
          <p:cNvSpPr>
            <a:spLocks noChangeArrowheads="1"/>
          </p:cNvSpPr>
          <p:nvPr/>
        </p:nvSpPr>
        <p:spPr bwMode="auto">
          <a:xfrm>
            <a:off x="0" y="463213"/>
            <a:ext cx="9144000" cy="4662815"/>
          </a:xfrm>
          <a:prstGeom prst="rect">
            <a:avLst/>
          </a:prstGeom>
          <a:noFill/>
          <a:ln w="9525">
            <a:noFill/>
            <a:miter lim="800000"/>
            <a:headEnd/>
            <a:tailEnd/>
          </a:ln>
          <a:effectLst/>
        </p:spPr>
        <p:txBody>
          <a:bodyPr vert="horz" wrap="square" lIns="91440" tIns="45720" rIns="91440" bIns="0" numCol="1" anchor="ctr" anchorCtr="0" compatLnSpc="1">
            <a:prstTxWarp prst="textNoShape">
              <a:avLst/>
            </a:prstTxWarp>
            <a:spAutoFit/>
          </a:bodyPr>
          <a:lstStyle/>
          <a:p>
            <a:pPr marL="0" marR="0" lvl="0" indent="450850" algn="just" defTabSz="914400" rtl="0" eaLnBrk="1" fontAlgn="t" latinLnBrk="0" hangingPunct="1">
              <a:lnSpc>
                <a:spcPct val="100000"/>
              </a:lnSpc>
              <a:spcBef>
                <a:spcPct val="0"/>
              </a:spcBef>
              <a:spcAft>
                <a:spcPct val="0"/>
              </a:spcAft>
              <a:buClrTx/>
              <a:buSzTx/>
              <a:buFontTx/>
              <a:buNone/>
              <a:tabLst/>
            </a:pPr>
            <a:r>
              <a:rPr kumimoji="0" lang="ru-RU"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В алгоритмах тестового диагностирования контрольные точки определены предварительно и они одинаковы для всех проверок и подбираются только тестовые </a:t>
            </a:r>
            <a:r>
              <a:rPr kumimoji="0" lang="ru-RU" sz="2000" b="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воздействия.В</a:t>
            </a:r>
            <a:r>
              <a:rPr kumimoji="0" lang="ru-RU"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алгоритмах функционального диагностирования предварительно определены входные воздействия, а выбору подлежат контрольные </a:t>
            </a:r>
            <a:r>
              <a:rPr kumimoji="0" lang="ru-RU" sz="2000" b="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точки.При</a:t>
            </a:r>
            <a:r>
              <a:rPr kumimoji="0" lang="ru-RU"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проведении различных элементарных проверок могут требоваться различные затраты на их реализацию. Эти проверки могут давать разную информацию о техническом состоянии системы. Одни и те же элементарные проверки могут быть реализованы в различной последовательности. Т.е. для решения даже одной задачи диагностирования, можно построить несколько алгоритмов. Таким образом, встает задача разработки оптимальных алгоритмов диагностирования, при которых затраты на их реализацию будут уменьшены (задача минимизации в некоторых случаях может быть сильно затруднена, например, трудностями вычислений).Эффективность диагностирования оценивается качеством алгоритмов диагностирования и качеством средств диагностирования.</a:t>
            </a:r>
            <a:r>
              <a:rPr kumimoji="0" lang="ru-RU" sz="2000" b="0" i="0" u="none" strike="noStrike" cap="none" normalizeH="0" baseline="0" dirty="0">
                <a:ln>
                  <a:noFill/>
                </a:ln>
                <a:solidFill>
                  <a:schemeClr val="tx1"/>
                </a:solidFill>
                <a:effectLst/>
                <a:latin typeface="Arial" pitchFamily="34" charset="0"/>
              </a:rPr>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1"/>
          <p:cNvSpPr>
            <a:spLocks noChangeArrowheads="1"/>
          </p:cNvSpPr>
          <p:nvPr/>
        </p:nvSpPr>
        <p:spPr bwMode="auto">
          <a:xfrm>
            <a:off x="0" y="483538"/>
            <a:ext cx="9144000" cy="4478149"/>
          </a:xfrm>
          <a:prstGeom prst="rect">
            <a:avLst/>
          </a:prstGeom>
          <a:noFill/>
          <a:ln w="9525">
            <a:noFill/>
            <a:miter lim="800000"/>
            <a:headEnd/>
            <a:tailEnd/>
          </a:ln>
          <a:effectLst/>
        </p:spPr>
        <p:txBody>
          <a:bodyPr vert="horz" wrap="square" lIns="91440" tIns="45720" rIns="91440" bIns="0" numCol="1" anchor="ctr" anchorCtr="0" compatLnSpc="1">
            <a:prstTxWarp prst="textNoShape">
              <a:avLst/>
            </a:prstTxWarp>
            <a:spAutoFit/>
          </a:bodyPr>
          <a:lstStyle/>
          <a:p>
            <a:pPr marL="0" marR="0" lvl="0" indent="450850" algn="just" defTabSz="914400" rtl="0" eaLnBrk="1" fontAlgn="t" latinLnBrk="0" hangingPunct="1">
              <a:lnSpc>
                <a:spcPct val="100000"/>
              </a:lnSpc>
              <a:spcBef>
                <a:spcPct val="0"/>
              </a:spcBef>
              <a:spcAft>
                <a:spcPct val="0"/>
              </a:spcAft>
              <a:buClrTx/>
              <a:buSzTx/>
              <a:buFontTx/>
              <a:buNone/>
              <a:tabLst/>
            </a:pPr>
            <a:r>
              <a:rPr kumimoji="0" lang="ru-RU"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Средства диагностирования разделяют, прежде всего, на программные и аппаратные, а также внешние (конструктивно выполненные отдельно от системы) и встроенные (являющиеся составной частью системы); ручными, автоматизированными и автоматическими; специализированными и </a:t>
            </a:r>
            <a:r>
              <a:rPr kumimoji="0" lang="ru-RU" sz="2400" b="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универсальными.Методы</a:t>
            </a:r>
            <a:r>
              <a:rPr kumimoji="0" lang="ru-RU"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диагностирования АСУ определяются различными факторами:  выбором объекта диагностирования (узла, блока, элемента и т.п.), используемыми диагностическими параметрами (временные, силовые, электрические, </a:t>
            </a:r>
            <a:r>
              <a:rPr kumimoji="0" lang="ru-RU" sz="2400" b="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виброакустические</a:t>
            </a:r>
            <a:r>
              <a:rPr kumimoji="0" lang="ru-RU"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и др.), в зависимости от используемых средств </a:t>
            </a:r>
            <a:r>
              <a:rPr kumimoji="0" lang="ru-RU" sz="2400" b="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диагностирования.Эффективность</a:t>
            </a:r>
            <a:r>
              <a:rPr kumimoji="0" lang="ru-RU"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процессов диагностирования во многом определяется программными средствами системы</a:t>
            </a:r>
            <a:r>
              <a:rPr kumimoji="0" lang="ru-RU" sz="1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t>
            </a:r>
            <a:r>
              <a:rPr kumimoji="0" lang="ru-RU" sz="900" b="0" i="0" u="none" strike="noStrike" cap="none" normalizeH="0" baseline="0" dirty="0">
                <a:ln>
                  <a:noFill/>
                </a:ln>
                <a:solidFill>
                  <a:schemeClr val="tx1"/>
                </a:solidFill>
                <a:effectLst/>
                <a:latin typeface="Arial" pitchFamily="34" charset="0"/>
              </a:rPr>
              <a:t> </a:t>
            </a:r>
            <a:endParaRPr kumimoji="0" lang="ru-RU" sz="1800" b="0" i="0" u="none" strike="noStrike" cap="none" normalizeH="0" baseline="0" dirty="0">
              <a:ln>
                <a:noFill/>
              </a:ln>
              <a:solidFill>
                <a:schemeClr val="tx1"/>
              </a:solidFill>
              <a:effectLst/>
              <a:latin typeface="Arial"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1556792"/>
            <a:ext cx="9144000" cy="4401205"/>
          </a:xfrm>
          <a:prstGeom prst="rect">
            <a:avLst/>
          </a:prstGeom>
        </p:spPr>
        <p:txBody>
          <a:bodyPr wrap="square">
            <a:spAutoFit/>
          </a:bodyPr>
          <a:lstStyle/>
          <a:p>
            <a:r>
              <a:rPr lang="ru-RU" sz="2000" b="1" dirty="0"/>
              <a:t>3.</a:t>
            </a:r>
            <a:r>
              <a:rPr lang="ru-RU" sz="2000" dirty="0"/>
              <a:t> </a:t>
            </a:r>
            <a:r>
              <a:rPr lang="ru-RU" sz="2000" b="1" dirty="0"/>
              <a:t>Система технического диагностирования</a:t>
            </a:r>
            <a:r>
              <a:rPr lang="ru-RU" sz="2000" dirty="0"/>
              <a:t> предназначена для проверки правильности функционирования, поиска нарушений в исполнительной, управляющей и контрольной частях технологический линий с целью предупреждения внезапных отказов, устранения отклонений, набора статистики для прогнозирования состояния систем и ускорения отладки оборудования при переходе из одного режима работы в другой.</a:t>
            </a:r>
          </a:p>
          <a:p>
            <a:r>
              <a:rPr lang="ru-RU" sz="2000" dirty="0"/>
              <a:t>Создание СТД включает:</a:t>
            </a:r>
          </a:p>
          <a:p>
            <a:pPr lvl="0"/>
            <a:r>
              <a:rPr lang="ru-RU" sz="2000" dirty="0"/>
              <a:t>анализ и оптимизацию состава диагностируемых параметров производственных систем;</a:t>
            </a:r>
          </a:p>
          <a:p>
            <a:pPr lvl="0"/>
            <a:r>
              <a:rPr lang="ru-RU" sz="2000" dirty="0"/>
              <a:t>разработку методов и средств диагностирования, принципов построения оптимальных тестов функционального сложного автоматического оборудования;</a:t>
            </a:r>
          </a:p>
          <a:p>
            <a:r>
              <a:rPr lang="ru-RU" sz="2000" dirty="0"/>
              <a:t>разработку основ синтеза специальных средств технического диагностирования производственных систем, обладающих улучшенными характеристиками отказоустойчивости,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4708981"/>
          </a:xfrm>
          <a:prstGeom prst="rect">
            <a:avLst/>
          </a:prstGeom>
        </p:spPr>
        <p:txBody>
          <a:bodyPr wrap="square">
            <a:spAutoFit/>
          </a:bodyPr>
          <a:lstStyle/>
          <a:p>
            <a:pPr lvl="0"/>
            <a:r>
              <a:rPr lang="ru-RU" sz="2000" dirty="0" err="1"/>
              <a:t>контролепригодности</a:t>
            </a:r>
            <a:r>
              <a:rPr lang="ru-RU" sz="2000" dirty="0"/>
              <a:t> и самоконтроля, специальных методов проверки правильной работы программного обеспечения производственных систем.</a:t>
            </a:r>
          </a:p>
          <a:p>
            <a:r>
              <a:rPr lang="ru-RU" sz="2000" dirty="0"/>
              <a:t>При создании системы технического диагностирования рекомендуется руководствоваться следующими принципами построения:</a:t>
            </a:r>
          </a:p>
          <a:p>
            <a:pPr lvl="0"/>
            <a:r>
              <a:rPr lang="ru-RU" sz="2000" dirty="0"/>
              <a:t>система технического диагностирования должна быть составной частью общей системы управления технологическим оборудованием и создаваться на единой с ней методологической и элементной базе так, чтобы можно было использовать общие информационные каналы.</a:t>
            </a:r>
          </a:p>
          <a:p>
            <a:pPr lvl="0"/>
            <a:r>
              <a:rPr lang="ru-RU" sz="2000" dirty="0"/>
              <a:t>система технического диагностирования должна эффективно функционировать не только в процессе эксплуатации технологического оборудования, но и при его наладке, подготовке и ремонте.</a:t>
            </a:r>
          </a:p>
          <a:p>
            <a:pPr lvl="0"/>
            <a:r>
              <a:rPr lang="ru-RU" sz="2000" dirty="0"/>
              <a:t>СТД по своим функциям, структуре и используемым техническим средствам должна соответствовать уровню автоматизации соответствующего производства. При встраивании оборудования в гибкие автоматические системы СТД должна быть составной частью системы управления производством.</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1"/>
          <p:cNvSpPr>
            <a:spLocks noChangeArrowheads="1"/>
          </p:cNvSpPr>
          <p:nvPr/>
        </p:nvSpPr>
        <p:spPr bwMode="auto">
          <a:xfrm>
            <a:off x="0" y="194489"/>
            <a:ext cx="9144000" cy="563231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Char char="•"/>
              <a:tabLst>
                <a:tab pos="457200" algn="l"/>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Диагностическая информация должна подаваться в центральный пункт обслуживания технологическим оборудованием в расшифрованном и доступном для пользователя виде. Необходимая информация должна подаваться в запоминающее устройство (с указанием времени, дня и даты) для последующего накопления и анализа этой информации, а также прогнозирования состояния технологического оборудования и его отдельных узлов. При наличии центральной ЭВМ эта информация должна поступать на нее.</a:t>
            </a:r>
            <a:endParaRPr kumimoji="0" lang="ru-RU" sz="2000" b="0" i="0" u="none" strike="noStrike" cap="none" normalizeH="0" baseline="0" dirty="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При необходимости подача диагностической информации должна сопровождаться подачей световых или звуковых сигналов.</a:t>
            </a:r>
            <a:endParaRPr kumimoji="0" lang="ru-RU" sz="2000" b="0" i="0" u="none" strike="noStrike" cap="none" normalizeH="0" baseline="0" dirty="0">
              <a:ln>
                <a:noFill/>
              </a:ln>
              <a:solidFill>
                <a:schemeClr val="tx1"/>
              </a:solidFill>
              <a:effectLst/>
              <a:latin typeface="Arial" pitchFamily="34" charset="0"/>
            </a:endParaRPr>
          </a:p>
          <a:p>
            <a:pPr marL="0" marR="0" lvl="0" indent="450850" algn="l" defTabSz="914400" rtl="0" eaLnBrk="0" fontAlgn="base" latinLnBrk="0" hangingPunct="0">
              <a:lnSpc>
                <a:spcPct val="100000"/>
              </a:lnSpc>
              <a:spcBef>
                <a:spcPct val="0"/>
              </a:spcBef>
              <a:spcAft>
                <a:spcPct val="0"/>
              </a:spcAft>
              <a:buClrTx/>
              <a:buSzTx/>
              <a:buFontTx/>
              <a:buNone/>
              <a:tabLst>
                <a:tab pos="457200" algn="l"/>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 При разработке СТД диагностику рекомендуется реализовывать в виде пяти подсистем:</a:t>
            </a:r>
            <a:endParaRPr kumimoji="0" lang="ru-RU" sz="2000" b="0" i="0" u="none" strike="noStrike" cap="none" normalizeH="0" baseline="0" dirty="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контроль готовности технологического оборудования к работе;</a:t>
            </a:r>
            <a:endParaRPr kumimoji="0" lang="ru-RU" sz="2000" b="0" i="0" u="none" strike="noStrike" cap="none" normalizeH="0" baseline="0" dirty="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оперативное цикловое диагностирование;</a:t>
            </a:r>
            <a:endParaRPr kumimoji="0" lang="ru-RU" sz="2000" b="0" i="0" u="none" strike="noStrike" cap="none" normalizeH="0" baseline="0" dirty="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оперативное узловое диагностирование;</a:t>
            </a:r>
            <a:endParaRPr kumimoji="0" lang="ru-RU" sz="2000" b="0" i="0" u="none" strike="noStrike" cap="none" normalizeH="0" baseline="0" dirty="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специальное диагностирование;</a:t>
            </a:r>
            <a:endParaRPr kumimoji="0" lang="ru-RU" sz="2000" b="0" i="0" u="none" strike="noStrike" cap="none" normalizeH="0" baseline="0" dirty="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ru-RU" sz="2000" b="0" i="0" u="none" strike="noStrike" cap="none" normalizeH="0" baseline="0" dirty="0">
                <a:ln>
                  <a:noFill/>
                </a:ln>
                <a:solidFill>
                  <a:schemeClr val="tx1"/>
                </a:solidFill>
                <a:effectLst/>
                <a:latin typeface="Arial" pitchFamily="34" charset="0"/>
                <a:ea typeface="Times New Roman" pitchFamily="18" charset="0"/>
              </a:rPr>
              <a:t>диагностирование по результатам обработки заготовок.</a:t>
            </a:r>
            <a:endParaRPr kumimoji="0" lang="ru-RU" sz="2000" b="0" i="0" u="none" strike="noStrike" cap="none" normalizeH="0" baseline="0" dirty="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2000" b="0" i="0" u="none" strike="noStrike" cap="none" normalizeH="0" baseline="0" dirty="0">
              <a:ln>
                <a:noFill/>
              </a:ln>
              <a:solidFill>
                <a:schemeClr val="tx1"/>
              </a:solidFill>
              <a:effectLst/>
              <a:latin typeface="Arial"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652C34-88C7-4D68-BF4E-6BA4A1A2AB6A}"/>
              </a:ext>
            </a:extLst>
          </p:cNvPr>
          <p:cNvSpPr>
            <a:spLocks noGrp="1"/>
          </p:cNvSpPr>
          <p:nvPr>
            <p:ph type="title"/>
          </p:nvPr>
        </p:nvSpPr>
        <p:spPr/>
        <p:txBody>
          <a:bodyPr>
            <a:noAutofit/>
          </a:bodyPr>
          <a:lstStyle/>
          <a:p>
            <a:r>
              <a:rPr lang="ru-RU" sz="3200" dirty="0"/>
              <a:t>Системы планового технического обслуживания и ремонта оборудования</a:t>
            </a:r>
          </a:p>
        </p:txBody>
      </p:sp>
      <p:sp>
        <p:nvSpPr>
          <p:cNvPr id="3" name="Объект 2">
            <a:extLst>
              <a:ext uri="{FF2B5EF4-FFF2-40B4-BE49-F238E27FC236}">
                <a16:creationId xmlns:a16="http://schemas.microsoft.com/office/drawing/2014/main" id="{54FD0556-2EF5-4498-8195-D3A49CD6CC9F}"/>
              </a:ext>
            </a:extLst>
          </p:cNvPr>
          <p:cNvSpPr>
            <a:spLocks noGrp="1"/>
          </p:cNvSpPr>
          <p:nvPr>
            <p:ph idx="1"/>
          </p:nvPr>
        </p:nvSpPr>
        <p:spPr/>
        <p:txBody>
          <a:bodyPr>
            <a:normAutofit fontScale="70000" lnSpcReduction="20000"/>
          </a:bodyPr>
          <a:lstStyle/>
          <a:p>
            <a:r>
              <a:rPr lang="ru-RU" b="1" dirty="0"/>
              <a:t>Система планового технического обслуживания и ремонта</a:t>
            </a:r>
            <a:br>
              <a:rPr lang="ru-RU" b="1" dirty="0"/>
            </a:br>
            <a:r>
              <a:rPr lang="ru-RU" b="1" dirty="0"/>
              <a:t>технологического оборудования представляет собой совокупность </a:t>
            </a:r>
            <a:r>
              <a:rPr lang="ru-RU" b="1" dirty="0" err="1"/>
              <a:t>заимосвязанных</a:t>
            </a:r>
            <a:r>
              <a:rPr lang="ru-RU" b="1" dirty="0"/>
              <a:t> плановых организационно-технических мер по уходу и ремонту оборудования, обеспечивая их безотказную работу</a:t>
            </a:r>
            <a:r>
              <a:rPr lang="ru-RU" dirty="0"/>
              <a:t>.</a:t>
            </a:r>
          </a:p>
          <a:p>
            <a:r>
              <a:rPr lang="ru-RU" dirty="0"/>
              <a:t> Система предусматривает планирование и выполнение технического обслуживания и</a:t>
            </a:r>
            <a:br>
              <a:rPr lang="ru-RU" dirty="0"/>
            </a:br>
            <a:r>
              <a:rPr lang="ru-RU" dirty="0"/>
              <a:t>ремонта оборудования, обеспечение контроля над их выполнением, использование категории ремонтной сложности, ремонтного цикла, нормативов периодичности технического обслуживания и ремонта, создание нормативных запасов запасных частей и их хранение. </a:t>
            </a:r>
            <a:br>
              <a:rPr lang="ru-RU" dirty="0"/>
            </a:br>
            <a:endParaRPr lang="ru-RU" dirty="0"/>
          </a:p>
        </p:txBody>
      </p:sp>
    </p:spTree>
    <p:extLst>
      <p:ext uri="{BB962C8B-B14F-4D97-AF65-F5344CB8AC3E}">
        <p14:creationId xmlns:p14="http://schemas.microsoft.com/office/powerpoint/2010/main" val="34532037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8AAAD842-61F7-4BCB-AEA9-A6048FAD2393}"/>
              </a:ext>
            </a:extLst>
          </p:cNvPr>
          <p:cNvPicPr>
            <a:picLocks noChangeAspect="1"/>
          </p:cNvPicPr>
          <p:nvPr/>
        </p:nvPicPr>
        <p:blipFill>
          <a:blip r:embed="rId2"/>
          <a:stretch>
            <a:fillRect/>
          </a:stretch>
        </p:blipFill>
        <p:spPr>
          <a:xfrm>
            <a:off x="1456391" y="0"/>
            <a:ext cx="6231218" cy="6858000"/>
          </a:xfrm>
          <a:prstGeom prst="rect">
            <a:avLst/>
          </a:prstGeom>
        </p:spPr>
      </p:pic>
    </p:spTree>
    <p:extLst>
      <p:ext uri="{BB962C8B-B14F-4D97-AF65-F5344CB8AC3E}">
        <p14:creationId xmlns:p14="http://schemas.microsoft.com/office/powerpoint/2010/main" val="1414191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E6140611-EBA4-4CF4-AA00-FA7D4A3A1FAB}"/>
              </a:ext>
            </a:extLst>
          </p:cNvPr>
          <p:cNvSpPr/>
          <p:nvPr/>
        </p:nvSpPr>
        <p:spPr>
          <a:xfrm>
            <a:off x="0" y="1124744"/>
            <a:ext cx="9144000" cy="4308872"/>
          </a:xfrm>
          <a:prstGeom prst="rect">
            <a:avLst/>
          </a:prstGeom>
        </p:spPr>
        <p:txBody>
          <a:bodyPr wrap="square">
            <a:spAutoFit/>
          </a:bodyPr>
          <a:lstStyle/>
          <a:p>
            <a:r>
              <a:rPr lang="ru-RU" sz="3200" dirty="0"/>
              <a:t>Составные элементы планового технического обслуживания и ремонта</a:t>
            </a:r>
          </a:p>
          <a:p>
            <a:r>
              <a:rPr lang="ru-RU" sz="3200" dirty="0"/>
              <a:t>(ПТОР) такие (рис. 1.1):</a:t>
            </a:r>
          </a:p>
          <a:p>
            <a:r>
              <a:rPr lang="ru-RU" sz="3200" dirty="0"/>
              <a:t>- техническое обслуживание;</a:t>
            </a:r>
          </a:p>
          <a:p>
            <a:r>
              <a:rPr lang="ru-RU" sz="3200" dirty="0"/>
              <a:t>- плановые ремонты;</a:t>
            </a:r>
          </a:p>
          <a:p>
            <a:r>
              <a:rPr lang="ru-RU" sz="3200" dirty="0"/>
              <a:t>- плановые проверки;</a:t>
            </a:r>
          </a:p>
          <a:p>
            <a:pPr marL="285750" indent="-285750">
              <a:buFontTx/>
              <a:buChar char="-"/>
            </a:pPr>
            <a:r>
              <a:rPr lang="ru-RU" sz="3200" dirty="0"/>
              <a:t>парк запасных частей;</a:t>
            </a:r>
          </a:p>
          <a:p>
            <a:pPr marL="285750" indent="-285750">
              <a:buFontTx/>
              <a:buChar char="-"/>
            </a:pPr>
            <a:r>
              <a:rPr lang="ru-RU" sz="3200" dirty="0"/>
              <a:t>техническая документация. </a:t>
            </a:r>
            <a:br>
              <a:rPr lang="ru-RU" dirty="0"/>
            </a:br>
            <a:endParaRPr lang="ru-RU" dirty="0"/>
          </a:p>
        </p:txBody>
      </p:sp>
    </p:spTree>
    <p:extLst>
      <p:ext uri="{BB962C8B-B14F-4D97-AF65-F5344CB8AC3E}">
        <p14:creationId xmlns:p14="http://schemas.microsoft.com/office/powerpoint/2010/main" val="25084164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308C777C-0B9F-4FEA-B643-3CC79BFDED0D}"/>
              </a:ext>
            </a:extLst>
          </p:cNvPr>
          <p:cNvPicPr>
            <a:picLocks noChangeAspect="1"/>
          </p:cNvPicPr>
          <p:nvPr/>
        </p:nvPicPr>
        <p:blipFill>
          <a:blip r:embed="rId2"/>
          <a:stretch>
            <a:fillRect/>
          </a:stretch>
        </p:blipFill>
        <p:spPr>
          <a:xfrm>
            <a:off x="0" y="956984"/>
            <a:ext cx="9144000" cy="4944032"/>
          </a:xfrm>
          <a:prstGeom prst="rect">
            <a:avLst/>
          </a:prstGeom>
        </p:spPr>
      </p:pic>
    </p:spTree>
    <p:extLst>
      <p:ext uri="{BB962C8B-B14F-4D97-AF65-F5344CB8AC3E}">
        <p14:creationId xmlns:p14="http://schemas.microsoft.com/office/powerpoint/2010/main" val="30935571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EC4DDBFE-BD24-46D2-B90A-97DB56C9368E}"/>
              </a:ext>
            </a:extLst>
          </p:cNvPr>
          <p:cNvPicPr>
            <a:picLocks noChangeAspect="1"/>
          </p:cNvPicPr>
          <p:nvPr/>
        </p:nvPicPr>
        <p:blipFill>
          <a:blip r:embed="rId2"/>
          <a:stretch>
            <a:fillRect/>
          </a:stretch>
        </p:blipFill>
        <p:spPr>
          <a:xfrm>
            <a:off x="0" y="1608809"/>
            <a:ext cx="9144000" cy="3640382"/>
          </a:xfrm>
          <a:prstGeom prst="rect">
            <a:avLst/>
          </a:prstGeom>
        </p:spPr>
      </p:pic>
    </p:spTree>
    <p:extLst>
      <p:ext uri="{BB962C8B-B14F-4D97-AF65-F5344CB8AC3E}">
        <p14:creationId xmlns:p14="http://schemas.microsoft.com/office/powerpoint/2010/main" val="15760427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393CCC74-B09B-41E8-A4F1-348C47FCEE28}"/>
              </a:ext>
            </a:extLst>
          </p:cNvPr>
          <p:cNvPicPr>
            <a:picLocks noChangeAspect="1"/>
          </p:cNvPicPr>
          <p:nvPr/>
        </p:nvPicPr>
        <p:blipFill>
          <a:blip r:embed="rId2"/>
          <a:stretch>
            <a:fillRect/>
          </a:stretch>
        </p:blipFill>
        <p:spPr>
          <a:xfrm>
            <a:off x="0" y="1529388"/>
            <a:ext cx="9144000" cy="3799224"/>
          </a:xfrm>
          <a:prstGeom prst="rect">
            <a:avLst/>
          </a:prstGeom>
        </p:spPr>
      </p:pic>
    </p:spTree>
    <p:extLst>
      <p:ext uri="{BB962C8B-B14F-4D97-AF65-F5344CB8AC3E}">
        <p14:creationId xmlns:p14="http://schemas.microsoft.com/office/powerpoint/2010/main" val="32791148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E1403310-C69A-4F69-8B81-0ED0BFBC999C}"/>
              </a:ext>
            </a:extLst>
          </p:cNvPr>
          <p:cNvSpPr/>
          <p:nvPr/>
        </p:nvSpPr>
        <p:spPr>
          <a:xfrm>
            <a:off x="0" y="117693"/>
            <a:ext cx="9145016" cy="6740307"/>
          </a:xfrm>
          <a:prstGeom prst="rect">
            <a:avLst/>
          </a:prstGeom>
        </p:spPr>
        <p:txBody>
          <a:bodyPr wrap="square">
            <a:spAutoFit/>
          </a:bodyPr>
          <a:lstStyle/>
          <a:p>
            <a:r>
              <a:rPr lang="ru-RU" sz="2400" dirty="0">
                <a:solidFill>
                  <a:srgbClr val="000000"/>
                </a:solidFill>
                <a:latin typeface="Times New Roman" panose="02020603050405020304" pitchFamily="18" charset="0"/>
              </a:rPr>
              <a:t>Другой составной частью ПТОР являются </a:t>
            </a:r>
            <a:r>
              <a:rPr lang="ru-RU" sz="2400" b="1" dirty="0">
                <a:solidFill>
                  <a:srgbClr val="000000"/>
                </a:solidFill>
                <a:latin typeface="Times New Roman" panose="02020603050405020304" pitchFamily="18" charset="0"/>
              </a:rPr>
              <a:t>плановые ремонты</a:t>
            </a:r>
            <a:r>
              <a:rPr lang="ru-RU" sz="2400" dirty="0">
                <a:solidFill>
                  <a:srgbClr val="000000"/>
                </a:solidFill>
                <a:latin typeface="Times New Roman" panose="02020603050405020304" pitchFamily="18" charset="0"/>
              </a:rPr>
              <a:t>. По</a:t>
            </a:r>
            <a:br>
              <a:rPr lang="ru-RU" sz="2400" dirty="0">
                <a:solidFill>
                  <a:srgbClr val="000000"/>
                </a:solidFill>
                <a:latin typeface="Times New Roman" panose="02020603050405020304" pitchFamily="18" charset="0"/>
              </a:rPr>
            </a:br>
            <a:r>
              <a:rPr lang="ru-RU" sz="2400" dirty="0">
                <a:solidFill>
                  <a:srgbClr val="000000"/>
                </a:solidFill>
                <a:latin typeface="Times New Roman" panose="02020603050405020304" pitchFamily="18" charset="0"/>
              </a:rPr>
              <a:t>содержанию выполненных работ плановые ремонты делятся на три вида:</a:t>
            </a:r>
            <a:br>
              <a:rPr lang="ru-RU" sz="2400" dirty="0">
                <a:solidFill>
                  <a:srgbClr val="000000"/>
                </a:solidFill>
                <a:latin typeface="Times New Roman" panose="02020603050405020304" pitchFamily="18" charset="0"/>
              </a:rPr>
            </a:br>
            <a:r>
              <a:rPr lang="ru-RU" sz="2400" dirty="0">
                <a:solidFill>
                  <a:srgbClr val="000000"/>
                </a:solidFill>
                <a:latin typeface="Times New Roman" panose="02020603050405020304" pitchFamily="18" charset="0"/>
              </a:rPr>
              <a:t>текущий ремонт, промежуточный ремонт и капитальный ремонт.</a:t>
            </a:r>
            <a:br>
              <a:rPr lang="ru-RU" sz="2400" dirty="0">
                <a:solidFill>
                  <a:srgbClr val="000000"/>
                </a:solidFill>
                <a:latin typeface="Times New Roman" panose="02020603050405020304" pitchFamily="18" charset="0"/>
              </a:rPr>
            </a:br>
            <a:r>
              <a:rPr lang="ru-RU" sz="2400" b="1" dirty="0">
                <a:solidFill>
                  <a:srgbClr val="000000"/>
                </a:solidFill>
                <a:latin typeface="Times New Roman" panose="02020603050405020304" pitchFamily="18" charset="0"/>
              </a:rPr>
              <a:t>Текущий ремонт </a:t>
            </a:r>
            <a:r>
              <a:rPr lang="ru-RU" sz="2400" dirty="0">
                <a:solidFill>
                  <a:srgbClr val="000000"/>
                </a:solidFill>
                <a:latin typeface="Times New Roman" panose="02020603050405020304" pitchFamily="18" charset="0"/>
              </a:rPr>
              <a:t>состоит в замене и обновлении отдельных деталей и</a:t>
            </a:r>
            <a:br>
              <a:rPr lang="ru-RU" sz="2400" dirty="0">
                <a:solidFill>
                  <a:srgbClr val="000000"/>
                </a:solidFill>
                <a:latin typeface="Times New Roman" panose="02020603050405020304" pitchFamily="18" charset="0"/>
              </a:rPr>
            </a:br>
            <a:r>
              <a:rPr lang="ru-RU" sz="2400" dirty="0">
                <a:solidFill>
                  <a:srgbClr val="000000"/>
                </a:solidFill>
                <a:latin typeface="Times New Roman" panose="02020603050405020304" pitchFamily="18" charset="0"/>
              </a:rPr>
              <a:t>сборочных единиц и выполняется, как в ремонтный, так и в</a:t>
            </a:r>
            <a:br>
              <a:rPr lang="ru-RU" sz="2400" dirty="0">
                <a:solidFill>
                  <a:srgbClr val="000000"/>
                </a:solidFill>
                <a:latin typeface="Times New Roman" panose="02020603050405020304" pitchFamily="18" charset="0"/>
              </a:rPr>
            </a:br>
            <a:r>
              <a:rPr lang="ru-RU" sz="2400" dirty="0">
                <a:solidFill>
                  <a:srgbClr val="000000"/>
                </a:solidFill>
                <a:latin typeface="Times New Roman" panose="02020603050405020304" pitchFamily="18" charset="0"/>
              </a:rPr>
              <a:t>производственный периоды с целью обеспечения или восстановления</a:t>
            </a:r>
            <a:br>
              <a:rPr lang="ru-RU" sz="2400" dirty="0">
                <a:solidFill>
                  <a:srgbClr val="000000"/>
                </a:solidFill>
                <a:latin typeface="Times New Roman" panose="02020603050405020304" pitchFamily="18" charset="0"/>
              </a:rPr>
            </a:br>
            <a:r>
              <a:rPr lang="ru-RU" sz="2400" dirty="0">
                <a:solidFill>
                  <a:srgbClr val="000000"/>
                </a:solidFill>
                <a:latin typeface="Times New Roman" panose="02020603050405020304" pitchFamily="18" charset="0"/>
              </a:rPr>
              <a:t>работоспособности оборудования. При текущем ремонте выполняются все</a:t>
            </a:r>
            <a:br>
              <a:rPr lang="ru-RU" sz="2400" dirty="0">
                <a:solidFill>
                  <a:srgbClr val="000000"/>
                </a:solidFill>
                <a:latin typeface="Times New Roman" panose="02020603050405020304" pitchFamily="18" charset="0"/>
              </a:rPr>
            </a:br>
            <a:r>
              <a:rPr lang="ru-RU" sz="2400" dirty="0">
                <a:solidFill>
                  <a:srgbClr val="000000"/>
                </a:solidFill>
                <a:latin typeface="Times New Roman" panose="02020603050405020304" pitchFamily="18" charset="0"/>
              </a:rPr>
              <a:t>работы планового осмотра и, кроме этого, ремонтируются наиболее</a:t>
            </a:r>
            <a:br>
              <a:rPr lang="ru-RU" sz="2400" dirty="0">
                <a:solidFill>
                  <a:srgbClr val="000000"/>
                </a:solidFill>
                <a:latin typeface="Times New Roman" panose="02020603050405020304" pitchFamily="18" charset="0"/>
              </a:rPr>
            </a:br>
            <a:r>
              <a:rPr lang="ru-RU" sz="2400" dirty="0">
                <a:solidFill>
                  <a:srgbClr val="000000"/>
                </a:solidFill>
                <a:latin typeface="Times New Roman" panose="02020603050405020304" pitchFamily="18" charset="0"/>
              </a:rPr>
              <a:t>изношенные узлы.</a:t>
            </a:r>
            <a:br>
              <a:rPr lang="ru-RU" sz="2400" dirty="0">
                <a:solidFill>
                  <a:srgbClr val="000000"/>
                </a:solidFill>
                <a:latin typeface="Times New Roman" panose="02020603050405020304" pitchFamily="18" charset="0"/>
              </a:rPr>
            </a:br>
            <a:r>
              <a:rPr lang="ru-RU" sz="2400" dirty="0">
                <a:solidFill>
                  <a:srgbClr val="000000"/>
                </a:solidFill>
                <a:latin typeface="Times New Roman" panose="02020603050405020304" pitchFamily="18" charset="0"/>
              </a:rPr>
              <a:t>Например, на заводе различают:</a:t>
            </a:r>
            <a:br>
              <a:rPr lang="ru-RU" sz="2400" dirty="0">
                <a:solidFill>
                  <a:srgbClr val="000000"/>
                </a:solidFill>
                <a:latin typeface="Times New Roman" panose="02020603050405020304" pitchFamily="18" charset="0"/>
              </a:rPr>
            </a:br>
            <a:r>
              <a:rPr lang="ru-RU" sz="2400" dirty="0">
                <a:solidFill>
                  <a:srgbClr val="000000"/>
                </a:solidFill>
                <a:latin typeface="Times New Roman" panose="02020603050405020304" pitchFamily="18" charset="0"/>
              </a:rPr>
              <a:t>Текущий ремонт №1 – который из года в год повторяется;</a:t>
            </a:r>
            <a:br>
              <a:rPr lang="ru-RU" sz="2400" dirty="0">
                <a:solidFill>
                  <a:srgbClr val="000000"/>
                </a:solidFill>
                <a:latin typeface="Times New Roman" panose="02020603050405020304" pitchFamily="18" charset="0"/>
              </a:rPr>
            </a:br>
            <a:r>
              <a:rPr lang="ru-RU" sz="2400" dirty="0">
                <a:solidFill>
                  <a:srgbClr val="000000"/>
                </a:solidFill>
                <a:latin typeface="Times New Roman" panose="02020603050405020304" pitchFamily="18" charset="0"/>
              </a:rPr>
              <a:t>Текущий ремонт №2 – усиленный;</a:t>
            </a:r>
            <a:br>
              <a:rPr lang="ru-RU" sz="2400" dirty="0">
                <a:solidFill>
                  <a:srgbClr val="000000"/>
                </a:solidFill>
                <a:latin typeface="Times New Roman" panose="02020603050405020304" pitchFamily="18" charset="0"/>
              </a:rPr>
            </a:br>
            <a:r>
              <a:rPr lang="ru-RU" sz="2400" dirty="0">
                <a:solidFill>
                  <a:srgbClr val="000000"/>
                </a:solidFill>
                <a:latin typeface="Times New Roman" panose="02020603050405020304" pitchFamily="18" charset="0"/>
              </a:rPr>
              <a:t>Текущий ремонт №3 – углубленный</a:t>
            </a:r>
            <a:r>
              <a:rPr lang="ru-RU" sz="2400" dirty="0"/>
              <a:t> </a:t>
            </a:r>
            <a:br>
              <a:rPr lang="ru-RU" sz="2400" dirty="0"/>
            </a:br>
            <a:endParaRPr lang="ru-RU" sz="2400" dirty="0"/>
          </a:p>
        </p:txBody>
      </p:sp>
    </p:spTree>
    <p:extLst>
      <p:ext uri="{BB962C8B-B14F-4D97-AF65-F5344CB8AC3E}">
        <p14:creationId xmlns:p14="http://schemas.microsoft.com/office/powerpoint/2010/main" val="6541103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20022141-E4B6-4409-9E2D-A8DDF025312A}"/>
              </a:ext>
            </a:extLst>
          </p:cNvPr>
          <p:cNvPicPr>
            <a:picLocks noChangeAspect="1"/>
          </p:cNvPicPr>
          <p:nvPr/>
        </p:nvPicPr>
        <p:blipFill>
          <a:blip r:embed="rId2"/>
          <a:stretch>
            <a:fillRect/>
          </a:stretch>
        </p:blipFill>
        <p:spPr>
          <a:xfrm>
            <a:off x="0" y="1106714"/>
            <a:ext cx="9144000" cy="4644571"/>
          </a:xfrm>
          <a:prstGeom prst="rect">
            <a:avLst/>
          </a:prstGeom>
        </p:spPr>
      </p:pic>
    </p:spTree>
    <p:extLst>
      <p:ext uri="{BB962C8B-B14F-4D97-AF65-F5344CB8AC3E}">
        <p14:creationId xmlns:p14="http://schemas.microsoft.com/office/powerpoint/2010/main" val="5485354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E32893AB-7147-40C6-8F7B-63AB406E2460}"/>
              </a:ext>
            </a:extLst>
          </p:cNvPr>
          <p:cNvPicPr>
            <a:picLocks noChangeAspect="1"/>
          </p:cNvPicPr>
          <p:nvPr/>
        </p:nvPicPr>
        <p:blipFill>
          <a:blip r:embed="rId2"/>
          <a:stretch>
            <a:fillRect/>
          </a:stretch>
        </p:blipFill>
        <p:spPr>
          <a:xfrm>
            <a:off x="0" y="1041635"/>
            <a:ext cx="9144000" cy="4774729"/>
          </a:xfrm>
          <a:prstGeom prst="rect">
            <a:avLst/>
          </a:prstGeom>
        </p:spPr>
      </p:pic>
    </p:spTree>
    <p:extLst>
      <p:ext uri="{BB962C8B-B14F-4D97-AF65-F5344CB8AC3E}">
        <p14:creationId xmlns:p14="http://schemas.microsoft.com/office/powerpoint/2010/main" val="1650776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E19A4FE0-986B-4494-9F03-F7FF7DB76D93}"/>
              </a:ext>
            </a:extLst>
          </p:cNvPr>
          <p:cNvPicPr>
            <a:picLocks noChangeAspect="1"/>
          </p:cNvPicPr>
          <p:nvPr/>
        </p:nvPicPr>
        <p:blipFill>
          <a:blip r:embed="rId2"/>
          <a:stretch>
            <a:fillRect/>
          </a:stretch>
        </p:blipFill>
        <p:spPr>
          <a:xfrm>
            <a:off x="0" y="1334513"/>
            <a:ext cx="9144000" cy="4188973"/>
          </a:xfrm>
          <a:prstGeom prst="rect">
            <a:avLst/>
          </a:prstGeom>
        </p:spPr>
      </p:pic>
    </p:spTree>
    <p:extLst>
      <p:ext uri="{BB962C8B-B14F-4D97-AF65-F5344CB8AC3E}">
        <p14:creationId xmlns:p14="http://schemas.microsoft.com/office/powerpoint/2010/main" val="41358449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CF4686EF-CD52-47D0-B7A3-DE8C42B082F6}"/>
              </a:ext>
            </a:extLst>
          </p:cNvPr>
          <p:cNvSpPr/>
          <p:nvPr/>
        </p:nvSpPr>
        <p:spPr>
          <a:xfrm>
            <a:off x="0" y="0"/>
            <a:ext cx="9144000" cy="7571303"/>
          </a:xfrm>
          <a:prstGeom prst="rect">
            <a:avLst/>
          </a:prstGeom>
        </p:spPr>
        <p:txBody>
          <a:bodyPr wrap="square">
            <a:spAutoFit/>
          </a:bodyPr>
          <a:lstStyle/>
          <a:p>
            <a:r>
              <a:rPr lang="ru-RU" dirty="0">
                <a:solidFill>
                  <a:srgbClr val="000000"/>
                </a:solidFill>
                <a:latin typeface="Times New Roman" panose="02020603050405020304" pitchFamily="18" charset="0"/>
              </a:rPr>
              <a:t>Составной частью плановых проверок является диагностика</a:t>
            </a:r>
            <a:br>
              <a:rPr lang="ru-RU" dirty="0">
                <a:solidFill>
                  <a:srgbClr val="000000"/>
                </a:solidFill>
                <a:latin typeface="Times New Roman" panose="02020603050405020304" pitchFamily="18" charset="0"/>
              </a:rPr>
            </a:br>
            <a:r>
              <a:rPr lang="ru-RU" dirty="0">
                <a:solidFill>
                  <a:srgbClr val="000000"/>
                </a:solidFill>
                <a:latin typeface="Times New Roman" panose="02020603050405020304" pitchFamily="18" charset="0"/>
              </a:rPr>
              <a:t>технического состояния оборудования, которое занимает значительное место</a:t>
            </a:r>
            <a:br>
              <a:rPr lang="ru-RU" dirty="0">
                <a:solidFill>
                  <a:srgbClr val="000000"/>
                </a:solidFill>
                <a:latin typeface="Times New Roman" panose="02020603050405020304" pitchFamily="18" charset="0"/>
              </a:rPr>
            </a:br>
            <a:r>
              <a:rPr lang="ru-RU" dirty="0">
                <a:solidFill>
                  <a:srgbClr val="000000"/>
                </a:solidFill>
                <a:latin typeface="Times New Roman" panose="02020603050405020304" pitchFamily="18" charset="0"/>
              </a:rPr>
              <a:t>в обеспечении надежности и работоспособности оборудования, благодаря</a:t>
            </a:r>
            <a:br>
              <a:rPr lang="ru-RU" dirty="0">
                <a:solidFill>
                  <a:srgbClr val="000000"/>
                </a:solidFill>
                <a:latin typeface="Times New Roman" panose="02020603050405020304" pitchFamily="18" charset="0"/>
              </a:rPr>
            </a:br>
            <a:r>
              <a:rPr lang="ru-RU" dirty="0">
                <a:solidFill>
                  <a:srgbClr val="000000"/>
                </a:solidFill>
                <a:latin typeface="Times New Roman" panose="02020603050405020304" pitchFamily="18" charset="0"/>
              </a:rPr>
              <a:t>своевременному выявлению износов и других дефектов узлов и соединений</a:t>
            </a:r>
            <a:br>
              <a:rPr lang="ru-RU" dirty="0">
                <a:solidFill>
                  <a:srgbClr val="000000"/>
                </a:solidFill>
                <a:latin typeface="Times New Roman" panose="02020603050405020304" pitchFamily="18" charset="0"/>
              </a:rPr>
            </a:br>
            <a:r>
              <a:rPr lang="ru-RU" dirty="0">
                <a:solidFill>
                  <a:srgbClr val="000000"/>
                </a:solidFill>
                <a:latin typeface="Times New Roman" panose="02020603050405020304" pitchFamily="18" charset="0"/>
              </a:rPr>
              <a:t>без их предварительной разборки.</a:t>
            </a:r>
            <a:br>
              <a:rPr lang="ru-RU" dirty="0">
                <a:solidFill>
                  <a:srgbClr val="000000"/>
                </a:solidFill>
                <a:latin typeface="Times New Roman" panose="02020603050405020304" pitchFamily="18" charset="0"/>
              </a:rPr>
            </a:br>
            <a:r>
              <a:rPr lang="ru-RU" dirty="0">
                <a:solidFill>
                  <a:srgbClr val="000000"/>
                </a:solidFill>
                <a:latin typeface="Times New Roman" panose="02020603050405020304" pitchFamily="18" charset="0"/>
              </a:rPr>
              <a:t>Четвертый элемент системы ПТОР – </a:t>
            </a:r>
            <a:r>
              <a:rPr lang="ru-RU" b="1" dirty="0">
                <a:solidFill>
                  <a:srgbClr val="000000"/>
                </a:solidFill>
                <a:latin typeface="Times New Roman" panose="02020603050405020304" pitchFamily="18" charset="0"/>
              </a:rPr>
              <a:t>парк запасных частей</a:t>
            </a:r>
            <a:r>
              <a:rPr lang="ru-RU" dirty="0">
                <a:solidFill>
                  <a:srgbClr val="000000"/>
                </a:solidFill>
                <a:latin typeface="Times New Roman" panose="02020603050405020304" pitchFamily="18" charset="0"/>
              </a:rPr>
              <a:t>, который</a:t>
            </a:r>
            <a:br>
              <a:rPr lang="ru-RU" dirty="0">
                <a:solidFill>
                  <a:srgbClr val="000000"/>
                </a:solidFill>
                <a:latin typeface="Times New Roman" panose="02020603050405020304" pitchFamily="18" charset="0"/>
              </a:rPr>
            </a:br>
            <a:r>
              <a:rPr lang="ru-RU" dirty="0">
                <a:solidFill>
                  <a:srgbClr val="000000"/>
                </a:solidFill>
                <a:latin typeface="Times New Roman" panose="02020603050405020304" pitchFamily="18" charset="0"/>
              </a:rPr>
              <a:t>создается для бесперебойного выполнения ремонтных работ и технического</a:t>
            </a:r>
            <a:br>
              <a:rPr lang="ru-RU" dirty="0">
                <a:solidFill>
                  <a:srgbClr val="000000"/>
                </a:solidFill>
                <a:latin typeface="Times New Roman" panose="02020603050405020304" pitchFamily="18" charset="0"/>
              </a:rPr>
            </a:br>
            <a:r>
              <a:rPr lang="ru-RU" dirty="0">
                <a:solidFill>
                  <a:srgbClr val="000000"/>
                </a:solidFill>
                <a:latin typeface="Times New Roman" panose="02020603050405020304" pitchFamily="18" charset="0"/>
              </a:rPr>
              <a:t>обслуживания. Последний элемент системы ПТОР – </a:t>
            </a:r>
            <a:r>
              <a:rPr lang="ru-RU" b="1" dirty="0">
                <a:solidFill>
                  <a:srgbClr val="000000"/>
                </a:solidFill>
                <a:latin typeface="Times New Roman" panose="02020603050405020304" pitchFamily="18" charset="0"/>
              </a:rPr>
              <a:t>техническая документация</a:t>
            </a:r>
            <a:r>
              <a:rPr lang="ru-RU" dirty="0">
                <a:solidFill>
                  <a:srgbClr val="000000"/>
                </a:solidFill>
                <a:latin typeface="Times New Roman" panose="02020603050405020304" pitchFamily="18" charset="0"/>
              </a:rPr>
              <a:t>. На</a:t>
            </a:r>
            <a:br>
              <a:rPr lang="ru-RU" dirty="0">
                <a:solidFill>
                  <a:srgbClr val="000000"/>
                </a:solidFill>
                <a:latin typeface="Times New Roman" panose="02020603050405020304" pitchFamily="18" charset="0"/>
              </a:rPr>
            </a:br>
            <a:r>
              <a:rPr lang="ru-RU" dirty="0">
                <a:solidFill>
                  <a:srgbClr val="000000"/>
                </a:solidFill>
                <a:latin typeface="Times New Roman" panose="02020603050405020304" pitchFamily="18" charset="0"/>
              </a:rPr>
              <a:t>предприятиях промышленности ведется следующая техническая</a:t>
            </a:r>
            <a:br>
              <a:rPr lang="ru-RU" dirty="0">
                <a:solidFill>
                  <a:srgbClr val="000000"/>
                </a:solidFill>
                <a:latin typeface="Times New Roman" panose="02020603050405020304" pitchFamily="18" charset="0"/>
              </a:rPr>
            </a:br>
            <a:r>
              <a:rPr lang="ru-RU" dirty="0">
                <a:solidFill>
                  <a:srgbClr val="000000"/>
                </a:solidFill>
                <a:latin typeface="Times New Roman" panose="02020603050405020304" pitchFamily="18" charset="0"/>
              </a:rPr>
              <a:t>документация:</a:t>
            </a:r>
            <a:br>
              <a:rPr lang="ru-RU" dirty="0">
                <a:solidFill>
                  <a:srgbClr val="000000"/>
                </a:solidFill>
                <a:latin typeface="Times New Roman" panose="02020603050405020304" pitchFamily="18" charset="0"/>
              </a:rPr>
            </a:br>
            <a:r>
              <a:rPr lang="ru-RU" dirty="0">
                <a:solidFill>
                  <a:srgbClr val="000000"/>
                </a:solidFill>
                <a:latin typeface="Times New Roman" panose="02020603050405020304" pitchFamily="18" charset="0"/>
              </a:rPr>
              <a:t>- паспорт на оборудование;</a:t>
            </a:r>
            <a:br>
              <a:rPr lang="ru-RU" dirty="0">
                <a:solidFill>
                  <a:srgbClr val="000000"/>
                </a:solidFill>
                <a:latin typeface="Times New Roman" panose="02020603050405020304" pitchFamily="18" charset="0"/>
              </a:rPr>
            </a:br>
            <a:r>
              <a:rPr lang="ru-RU" dirty="0">
                <a:solidFill>
                  <a:srgbClr val="000000"/>
                </a:solidFill>
                <a:latin typeface="Times New Roman" panose="02020603050405020304" pitchFamily="18" charset="0"/>
              </a:rPr>
              <a:t>- журналы технического осмотра;</a:t>
            </a:r>
            <a:br>
              <a:rPr lang="ru-RU" dirty="0">
                <a:solidFill>
                  <a:srgbClr val="000000"/>
                </a:solidFill>
                <a:latin typeface="Times New Roman" panose="02020603050405020304" pitchFamily="18" charset="0"/>
              </a:rPr>
            </a:br>
            <a:r>
              <a:rPr lang="ru-RU" dirty="0">
                <a:solidFill>
                  <a:srgbClr val="000000"/>
                </a:solidFill>
                <a:latin typeface="Times New Roman" panose="02020603050405020304" pitchFamily="18" charset="0"/>
              </a:rPr>
              <a:t>- календарный план ремонта оборудования;</a:t>
            </a:r>
            <a:br>
              <a:rPr lang="ru-RU" dirty="0">
                <a:solidFill>
                  <a:srgbClr val="000000"/>
                </a:solidFill>
                <a:latin typeface="Times New Roman" panose="02020603050405020304" pitchFamily="18" charset="0"/>
              </a:rPr>
            </a:br>
            <a:r>
              <a:rPr lang="ru-RU" dirty="0">
                <a:solidFill>
                  <a:srgbClr val="000000"/>
                </a:solidFill>
                <a:latin typeface="Times New Roman" panose="02020603050405020304" pitchFamily="18" charset="0"/>
              </a:rPr>
              <a:t>- план ремонта оборудования по бригадам;</a:t>
            </a:r>
            <a:br>
              <a:rPr lang="ru-RU" dirty="0">
                <a:solidFill>
                  <a:srgbClr val="000000"/>
                </a:solidFill>
                <a:latin typeface="Times New Roman" panose="02020603050405020304" pitchFamily="18" charset="0"/>
              </a:rPr>
            </a:br>
            <a:r>
              <a:rPr lang="ru-RU" dirty="0">
                <a:solidFill>
                  <a:srgbClr val="000000"/>
                </a:solidFill>
                <a:latin typeface="Times New Roman" panose="02020603050405020304" pitchFamily="18" charset="0"/>
              </a:rPr>
              <a:t>- линейный и сетевой графики ремонта оборудования;</a:t>
            </a:r>
            <a:br>
              <a:rPr lang="ru-RU" dirty="0">
                <a:solidFill>
                  <a:srgbClr val="000000"/>
                </a:solidFill>
                <a:latin typeface="Times New Roman" panose="02020603050405020304" pitchFamily="18" charset="0"/>
              </a:rPr>
            </a:br>
            <a:r>
              <a:rPr lang="ru-RU" dirty="0">
                <a:solidFill>
                  <a:srgbClr val="000000"/>
                </a:solidFill>
                <a:latin typeface="Times New Roman" panose="02020603050405020304" pitchFamily="18" charset="0"/>
              </a:rPr>
              <a:t>- график плановых технических ремонтов и обслуживаний</a:t>
            </a:r>
            <a:br>
              <a:rPr lang="ru-RU" dirty="0">
                <a:solidFill>
                  <a:srgbClr val="000000"/>
                </a:solidFill>
                <a:latin typeface="Times New Roman" panose="02020603050405020304" pitchFamily="18" charset="0"/>
              </a:rPr>
            </a:br>
            <a:r>
              <a:rPr lang="ru-RU" dirty="0">
                <a:solidFill>
                  <a:srgbClr val="000000"/>
                </a:solidFill>
                <a:latin typeface="Times New Roman" panose="02020603050405020304" pitchFamily="18" charset="0"/>
              </a:rPr>
              <a:t>оборудования в производственный период;</a:t>
            </a:r>
            <a:br>
              <a:rPr lang="ru-RU" dirty="0">
                <a:solidFill>
                  <a:srgbClr val="000000"/>
                </a:solidFill>
                <a:latin typeface="Times New Roman" panose="02020603050405020304" pitchFamily="18" charset="0"/>
              </a:rPr>
            </a:br>
            <a:r>
              <a:rPr lang="ru-RU" dirty="0">
                <a:solidFill>
                  <a:srgbClr val="000000"/>
                </a:solidFill>
                <a:latin typeface="Times New Roman" panose="02020603050405020304" pitchFamily="18" charset="0"/>
              </a:rPr>
              <a:t>- журнал учета дефектов оборудования, акты дефектов;</a:t>
            </a:r>
            <a:br>
              <a:rPr lang="ru-RU" dirty="0">
                <a:solidFill>
                  <a:srgbClr val="000000"/>
                </a:solidFill>
                <a:latin typeface="Times New Roman" panose="02020603050405020304" pitchFamily="18" charset="0"/>
              </a:rPr>
            </a:br>
            <a:r>
              <a:rPr lang="ru-RU" dirty="0">
                <a:solidFill>
                  <a:srgbClr val="000000"/>
                </a:solidFill>
                <a:latin typeface="Times New Roman" panose="02020603050405020304" pitchFamily="18" charset="0"/>
              </a:rPr>
              <a:t>- смета затрат на ремонт оборудования;</a:t>
            </a:r>
            <a:r>
              <a:rPr lang="ru-RU" dirty="0"/>
              <a:t> </a:t>
            </a:r>
          </a:p>
          <a:p>
            <a:r>
              <a:rPr lang="ru-RU" dirty="0"/>
              <a:t>- план поставки материала на ремонт и эксплуатацию;</a:t>
            </a:r>
            <a:br>
              <a:rPr lang="ru-RU" dirty="0"/>
            </a:br>
            <a:r>
              <a:rPr lang="ru-RU" dirty="0"/>
              <a:t>- план поставки запасных частей;</a:t>
            </a:r>
            <a:br>
              <a:rPr lang="ru-RU" dirty="0"/>
            </a:br>
            <a:r>
              <a:rPr lang="ru-RU" dirty="0"/>
              <a:t>- журнал сдачи и принятия оборудования, соответственно, в ремонт и</a:t>
            </a:r>
            <a:br>
              <a:rPr lang="ru-RU" dirty="0"/>
            </a:br>
            <a:r>
              <a:rPr lang="ru-RU" dirty="0"/>
              <a:t>с ремонта; - альбом рабочих чертежей запасных частей и др.</a:t>
            </a:r>
            <a:br>
              <a:rPr lang="ru-RU" dirty="0"/>
            </a:br>
            <a:r>
              <a:rPr lang="ru-RU" dirty="0"/>
              <a:t>Качественное ведение технической документации – условие успешного</a:t>
            </a:r>
            <a:br>
              <a:rPr lang="ru-RU" dirty="0"/>
            </a:br>
            <a:r>
              <a:rPr lang="ru-RU" dirty="0"/>
              <a:t>осуществления ремонтных работ согласно с системой ПТОР. </a:t>
            </a:r>
            <a:br>
              <a:rPr lang="ru-RU" dirty="0"/>
            </a:br>
            <a:br>
              <a:rPr lang="ru-RU" dirty="0"/>
            </a:br>
            <a:endParaRPr lang="ru-RU" dirty="0"/>
          </a:p>
        </p:txBody>
      </p:sp>
    </p:spTree>
    <p:extLst>
      <p:ext uri="{BB962C8B-B14F-4D97-AF65-F5344CB8AC3E}">
        <p14:creationId xmlns:p14="http://schemas.microsoft.com/office/powerpoint/2010/main" val="22919794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B9C34A13-D3C2-490C-99A9-1B93A3F7000D}"/>
              </a:ext>
            </a:extLst>
          </p:cNvPr>
          <p:cNvPicPr>
            <a:picLocks noChangeAspect="1"/>
          </p:cNvPicPr>
          <p:nvPr/>
        </p:nvPicPr>
        <p:blipFill>
          <a:blip r:embed="rId2"/>
          <a:stretch>
            <a:fillRect/>
          </a:stretch>
        </p:blipFill>
        <p:spPr>
          <a:xfrm>
            <a:off x="0" y="365543"/>
            <a:ext cx="9144000" cy="6126913"/>
          </a:xfrm>
          <a:prstGeom prst="rect">
            <a:avLst/>
          </a:prstGeom>
        </p:spPr>
      </p:pic>
    </p:spTree>
    <p:extLst>
      <p:ext uri="{BB962C8B-B14F-4D97-AF65-F5344CB8AC3E}">
        <p14:creationId xmlns:p14="http://schemas.microsoft.com/office/powerpoint/2010/main" val="25814790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8243A8CC-1F15-40B5-B019-3A56633A2E81}"/>
              </a:ext>
            </a:extLst>
          </p:cNvPr>
          <p:cNvPicPr>
            <a:picLocks noChangeAspect="1"/>
          </p:cNvPicPr>
          <p:nvPr/>
        </p:nvPicPr>
        <p:blipFill>
          <a:blip r:embed="rId2"/>
          <a:stretch>
            <a:fillRect/>
          </a:stretch>
        </p:blipFill>
        <p:spPr>
          <a:xfrm>
            <a:off x="0" y="1329887"/>
            <a:ext cx="9144000" cy="4198226"/>
          </a:xfrm>
          <a:prstGeom prst="rect">
            <a:avLst/>
          </a:prstGeom>
        </p:spPr>
      </p:pic>
    </p:spTree>
    <p:extLst>
      <p:ext uri="{BB962C8B-B14F-4D97-AF65-F5344CB8AC3E}">
        <p14:creationId xmlns:p14="http://schemas.microsoft.com/office/powerpoint/2010/main" val="14119473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93FC30FA-88D2-4BA0-943D-C0ED3C4FE61A}"/>
              </a:ext>
            </a:extLst>
          </p:cNvPr>
          <p:cNvPicPr>
            <a:picLocks noChangeAspect="1"/>
          </p:cNvPicPr>
          <p:nvPr/>
        </p:nvPicPr>
        <p:blipFill>
          <a:blip r:embed="rId2"/>
          <a:stretch>
            <a:fillRect/>
          </a:stretch>
        </p:blipFill>
        <p:spPr>
          <a:xfrm>
            <a:off x="0" y="1891809"/>
            <a:ext cx="9144000" cy="3074381"/>
          </a:xfrm>
          <a:prstGeom prst="rect">
            <a:avLst/>
          </a:prstGeom>
        </p:spPr>
      </p:pic>
    </p:spTree>
    <p:extLst>
      <p:ext uri="{BB962C8B-B14F-4D97-AF65-F5344CB8AC3E}">
        <p14:creationId xmlns:p14="http://schemas.microsoft.com/office/powerpoint/2010/main" val="31805431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E0D5CEDE-A6D9-4799-B34E-6EC34AD12177}"/>
              </a:ext>
            </a:extLst>
          </p:cNvPr>
          <p:cNvPicPr>
            <a:picLocks noChangeAspect="1"/>
          </p:cNvPicPr>
          <p:nvPr/>
        </p:nvPicPr>
        <p:blipFill>
          <a:blip r:embed="rId2"/>
          <a:stretch>
            <a:fillRect/>
          </a:stretch>
        </p:blipFill>
        <p:spPr>
          <a:xfrm>
            <a:off x="0" y="1173609"/>
            <a:ext cx="9144000" cy="4510782"/>
          </a:xfrm>
          <a:prstGeom prst="rect">
            <a:avLst/>
          </a:prstGeom>
        </p:spPr>
      </p:pic>
    </p:spTree>
    <p:extLst>
      <p:ext uri="{BB962C8B-B14F-4D97-AF65-F5344CB8AC3E}">
        <p14:creationId xmlns:p14="http://schemas.microsoft.com/office/powerpoint/2010/main" val="39565495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06A06421-129A-4EA0-9C5D-92B5FCFEC05F}"/>
              </a:ext>
            </a:extLst>
          </p:cNvPr>
          <p:cNvPicPr>
            <a:picLocks noChangeAspect="1"/>
          </p:cNvPicPr>
          <p:nvPr/>
        </p:nvPicPr>
        <p:blipFill>
          <a:blip r:embed="rId2"/>
          <a:stretch>
            <a:fillRect/>
          </a:stretch>
        </p:blipFill>
        <p:spPr>
          <a:xfrm>
            <a:off x="0" y="560410"/>
            <a:ext cx="9144000" cy="5737180"/>
          </a:xfrm>
          <a:prstGeom prst="rect">
            <a:avLst/>
          </a:prstGeom>
        </p:spPr>
      </p:pic>
    </p:spTree>
    <p:extLst>
      <p:ext uri="{BB962C8B-B14F-4D97-AF65-F5344CB8AC3E}">
        <p14:creationId xmlns:p14="http://schemas.microsoft.com/office/powerpoint/2010/main" val="5770591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A5E506E0-9BA2-46CC-947C-F42B1BAC64DC}"/>
              </a:ext>
            </a:extLst>
          </p:cNvPr>
          <p:cNvPicPr>
            <a:picLocks noChangeAspect="1"/>
          </p:cNvPicPr>
          <p:nvPr/>
        </p:nvPicPr>
        <p:blipFill>
          <a:blip r:embed="rId2"/>
          <a:stretch>
            <a:fillRect/>
          </a:stretch>
        </p:blipFill>
        <p:spPr>
          <a:xfrm>
            <a:off x="0" y="1792379"/>
            <a:ext cx="9144000" cy="3273242"/>
          </a:xfrm>
          <a:prstGeom prst="rect">
            <a:avLst/>
          </a:prstGeom>
        </p:spPr>
      </p:pic>
    </p:spTree>
    <p:extLst>
      <p:ext uri="{BB962C8B-B14F-4D97-AF65-F5344CB8AC3E}">
        <p14:creationId xmlns:p14="http://schemas.microsoft.com/office/powerpoint/2010/main" val="13661153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DE896D5A-834D-4881-9C35-F3DDD6EAC96C}"/>
              </a:ext>
            </a:extLst>
          </p:cNvPr>
          <p:cNvPicPr>
            <a:picLocks noChangeAspect="1"/>
          </p:cNvPicPr>
          <p:nvPr/>
        </p:nvPicPr>
        <p:blipFill>
          <a:blip r:embed="rId2"/>
          <a:stretch>
            <a:fillRect/>
          </a:stretch>
        </p:blipFill>
        <p:spPr>
          <a:xfrm>
            <a:off x="0" y="619919"/>
            <a:ext cx="9144000" cy="5618161"/>
          </a:xfrm>
          <a:prstGeom prst="rect">
            <a:avLst/>
          </a:prstGeom>
        </p:spPr>
      </p:pic>
    </p:spTree>
    <p:extLst>
      <p:ext uri="{BB962C8B-B14F-4D97-AF65-F5344CB8AC3E}">
        <p14:creationId xmlns:p14="http://schemas.microsoft.com/office/powerpoint/2010/main" val="38720512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4D2E33B1-8CB5-41E3-AA1F-D3F616EBED3F}"/>
              </a:ext>
            </a:extLst>
          </p:cNvPr>
          <p:cNvPicPr>
            <a:picLocks noChangeAspect="1"/>
          </p:cNvPicPr>
          <p:nvPr/>
        </p:nvPicPr>
        <p:blipFill>
          <a:blip r:embed="rId2"/>
          <a:stretch>
            <a:fillRect/>
          </a:stretch>
        </p:blipFill>
        <p:spPr>
          <a:xfrm>
            <a:off x="0" y="992208"/>
            <a:ext cx="9144000" cy="4873583"/>
          </a:xfrm>
          <a:prstGeom prst="rect">
            <a:avLst/>
          </a:prstGeom>
        </p:spPr>
      </p:pic>
    </p:spTree>
    <p:extLst>
      <p:ext uri="{BB962C8B-B14F-4D97-AF65-F5344CB8AC3E}">
        <p14:creationId xmlns:p14="http://schemas.microsoft.com/office/powerpoint/2010/main" val="19406080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3B698806-E6B6-477C-94B0-B9B05ECF89F7}"/>
              </a:ext>
            </a:extLst>
          </p:cNvPr>
          <p:cNvPicPr>
            <a:picLocks noChangeAspect="1"/>
          </p:cNvPicPr>
          <p:nvPr/>
        </p:nvPicPr>
        <p:blipFill>
          <a:blip r:embed="rId2"/>
          <a:stretch>
            <a:fillRect/>
          </a:stretch>
        </p:blipFill>
        <p:spPr>
          <a:xfrm>
            <a:off x="0" y="2080967"/>
            <a:ext cx="9144000" cy="2696066"/>
          </a:xfrm>
          <a:prstGeom prst="rect">
            <a:avLst/>
          </a:prstGeom>
        </p:spPr>
      </p:pic>
    </p:spTree>
    <p:extLst>
      <p:ext uri="{BB962C8B-B14F-4D97-AF65-F5344CB8AC3E}">
        <p14:creationId xmlns:p14="http://schemas.microsoft.com/office/powerpoint/2010/main" val="4693824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0175672D-D66A-4551-901F-19E89C0A3D3C}"/>
              </a:ext>
            </a:extLst>
          </p:cNvPr>
          <p:cNvPicPr>
            <a:picLocks noChangeAspect="1"/>
          </p:cNvPicPr>
          <p:nvPr/>
        </p:nvPicPr>
        <p:blipFill>
          <a:blip r:embed="rId2"/>
          <a:stretch>
            <a:fillRect/>
          </a:stretch>
        </p:blipFill>
        <p:spPr>
          <a:xfrm>
            <a:off x="0" y="1378527"/>
            <a:ext cx="9144000" cy="4100945"/>
          </a:xfrm>
          <a:prstGeom prst="rect">
            <a:avLst/>
          </a:prstGeom>
        </p:spPr>
      </p:pic>
    </p:spTree>
    <p:extLst>
      <p:ext uri="{BB962C8B-B14F-4D97-AF65-F5344CB8AC3E}">
        <p14:creationId xmlns:p14="http://schemas.microsoft.com/office/powerpoint/2010/main" val="3320665606"/>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217</TotalTime>
  <Words>2413</Words>
  <Application>Microsoft Office PowerPoint</Application>
  <PresentationFormat>Экран (4:3)</PresentationFormat>
  <Paragraphs>110</Paragraphs>
  <Slides>42</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42</vt:i4>
      </vt:variant>
    </vt:vector>
  </HeadingPairs>
  <TitlesOfParts>
    <vt:vector size="47" baseType="lpstr">
      <vt:lpstr>Arial</vt:lpstr>
      <vt:lpstr>Calibri</vt:lpstr>
      <vt:lpstr>Symbol</vt:lpstr>
      <vt:lpstr>Times New Roman</vt:lpstr>
      <vt:lpstr>Тема Office</vt:lpstr>
      <vt:lpstr>Контроль и диагностирование технического состояния систем управления</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Диагностирование технического состояния систем программного управления</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Системы планового технического обслуживания и ремонта оборудования</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ДДИАГНОСТИКА И УПРАВЛЕНИЕ ТЕХНОЛОГИЧЕСКИМИ СИСТЕМАМИ </dc:title>
  <dc:creator>-</dc:creator>
  <cp:lastModifiedBy>User</cp:lastModifiedBy>
  <cp:revision>52</cp:revision>
  <dcterms:created xsi:type="dcterms:W3CDTF">2016-08-30T11:40:16Z</dcterms:created>
  <dcterms:modified xsi:type="dcterms:W3CDTF">2024-12-09T14:04:54Z</dcterms:modified>
</cp:coreProperties>
</file>