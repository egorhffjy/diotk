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66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9" r:id="rId42"/>
    <p:sldId id="298" r:id="rId43"/>
    <p:sldId id="297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D9CDE-5190-4180-BB54-144D64DEC189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00EEC-E090-4E4F-92FF-04AA0EDF9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64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500EEC-E090-4E4F-92FF-04AA0EDF9955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156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500EEC-E090-4E4F-92FF-04AA0EDF9955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71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233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71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58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05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28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568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502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29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00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78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13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4476C-1AB6-4AF5-8215-6047CCFEE686}" type="datetimeFigureOut">
              <a:rPr lang="ru-RU" smtClean="0"/>
              <a:t>28.09.2016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E3D24-FA5B-4ED0-A595-3137440C8F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13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МИКРОСКОПИЧЕСКИЕ </a:t>
            </a:r>
            <a:r>
              <a:rPr lang="ru-RU" b="1" dirty="0"/>
              <a:t>МЕТОДЫ АНАЛИЗА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476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Определение микроскопии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широком смысле слова </a:t>
            </a:r>
            <a:r>
              <a:rPr lang="ru-RU" i="1" dirty="0"/>
              <a:t>микроскопия</a:t>
            </a:r>
            <a:r>
              <a:rPr lang="ru-RU" dirty="0"/>
              <a:t> означает </a:t>
            </a:r>
            <a:r>
              <a:rPr lang="ru-RU" i="1" dirty="0"/>
              <a:t>видение малых</a:t>
            </a:r>
            <a:br>
              <a:rPr lang="ru-RU" i="1" dirty="0"/>
            </a:br>
            <a:r>
              <a:rPr lang="ru-RU" i="1" dirty="0"/>
              <a:t>предметов</a:t>
            </a:r>
            <a:r>
              <a:rPr lang="ru-RU" dirty="0"/>
              <a:t>,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узком смысле – видение малых предметов с </a:t>
            </a:r>
            <a:r>
              <a:rPr lang="ru-RU" dirty="0" smtClean="0"/>
              <a:t>помощью «</a:t>
            </a:r>
            <a:r>
              <a:rPr lang="ru-RU" dirty="0"/>
              <a:t>микроскопа» – оптического прибора, состоящего из системы линз (</a:t>
            </a:r>
            <a:r>
              <a:rPr lang="ru-RU" dirty="0" smtClean="0"/>
              <a:t>по меньшей </a:t>
            </a:r>
            <a:r>
              <a:rPr lang="ru-RU" dirty="0"/>
              <a:t>мере, двух).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45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Области микроскопии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Микроскопия подразделяется на три большие области: </a:t>
            </a:r>
          </a:p>
          <a:p>
            <a:r>
              <a:rPr lang="ru-RU" dirty="0"/>
              <a:t>- </a:t>
            </a:r>
            <a:r>
              <a:rPr lang="ru-RU" i="1" dirty="0"/>
              <a:t>оптическая,</a:t>
            </a:r>
            <a:endParaRPr lang="ru-RU" dirty="0"/>
          </a:p>
          <a:p>
            <a:r>
              <a:rPr lang="ru-RU" i="1" dirty="0"/>
              <a:t>- электронная</a:t>
            </a:r>
            <a:endParaRPr lang="ru-RU" dirty="0"/>
          </a:p>
          <a:p>
            <a:r>
              <a:rPr lang="ru-RU" i="1" dirty="0"/>
              <a:t>- сканирующая зондовая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061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Особенности видов микроскопии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62500" lnSpcReduction="20000"/>
          </a:bodyPr>
          <a:lstStyle/>
          <a:p>
            <a:r>
              <a:rPr lang="ru-RU" i="1" dirty="0"/>
              <a:t>В оптической и электронной микроскопии </a:t>
            </a:r>
            <a:r>
              <a:rPr lang="ru-RU" dirty="0"/>
              <a:t>используются дифракция, отражение или преломление электромагнитного излучения или</a:t>
            </a:r>
            <a:br>
              <a:rPr lang="ru-RU" dirty="0"/>
            </a:br>
            <a:r>
              <a:rPr lang="ru-RU" dirty="0"/>
              <a:t>электронных пучков при взаимодействии с исследуемым объектом с последующей регистрацией излучения для построения изображения. </a:t>
            </a:r>
            <a:r>
              <a:rPr lang="ru-RU" dirty="0" smtClean="0"/>
              <a:t>Это может </a:t>
            </a:r>
            <a:r>
              <a:rPr lang="ru-RU" dirty="0"/>
              <a:t>происходить как при облучении поля изображения образца целиком, например, в обычной оптической микроскопии или просвечивающей электронной микроскопии, так и при сканировании образца </a:t>
            </a:r>
            <a:r>
              <a:rPr lang="ru-RU" dirty="0" smtClean="0"/>
              <a:t>пучком маленького </a:t>
            </a:r>
            <a:r>
              <a:rPr lang="ru-RU" dirty="0"/>
              <a:t>размера, например, в конфокальной лазерной </a:t>
            </a:r>
            <a:r>
              <a:rPr lang="ru-RU" dirty="0" smtClean="0"/>
              <a:t>сканирующей микроскопии </a:t>
            </a:r>
            <a:r>
              <a:rPr lang="ru-RU" dirty="0"/>
              <a:t>или сканирующей электронной микроскопии.</a:t>
            </a:r>
          </a:p>
          <a:p>
            <a:r>
              <a:rPr lang="ru-RU" i="1" dirty="0"/>
              <a:t>В сканирующей зондовой микроскопии </a:t>
            </a:r>
            <a:r>
              <a:rPr lang="ru-RU" dirty="0"/>
              <a:t>изображение поверхности</a:t>
            </a:r>
            <a:br>
              <a:rPr lang="ru-RU" dirty="0"/>
            </a:br>
            <a:r>
              <a:rPr lang="ru-RU" dirty="0"/>
              <a:t>объекта формируется с помощью зонда, сканирующего поверхность</a:t>
            </a:r>
            <a:br>
              <a:rPr lang="ru-RU" dirty="0"/>
            </a:br>
            <a:r>
              <a:rPr lang="ru-RU" dirty="0"/>
              <a:t>объекта. Изображение получается путем механического перемещения</a:t>
            </a:r>
            <a:br>
              <a:rPr lang="ru-RU" dirty="0"/>
            </a:br>
            <a:r>
              <a:rPr lang="ru-RU" dirty="0"/>
              <a:t>зонда по траектории в виде растра (строка за строкой) и регистрации</a:t>
            </a:r>
            <a:br>
              <a:rPr lang="ru-RU" dirty="0"/>
            </a:br>
            <a:r>
              <a:rPr lang="ru-RU" dirty="0"/>
              <a:t>взаимодействия между зондом и поверхностью как функции его положения (координат).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611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Разрешающая способность метода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Минимальный размер объекта, который можно увидеть, определяется </a:t>
            </a:r>
            <a:r>
              <a:rPr lang="ru-RU" i="1" dirty="0"/>
              <a:t>разрешающей способностью </a:t>
            </a:r>
            <a:r>
              <a:rPr lang="ru-RU" dirty="0"/>
              <a:t>прибора, определяемой длиной </a:t>
            </a:r>
            <a:r>
              <a:rPr lang="ru-RU" dirty="0" smtClean="0"/>
              <a:t>волны используемого </a:t>
            </a:r>
            <a:r>
              <a:rPr lang="ru-RU" dirty="0"/>
              <a:t>в микроскопии излучения и аппаратными искажениями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Фундаментальное </a:t>
            </a:r>
            <a:r>
              <a:rPr lang="ru-RU" dirty="0"/>
              <a:t>ограничение заключается в невозможности </a:t>
            </a:r>
            <a:r>
              <a:rPr lang="ru-RU" dirty="0" smtClean="0"/>
              <a:t>получить прямыми </a:t>
            </a:r>
            <a:r>
              <a:rPr lang="ru-RU" dirty="0"/>
              <a:t>методами при помощи электромагнитного излучения изображение объекта, меньшего по размерам, чем длина волны этого излучения.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сканирующей микроскопии разрешение определяется минимальным диаметром пучка. В сканирующей зондовой микроскопии разрешающая способность зависит от размера зонда и характера его взаимодействия с поверхностью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377914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Возможности микроскопии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Микроскопический метод дает возможность определить дисперсность и форму кристаллов, изменения фазового состава. Световую микроскопию применяют для анализа материалов с размерами частиц 100</a:t>
            </a:r>
            <a:r>
              <a:rPr lang="ru-RU" dirty="0" smtClean="0"/>
              <a:t>– 500 </a:t>
            </a:r>
            <a:r>
              <a:rPr lang="ru-RU" dirty="0" err="1"/>
              <a:t>нм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дисперсионного анализа ультрадисперсных материалов более пригодна электронная микроскопия. </a:t>
            </a:r>
            <a:endParaRPr lang="ru-RU" dirty="0" smtClean="0"/>
          </a:p>
          <a:p>
            <a:r>
              <a:rPr lang="ru-RU" dirty="0" smtClean="0"/>
              <a:t>Электронная </a:t>
            </a:r>
            <a:r>
              <a:rPr lang="ru-RU" dirty="0"/>
              <a:t>микроскопия высокого разрешения позволяет определить не только размеры </a:t>
            </a:r>
            <a:r>
              <a:rPr lang="ru-RU" dirty="0" err="1"/>
              <a:t>наночастиц</a:t>
            </a:r>
            <a:r>
              <a:rPr lang="ru-RU" dirty="0"/>
              <a:t>, но и детали их строения.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помощи микроскопического метода можно исследовать процессы диффузии при реакциях в твердой фазе.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2632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Ультрамикроскопия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i="1" dirty="0"/>
              <a:t> </a:t>
            </a:r>
            <a:r>
              <a:rPr lang="ru-RU" i="1" dirty="0" err="1"/>
              <a:t>Ультрамикроскопия</a:t>
            </a:r>
            <a:r>
              <a:rPr lang="ru-RU" dirty="0"/>
              <a:t>, основанная на явлении рассеяния света с использованием оптического микроскопа при боковом освещении объекта</a:t>
            </a:r>
            <a:br>
              <a:rPr lang="ru-RU" dirty="0"/>
            </a:br>
            <a:r>
              <a:rPr lang="ru-RU" dirty="0"/>
              <a:t>мощным пучком света, дает возможность установить число частиц, </a:t>
            </a:r>
            <a:r>
              <a:rPr lang="ru-RU" dirty="0" smtClean="0"/>
              <a:t>их форму </a:t>
            </a:r>
            <a:r>
              <a:rPr lang="ru-RU" dirty="0"/>
              <a:t>и размер, если их диаметр составляет не менее 2 </a:t>
            </a:r>
            <a:r>
              <a:rPr lang="ru-RU" dirty="0" err="1"/>
              <a:t>нм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Форму </a:t>
            </a:r>
            <a:r>
              <a:rPr lang="ru-RU" dirty="0"/>
              <a:t>частиц определяют по характеру их свечения: если рассеянный частицами</a:t>
            </a:r>
            <a:br>
              <a:rPr lang="ru-RU" dirty="0"/>
            </a:br>
            <a:r>
              <a:rPr lang="ru-RU" dirty="0"/>
              <a:t>свет испускается ровно, без мигания, это свидетельствует о сферической форме частицы; если наблюдается мерцание, можно предположить</a:t>
            </a:r>
            <a:br>
              <a:rPr lang="ru-RU" dirty="0"/>
            </a:br>
            <a:r>
              <a:rPr lang="ru-RU" dirty="0"/>
              <a:t>палочкообразную или пластинчатую форму.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578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9.1</a:t>
            </a:r>
            <a:r>
              <a:rPr lang="ru-RU" b="1" dirty="0"/>
              <a:t>. Световая (оптическая) микроскопия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62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Принципы световой микроскопии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световой микроскопии для анализа дисперсного состава используют световые лучи. Оптический, или световой микроскоп использует видимый свет, проходящий через прозрачные объекты, или </a:t>
            </a:r>
            <a:r>
              <a:rPr lang="ru-RU" dirty="0" err="1"/>
              <a:t>отражѐнный</a:t>
            </a:r>
            <a:r>
              <a:rPr lang="ru-RU" dirty="0"/>
              <a:t> от непрозрачных. </a:t>
            </a:r>
            <a:endParaRPr lang="ru-RU" dirty="0" smtClean="0"/>
          </a:p>
          <a:p>
            <a:r>
              <a:rPr lang="ru-RU" dirty="0" smtClean="0"/>
              <a:t>Оптическая </a:t>
            </a:r>
            <a:r>
              <a:rPr lang="ru-RU" dirty="0"/>
              <a:t>система из нескольких линз позволяет получить кажущееся увеличенное изображение образца. </a:t>
            </a:r>
            <a:endParaRPr lang="ru-RU" dirty="0" smtClean="0"/>
          </a:p>
          <a:p>
            <a:r>
              <a:rPr lang="ru-RU" dirty="0" smtClean="0"/>
              <a:t>Полученное изображение можно </a:t>
            </a:r>
            <a:r>
              <a:rPr lang="ru-RU" dirty="0"/>
              <a:t>наблюдать глазом либо фотографировать, передавать на видеокамеру для оцифровки.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состав современного микроскопа обычно входит система подсветки, столик для перемещения объекта (препарата</a:t>
            </a:r>
            <a:r>
              <a:rPr lang="ru-RU" dirty="0" smtClean="0"/>
              <a:t>), наборы </a:t>
            </a:r>
            <a:r>
              <a:rPr lang="ru-RU" dirty="0"/>
              <a:t>специальных объективов и окуляров.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405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Разрешающая способность светового микроскопа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Разрешающая способность микроскопа (способность давать раздельное изображение точек объекта, расположенных близко друг к другу) характеризуется наименьшим расстоянием между </a:t>
            </a:r>
            <a:r>
              <a:rPr lang="ru-RU" dirty="0" smtClean="0"/>
              <a:t>наблюдаемыми отдельно </a:t>
            </a:r>
            <a:r>
              <a:rPr lang="ru-RU" dirty="0"/>
              <a:t>точками </a:t>
            </a:r>
            <a:r>
              <a:rPr lang="ru-RU" i="1" dirty="0"/>
              <a:t>d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/>
              <a:t>где k – постоянная; </a:t>
            </a:r>
            <a:r>
              <a:rPr lang="ru-RU" i="1" dirty="0"/>
              <a:t>λ </a:t>
            </a:r>
            <a:r>
              <a:rPr lang="ru-RU" dirty="0"/>
              <a:t>– длина волны света; n – коэффициент преломления среды перед линзой; α – половина угла апертуры. Разрешение световых микроскопов d составляет примерно 225 </a:t>
            </a:r>
            <a:r>
              <a:rPr lang="ru-RU" dirty="0" err="1"/>
              <a:t>нм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последние годы технические возможности световой микроскопии значительно расширились. Поляризационные и металлографические микроскопы стали применяться для решения разнообразных вопросов, максимальное увеличение световых микроскопов достигло предельной величины – 2100, что позволяет различать частички размером 0,3–0,4 мкм (надежные результаты – на частичках размером до 5 мкм).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47864" y="2708920"/>
            <a:ext cx="2808312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37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Применение световой микроскопии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0060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При помощи светового микроскопа можно определять дисперсность и форму кристалликов. Определение размеров частиц проводят</a:t>
            </a:r>
            <a:br>
              <a:rPr lang="ru-RU" dirty="0"/>
            </a:br>
            <a:r>
              <a:rPr lang="ru-RU" dirty="0"/>
              <a:t>двумя способами: прямым измерением и методом счета. </a:t>
            </a:r>
            <a:endParaRPr lang="ru-RU" dirty="0" smtClean="0"/>
          </a:p>
          <a:p>
            <a:r>
              <a:rPr lang="ru-RU" dirty="0" smtClean="0"/>
              <a:t>В последнем случае </a:t>
            </a:r>
            <a:r>
              <a:rPr lang="ru-RU" dirty="0"/>
              <a:t>подсчитывают число частиц при известной плотности </a:t>
            </a:r>
            <a:r>
              <a:rPr lang="ru-RU" dirty="0" smtClean="0"/>
              <a:t>вещества и </a:t>
            </a:r>
            <a:r>
              <a:rPr lang="ru-RU" dirty="0"/>
              <a:t>общей массе частиц.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определения размера зерен используют окулярную линейку: подсчитывают число делений линейки на каждое зерно материала и умножением на цену деления окуляр-микрометра </a:t>
            </a:r>
            <a:r>
              <a:rPr lang="ru-RU" dirty="0" smtClean="0"/>
              <a:t>при данном </a:t>
            </a:r>
            <a:r>
              <a:rPr lang="ru-RU" dirty="0"/>
              <a:t>увеличении находят размер зерна. Для вытянутых зерен замеряют два поперечных размера и используют среднюю величину, для</a:t>
            </a:r>
            <a:br>
              <a:rPr lang="ru-RU" dirty="0"/>
            </a:br>
            <a:r>
              <a:rPr lang="ru-RU" dirty="0"/>
              <a:t>шаровидных зерен замеряют диаметр.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подсчете содержания компонентов сложного материала с помощью окуляр-микрометра подсчитывают количество делений, приходящихся на долю той или иной составляющей (точность подсчета до 1 %).</a:t>
            </a:r>
          </a:p>
          <a:p>
            <a:r>
              <a:rPr lang="ru-RU" dirty="0"/>
              <a:t>Световая микроскопия использует освещение объектов исследования в проходящем свете и в отраженном свете на полированных шлифах. В отраженном свете можно исследовать полнее и с большей объективностью, чем в проходящем свете.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6313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9.2. Электронная микроскопия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1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Определение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i="1" dirty="0"/>
              <a:t>Электронная микроскопия </a:t>
            </a:r>
            <a:r>
              <a:rPr lang="ru-RU" dirty="0"/>
              <a:t>– совокупность </a:t>
            </a:r>
            <a:r>
              <a:rPr lang="ru-RU" dirty="0" smtClean="0"/>
              <a:t>электронно-зондовых методов </a:t>
            </a:r>
            <a:r>
              <a:rPr lang="ru-RU" dirty="0"/>
              <a:t>исследования микроструктуры вещества, его локального состава с помощью электронных микроскопов – приборов, в которых для получения увеличения изображений используют электронный пучок</a:t>
            </a:r>
            <a:r>
              <a:rPr lang="ru-RU" dirty="0" smtClean="0"/>
              <a:t>.</a:t>
            </a:r>
          </a:p>
          <a:p>
            <a:r>
              <a:rPr lang="ru-RU" dirty="0" smtClean="0"/>
              <a:t>Электронная </a:t>
            </a:r>
            <a:r>
              <a:rPr lang="ru-RU" dirty="0"/>
              <a:t>микроскопия – это единственный прямой метод, позволяющий определять размер, форму и строение </a:t>
            </a:r>
            <a:r>
              <a:rPr lang="ru-RU" dirty="0" err="1"/>
              <a:t>наночастиц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4088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электронной микроскопии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Различают два главных направления электронной микроскопии:</a:t>
            </a:r>
            <a:br>
              <a:rPr lang="ru-RU" dirty="0"/>
            </a:br>
            <a:r>
              <a:rPr lang="ru-RU" dirty="0" smtClean="0"/>
              <a:t>- </a:t>
            </a:r>
            <a:r>
              <a:rPr lang="ru-RU" i="1" dirty="0" smtClean="0"/>
              <a:t>трансмиссионную </a:t>
            </a:r>
            <a:r>
              <a:rPr lang="ru-RU" dirty="0"/>
              <a:t>(просвечивающую) </a:t>
            </a:r>
            <a:r>
              <a:rPr lang="ru-RU" dirty="0" smtClean="0"/>
              <a:t>и</a:t>
            </a:r>
          </a:p>
          <a:p>
            <a:pPr marL="0" indent="0">
              <a:buNone/>
            </a:pPr>
            <a:r>
              <a:rPr lang="ru-RU" dirty="0" smtClean="0"/>
              <a:t>     - </a:t>
            </a:r>
            <a:r>
              <a:rPr lang="ru-RU" i="1" dirty="0"/>
              <a:t>растровую </a:t>
            </a:r>
            <a:r>
              <a:rPr lang="ru-RU" dirty="0"/>
              <a:t>(сканирующую</a:t>
            </a:r>
            <a:r>
              <a:rPr lang="ru-RU" dirty="0" smtClean="0"/>
              <a:t>),</a:t>
            </a:r>
          </a:p>
          <a:p>
            <a:pPr marL="0" indent="0">
              <a:buNone/>
            </a:pPr>
            <a:r>
              <a:rPr lang="ru-RU" dirty="0" smtClean="0"/>
              <a:t>     основанных </a:t>
            </a:r>
            <a:r>
              <a:rPr lang="ru-RU" dirty="0"/>
              <a:t>на использовании соответствующих </a:t>
            </a:r>
            <a:r>
              <a:rPr lang="ru-RU" dirty="0" smtClean="0"/>
              <a:t>типов             микроскопов. </a:t>
            </a:r>
          </a:p>
          <a:p>
            <a:r>
              <a:rPr lang="ru-RU" dirty="0" smtClean="0"/>
              <a:t>Они </a:t>
            </a:r>
            <a:r>
              <a:rPr lang="ru-RU" dirty="0"/>
              <a:t>дают качественно различную информацию об объекте исследования и часто применяются совместно. В случае если изображение формируется в результате </a:t>
            </a:r>
            <a:r>
              <a:rPr lang="ru-RU" dirty="0" smtClean="0"/>
              <a:t>прохождения электронного </a:t>
            </a:r>
            <a:r>
              <a:rPr lang="ru-RU" dirty="0"/>
              <a:t>пучка через прозрачный для электронов образец, имеет место </a:t>
            </a:r>
            <a:r>
              <a:rPr lang="ru-RU" i="1" dirty="0"/>
              <a:t>просвечивающая электронная </a:t>
            </a:r>
            <a:r>
              <a:rPr lang="ru-RU" i="1" dirty="0" smtClean="0"/>
              <a:t>микроскопия.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8260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ru-RU" sz="3600" b="1" dirty="0" smtClean="0"/>
              <a:t>Варианты электронной микроскопии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Расширение возможностей обработки сигналов позволило развить целый комплекс методов, основанных на использовании принципов ПЭМ и объединенных под общим названием </a:t>
            </a:r>
            <a:r>
              <a:rPr lang="ru-RU" i="1" dirty="0"/>
              <a:t>просвечивающей растровой электронной микроскопии (ПРЭМ): </a:t>
            </a:r>
            <a:r>
              <a:rPr lang="ru-RU" dirty="0"/>
              <a:t>энергетический дисперсионный анализ рентгеновского излучения, спектроскопия вторичных электронов, анализ энергетических потерь проходящих электронов. </a:t>
            </a:r>
            <a:endParaRPr lang="ru-RU" dirty="0" smtClean="0"/>
          </a:p>
          <a:p>
            <a:r>
              <a:rPr lang="ru-RU" dirty="0" smtClean="0"/>
              <a:t>Современные </a:t>
            </a:r>
            <a:r>
              <a:rPr lang="ru-RU" dirty="0"/>
              <a:t>просвечивающие электронные микроскопы высокого разрешения позволяют получать увеличение до 1500000 раз, наблюдать распределение атомов </a:t>
            </a:r>
            <a:r>
              <a:rPr lang="ru-RU" dirty="0" smtClean="0"/>
              <a:t>в кристаллических </a:t>
            </a:r>
            <a:r>
              <a:rPr lang="ru-RU" dirty="0"/>
              <a:t>решетках.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результате взаимодействия пучка первичных электронов с поверхностью образца может возникнуть вторичная электронная или электромагнитная эмиссия (в рентгеновской или оптической области спектра). В этом случае для получения информации об исследуемых объектах используется </a:t>
            </a:r>
            <a:r>
              <a:rPr lang="ru-RU" i="1" dirty="0"/>
              <a:t>сканирующая (растровая) электронная микроскопия (СЭМ или РЭМ)</a:t>
            </a:r>
            <a:r>
              <a:rPr lang="ru-RU" dirty="0"/>
              <a:t>, позволяющая получать изображения объектов в результате регистрации потока вторичных электронов, а также рентгеноспектральный микроанализ, регистрирующий эмитируемый образцом рентгеновский сигнал, что позволяет проводить качественный и количественный фазовый анализ исследуемых объектов.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266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Другие варианты электронной микроскопии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Известны также отражательная, эмиссионная, </a:t>
            </a:r>
            <a:r>
              <a:rPr lang="ru-RU" dirty="0" err="1"/>
              <a:t>оже</a:t>
            </a:r>
            <a:r>
              <a:rPr lang="ru-RU" dirty="0"/>
              <a:t>-электронная, </a:t>
            </a:r>
            <a:r>
              <a:rPr lang="ru-RU" dirty="0" err="1"/>
              <a:t>лоренцова</a:t>
            </a:r>
            <a:r>
              <a:rPr lang="ru-RU" dirty="0"/>
              <a:t> и иные виды электронной микроскопии, реализуемые, как правило, с помощью приставок к трансмиссионным и растровым электронным микроскопам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Общим недостатком всех типов электронных микроскопов (как просвечивающих, так и сканирующих) является необходимость проведения анализа в вакууме, и, следовательно, необходимость в сложном дорогостоящем вакуумном оборудовании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Рассмотрим </a:t>
            </a:r>
            <a:r>
              <a:rPr lang="ru-RU" dirty="0"/>
              <a:t>ниже кратко основные принципы и возможности </a:t>
            </a:r>
            <a:r>
              <a:rPr lang="ru-RU" dirty="0" smtClean="0"/>
              <a:t>двух наиболее </a:t>
            </a:r>
            <a:r>
              <a:rPr lang="ru-RU" dirty="0"/>
              <a:t>распространенных методов электронной микроскопии – ПЭМ</a:t>
            </a:r>
            <a:br>
              <a:rPr lang="ru-RU" dirty="0"/>
            </a:br>
            <a:r>
              <a:rPr lang="ru-RU" dirty="0"/>
              <a:t>и СЭМ.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3810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1" dirty="0"/>
              <a:t>9.2.1. Растровая электронная микроскопия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4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288032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Принципы работы РЭМ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619268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В растровом электронном микроскопе изображение </a:t>
            </a:r>
            <a:r>
              <a:rPr lang="ru-RU" dirty="0" smtClean="0"/>
              <a:t>исследуемого объекта </a:t>
            </a:r>
            <a:r>
              <a:rPr lang="ru-RU" dirty="0"/>
              <a:t>формируется при сканировании его поверхности точно сфокусированным (5–10 </a:t>
            </a:r>
            <a:r>
              <a:rPr lang="ru-RU" dirty="0" err="1"/>
              <a:t>нм</a:t>
            </a:r>
            <a:r>
              <a:rPr lang="ru-RU" dirty="0"/>
              <a:t>) </a:t>
            </a:r>
            <a:r>
              <a:rPr lang="ru-RU" i="1" dirty="0"/>
              <a:t>лучом электронов </a:t>
            </a:r>
            <a:r>
              <a:rPr lang="ru-RU" dirty="0"/>
              <a:t>(электронным зондом, диаметром 5–1000 </a:t>
            </a:r>
            <a:r>
              <a:rPr lang="ru-RU" dirty="0" err="1"/>
              <a:t>нм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i="1" dirty="0"/>
              <a:t>взаимодействии электронов с поверхностью </a:t>
            </a:r>
            <a:r>
              <a:rPr lang="ru-RU" dirty="0"/>
              <a:t>исследуемого материала протекает ряд сложных процессов, приводящих </a:t>
            </a:r>
            <a:r>
              <a:rPr lang="ru-RU" dirty="0" smtClean="0"/>
              <a:t>к появлению </a:t>
            </a:r>
            <a:r>
              <a:rPr lang="ru-RU" dirty="0"/>
              <a:t>излучений различной природы. Эти излучения можно регистрировать с применением различных приборов и датчиков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Для </a:t>
            </a:r>
            <a:r>
              <a:rPr lang="ru-RU" i="1" dirty="0"/>
              <a:t>формирования картины поверхности </a:t>
            </a:r>
            <a:r>
              <a:rPr lang="ru-RU" dirty="0"/>
              <a:t>используют </a:t>
            </a:r>
            <a:r>
              <a:rPr lang="ru-RU" dirty="0" smtClean="0"/>
              <a:t>отраженные электроны </a:t>
            </a:r>
            <a:r>
              <a:rPr lang="ru-RU" dirty="0"/>
              <a:t>и вторичные электроны. Создаваемые ими сигналы после </a:t>
            </a:r>
            <a:r>
              <a:rPr lang="ru-RU" dirty="0" smtClean="0"/>
              <a:t>их регистрации </a:t>
            </a:r>
            <a:r>
              <a:rPr lang="ru-RU" dirty="0"/>
              <a:t>приборами усиливают, а затем используют для </a:t>
            </a:r>
            <a:r>
              <a:rPr lang="ru-RU" dirty="0" smtClean="0"/>
              <a:t>модуляции яркости </a:t>
            </a:r>
            <a:r>
              <a:rPr lang="ru-RU" dirty="0"/>
              <a:t>изображения на электронно-лучевой трубке (ЭЛТ), </a:t>
            </a:r>
            <a:r>
              <a:rPr lang="ru-RU" dirty="0" smtClean="0"/>
              <a:t>развертка которой </a:t>
            </a:r>
            <a:r>
              <a:rPr lang="ru-RU" dirty="0"/>
              <a:t>синхронна со смещением электронного зонда. Таким образом</a:t>
            </a:r>
            <a:r>
              <a:rPr lang="ru-RU" dirty="0" smtClean="0"/>
              <a:t>, каждой точке </a:t>
            </a:r>
            <a:r>
              <a:rPr lang="ru-RU" dirty="0"/>
              <a:t>на поверхности образца соответствует точка на </a:t>
            </a:r>
            <a:r>
              <a:rPr lang="ru-RU" dirty="0" smtClean="0"/>
              <a:t>экране ЭЛТ</a:t>
            </a:r>
            <a:r>
              <a:rPr lang="ru-RU" dirty="0"/>
              <a:t>. </a:t>
            </a:r>
            <a:r>
              <a:rPr lang="ru-RU" dirty="0" smtClean="0"/>
              <a:t>Яркость </a:t>
            </a:r>
            <a:r>
              <a:rPr lang="ru-RU" dirty="0"/>
              <a:t>изображения точки пропорциональна интенсивности сигнала от соответствующей точки на изучаемой поверхности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При </a:t>
            </a:r>
            <a:r>
              <a:rPr lang="ru-RU" dirty="0"/>
              <a:t>использовании сигнала от отраженных электронов </a:t>
            </a:r>
            <a:r>
              <a:rPr lang="ru-RU" dirty="0" smtClean="0"/>
              <a:t>получается информация </a:t>
            </a:r>
            <a:r>
              <a:rPr lang="ru-RU" dirty="0"/>
              <a:t>от слоя толщиной 1–2 мкм. </a:t>
            </a:r>
            <a:r>
              <a:rPr lang="ru-RU" i="1" dirty="0"/>
              <a:t>Изображение поверхности </a:t>
            </a:r>
            <a:r>
              <a:rPr lang="ru-RU" dirty="0"/>
              <a:t>отличается сильным черно-белым контрастом. Такой режим может </a:t>
            </a:r>
            <a:r>
              <a:rPr lang="ru-RU" dirty="0" smtClean="0"/>
              <a:t>быть полезен </a:t>
            </a:r>
            <a:r>
              <a:rPr lang="ru-RU" dirty="0"/>
              <a:t>при изучении структуры на металлографических шлифах. </a:t>
            </a:r>
            <a:r>
              <a:rPr lang="ru-RU" dirty="0" smtClean="0"/>
              <a:t>При </a:t>
            </a:r>
            <a:r>
              <a:rPr lang="ru-RU" dirty="0"/>
              <a:t>использовании сигнала от вторичных электронов </a:t>
            </a:r>
            <a:r>
              <a:rPr lang="ru-RU" dirty="0" smtClean="0"/>
              <a:t>достигается наибольшее </a:t>
            </a:r>
            <a:r>
              <a:rPr lang="ru-RU" dirty="0"/>
              <a:t>разрешение, так как вторичные электроны возникают в </a:t>
            </a:r>
            <a:r>
              <a:rPr lang="ru-RU" dirty="0" smtClean="0"/>
              <a:t>слое толщиной </a:t>
            </a:r>
            <a:r>
              <a:rPr lang="ru-RU" dirty="0"/>
              <a:t>порядка 1 </a:t>
            </a:r>
            <a:r>
              <a:rPr lang="ru-RU" dirty="0" err="1"/>
              <a:t>нм</a:t>
            </a:r>
            <a:r>
              <a:rPr lang="ru-RU" dirty="0"/>
              <a:t>, а зона их возникновения ограничена </a:t>
            </a:r>
            <a:r>
              <a:rPr lang="ru-RU" dirty="0" smtClean="0"/>
              <a:t>областью вокруг </a:t>
            </a:r>
            <a:r>
              <a:rPr lang="ru-RU" dirty="0"/>
              <a:t>падения электронного луча</a:t>
            </a:r>
            <a:r>
              <a:rPr lang="ru-RU" dirty="0" smtClean="0"/>
              <a:t>.</a:t>
            </a:r>
          </a:p>
          <a:p>
            <a:r>
              <a:rPr lang="ru-RU" i="1" dirty="0" smtClean="0"/>
              <a:t> </a:t>
            </a:r>
            <a:r>
              <a:rPr lang="ru-RU" i="1" dirty="0"/>
              <a:t>Контрастность </a:t>
            </a:r>
            <a:r>
              <a:rPr lang="ru-RU" dirty="0"/>
              <a:t>изображения несколько ниже, чем при использовании отраженных электронов, однако</a:t>
            </a:r>
            <a:br>
              <a:rPr lang="ru-RU" dirty="0"/>
            </a:br>
            <a:r>
              <a:rPr lang="ru-RU" dirty="0"/>
              <a:t>оно имеет стереометрический характер.</a:t>
            </a:r>
          </a:p>
        </p:txBody>
      </p:sp>
    </p:spTree>
    <p:extLst>
      <p:ext uri="{BB962C8B-B14F-4D97-AF65-F5344CB8AC3E}">
        <p14:creationId xmlns:p14="http://schemas.microsoft.com/office/powerpoint/2010/main" val="2337808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Достоинства растровой электронной микроскопии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Важным достоинством растровой электронной микроскопии является сочетание большой разрешающей способности (до 10 </a:t>
            </a:r>
            <a:r>
              <a:rPr lang="ru-RU" dirty="0" err="1"/>
              <a:t>нм</a:t>
            </a:r>
            <a:r>
              <a:rPr lang="ru-RU" dirty="0"/>
              <a:t>, а при использовании специальных катодов из </a:t>
            </a:r>
            <a:r>
              <a:rPr lang="ru-RU" dirty="0" err="1"/>
              <a:t>гексаборида</a:t>
            </a:r>
            <a:r>
              <a:rPr lang="ru-RU" dirty="0"/>
              <a:t> лантана – до 5 </a:t>
            </a:r>
            <a:r>
              <a:rPr lang="ru-RU" dirty="0" err="1"/>
              <a:t>нм</a:t>
            </a:r>
            <a:r>
              <a:rPr lang="ru-RU" dirty="0"/>
              <a:t>) </a:t>
            </a:r>
            <a:r>
              <a:rPr lang="ru-RU" dirty="0" smtClean="0"/>
              <a:t>с большой </a:t>
            </a:r>
            <a:r>
              <a:rPr lang="ru-RU" dirty="0"/>
              <a:t>глубиной фокуса, что позволяет проводить </a:t>
            </a:r>
            <a:r>
              <a:rPr lang="ru-RU" dirty="0" smtClean="0"/>
              <a:t> высококачественные </a:t>
            </a:r>
            <a:r>
              <a:rPr lang="ru-RU" dirty="0"/>
              <a:t>исследования поверхности шероховатых образцов.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ряде </a:t>
            </a:r>
            <a:r>
              <a:rPr lang="ru-RU" dirty="0" smtClean="0"/>
              <a:t>приборов вместо </a:t>
            </a:r>
            <a:r>
              <a:rPr lang="ru-RU" dirty="0"/>
              <a:t>катода используют автоэмиссионные пушки, что позволяет получать очень узкие электронные лучи и доводить предельное разрешение до 0,5 </a:t>
            </a:r>
            <a:r>
              <a:rPr lang="ru-RU" dirty="0" err="1"/>
              <a:t>нм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6458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Недостаток метода РЭМ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Недостатком метода РЭМ является возможность </a:t>
            </a:r>
            <a:r>
              <a:rPr lang="ru-RU" dirty="0" smtClean="0"/>
              <a:t>исследования только </a:t>
            </a:r>
            <a:r>
              <a:rPr lang="ru-RU" dirty="0"/>
              <a:t>проводящих материалов.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исследования изоляторов на их поверхность обычно напыляют тонкую пленку электропроводящего вещества, например углерода. </a:t>
            </a:r>
            <a:endParaRPr lang="ru-RU" dirty="0" smtClean="0"/>
          </a:p>
          <a:p>
            <a:r>
              <a:rPr lang="ru-RU" dirty="0" smtClean="0"/>
              <a:t>Существуют </a:t>
            </a:r>
            <a:r>
              <a:rPr lang="ru-RU" dirty="0"/>
              <a:t>и другие методы приспособления</a:t>
            </a:r>
            <a:br>
              <a:rPr lang="ru-RU" dirty="0"/>
            </a:br>
            <a:r>
              <a:rPr lang="ru-RU" dirty="0"/>
              <a:t>РЭМ к исследованию таких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885179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Метод рентгеноспектрального микроанализа (РСМА) на РЭМ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 связи с тем, что при облучении материала электронами возникает рентгеновское излучение, в РЭМ широкое применение находит также </a:t>
            </a:r>
            <a:r>
              <a:rPr lang="ru-RU" i="1" dirty="0"/>
              <a:t>метод рентгеноспектрального микроанализа (РСМА). </a:t>
            </a:r>
            <a:endParaRPr lang="ru-RU" i="1" dirty="0" smtClean="0"/>
          </a:p>
          <a:p>
            <a:r>
              <a:rPr lang="ru-RU" dirty="0" smtClean="0"/>
              <a:t>Поэтому </a:t>
            </a:r>
            <a:r>
              <a:rPr lang="ru-RU" dirty="0"/>
              <a:t>почти для всех растровых электронных микроскопов предусмотрено конструктивное совмещение этих методов. Имеется возможность регистрировать спектры длин волн компонентов рентгеновского излучения и энергий рентгеновских квантов.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обеспечивает проведение высокочувствительного (тысячные доли процента) качественного и количественного анализа химического состава поверхности изучаемого материала, в том числе в отдельно выбранной точке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Пространственное разрешение РСМА составляет до 200–500 </a:t>
            </a:r>
            <a:r>
              <a:rPr lang="ru-RU" dirty="0" err="1"/>
              <a:t>нм</a:t>
            </a:r>
            <a:r>
              <a:rPr lang="ru-RU" dirty="0"/>
              <a:t> и сильно зависит от </a:t>
            </a:r>
            <a:r>
              <a:rPr lang="ru-RU" dirty="0" smtClean="0"/>
              <a:t>качества подготовки </a:t>
            </a:r>
            <a:r>
              <a:rPr lang="ru-RU" dirty="0"/>
              <a:t>поверхности образцов.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4893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Принципиальная схема растрового электронного микроскопа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70000" lnSpcReduction="20000"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                             а                                               б</a:t>
            </a:r>
          </a:p>
          <a:p>
            <a:r>
              <a:rPr lang="ru-RU" dirty="0" smtClean="0"/>
              <a:t>Принципиальная </a:t>
            </a:r>
            <a:r>
              <a:rPr lang="ru-RU" dirty="0"/>
              <a:t>схема растрового электронного микроскопа (а) </a:t>
            </a:r>
            <a:r>
              <a:rPr lang="ru-RU" dirty="0" smtClean="0"/>
              <a:t>и схема </a:t>
            </a:r>
            <a:r>
              <a:rPr lang="ru-RU" dirty="0"/>
              <a:t>системы объектива с малым отверстием нижнего полюсного наконечника (б): 1 – нижний полюсный наконечник; 2 – объективная диафрагма; 3 – </a:t>
            </a:r>
            <a:r>
              <a:rPr lang="ru-RU" dirty="0" err="1"/>
              <a:t>стигматор</a:t>
            </a:r>
            <a:r>
              <a:rPr lang="ru-RU" dirty="0"/>
              <a:t>; 4 – отклоняющие катушки для сканирования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6408712" cy="335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63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Работа РЭМ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99715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Принципиальная схема растрового электронного микроскопа (с</a:t>
            </a:r>
            <a:br>
              <a:rPr lang="ru-RU" dirty="0"/>
            </a:br>
            <a:r>
              <a:rPr lang="ru-RU" dirty="0"/>
              <a:t>устройством электронно-оптической части и камеры объекта) </a:t>
            </a:r>
            <a:r>
              <a:rPr lang="ru-RU" dirty="0" smtClean="0"/>
              <a:t>приведена на предыдущем слайде. </a:t>
            </a:r>
          </a:p>
          <a:p>
            <a:r>
              <a:rPr lang="ru-RU" dirty="0" smtClean="0"/>
              <a:t>Эмитируемые </a:t>
            </a:r>
            <a:r>
              <a:rPr lang="ru-RU" dirty="0"/>
              <a:t>катодом электроны ускоряются и формируются в электронный луч (зонд) с помощью системы диафрагм, линз, </a:t>
            </a:r>
            <a:r>
              <a:rPr lang="ru-RU" dirty="0" err="1" smtClean="0"/>
              <a:t>стигматоров</a:t>
            </a:r>
            <a:r>
              <a:rPr lang="ru-RU" dirty="0" smtClean="0"/>
              <a:t> </a:t>
            </a:r>
            <a:r>
              <a:rPr lang="ru-RU" dirty="0"/>
              <a:t>и т. п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Отклоняющие катушки, соединенные с генератором</a:t>
            </a:r>
            <a:r>
              <a:rPr lang="ru-RU" dirty="0" smtClean="0"/>
              <a:t>, обеспечивают </a:t>
            </a:r>
            <a:r>
              <a:rPr lang="ru-RU" dirty="0"/>
              <a:t>синхронную с электронно-лучевой трубкой </a:t>
            </a:r>
            <a:r>
              <a:rPr lang="ru-RU" dirty="0" smtClean="0"/>
              <a:t>развертку (</a:t>
            </a:r>
            <a:r>
              <a:rPr lang="ru-RU" dirty="0"/>
              <a:t>сканирование) электронного зонда по изучаемому участку </a:t>
            </a:r>
            <a:r>
              <a:rPr lang="ru-RU" dirty="0" smtClean="0"/>
              <a:t>поверхности образца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Зонд </a:t>
            </a:r>
            <a:r>
              <a:rPr lang="ru-RU" dirty="0"/>
              <a:t>сканирует поверхность образца формируя на ней растр из</a:t>
            </a:r>
            <a:br>
              <a:rPr lang="ru-RU" dirty="0"/>
            </a:br>
            <a:r>
              <a:rPr lang="ru-RU" dirty="0"/>
              <a:t>нескольких тысяч параллельных линий. </a:t>
            </a:r>
            <a:endParaRPr lang="ru-RU" dirty="0" smtClean="0"/>
          </a:p>
          <a:p>
            <a:r>
              <a:rPr lang="ru-RU" dirty="0" smtClean="0"/>
              <a:t>Формирование </a:t>
            </a:r>
            <a:r>
              <a:rPr lang="ru-RU" dirty="0"/>
              <a:t>яркости изображения осуществляется по сигналам от детекторов отраженных электронов, вторичных электронов и рентгеновского излучения. </a:t>
            </a:r>
            <a:endParaRPr lang="ru-RU" dirty="0" smtClean="0"/>
          </a:p>
          <a:p>
            <a:r>
              <a:rPr lang="ru-RU" dirty="0" smtClean="0"/>
              <a:t>Управление увеличением  </a:t>
            </a:r>
            <a:r>
              <a:rPr lang="ru-RU" dirty="0"/>
              <a:t>осуществляется специальным устройством путем изменения отношения амплитуд развертки луча по экрану</a:t>
            </a:r>
            <a:br>
              <a:rPr lang="ru-RU" dirty="0"/>
            </a:br>
            <a:r>
              <a:rPr lang="ru-RU" dirty="0"/>
              <a:t>и электронного зонда по образцу.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0151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Площадь сканирования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Чтобы получить информацию о микроструктуре достаточно большой области, зонд сканирует заданную площадь объекта по </a:t>
            </a:r>
            <a:r>
              <a:rPr lang="ru-RU" dirty="0" smtClean="0"/>
              <a:t>заданной программе </a:t>
            </a:r>
            <a:r>
              <a:rPr lang="ru-RU" dirty="0"/>
              <a:t>(движется луч по строчкам, образующим квадрат, круг </a:t>
            </a:r>
            <a:r>
              <a:rPr lang="ru-RU" dirty="0" smtClean="0"/>
              <a:t>и т</a:t>
            </a:r>
            <a:r>
              <a:rPr lang="ru-RU" dirty="0"/>
              <a:t>. д</a:t>
            </a:r>
            <a:r>
              <a:rPr lang="ru-RU" dirty="0" smtClean="0"/>
              <a:t>.).</a:t>
            </a:r>
          </a:p>
          <a:p>
            <a:r>
              <a:rPr lang="ru-RU" dirty="0"/>
              <a:t>От того же генератора развертки луча (или генератора сканирования, см. рис</a:t>
            </a:r>
            <a:r>
              <a:rPr lang="ru-RU" dirty="0" smtClean="0"/>
              <a:t>.) </a:t>
            </a:r>
            <a:r>
              <a:rPr lang="ru-RU" dirty="0"/>
              <a:t>работает ЭЛТ, яркость электронного луча которой модулируется сигналом от приемника сигналов (например, </a:t>
            </a:r>
            <a:r>
              <a:rPr lang="ru-RU" dirty="0" smtClean="0"/>
              <a:t>коллектора вторичных </a:t>
            </a:r>
            <a:r>
              <a:rPr lang="ru-RU" dirty="0"/>
              <a:t>электронов), подаваемого через усилитель видеосигнала.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5357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Характеристики РЭМ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Масштаб изображения на экране ЭЛТ определяется отношением размера сканирования на поверхности объекта и размера изображения (растра) на экране. Уменьшение размера участка сканирования приводит к</a:t>
            </a:r>
            <a:br>
              <a:rPr lang="ru-RU" dirty="0"/>
            </a:br>
            <a:r>
              <a:rPr lang="ru-RU" dirty="0"/>
              <a:t>росту увеличения изображения. </a:t>
            </a:r>
            <a:endParaRPr lang="ru-RU" dirty="0" smtClean="0"/>
          </a:p>
          <a:p>
            <a:r>
              <a:rPr lang="ru-RU" dirty="0" smtClean="0"/>
              <a:t>Предельные </a:t>
            </a:r>
            <a:r>
              <a:rPr lang="ru-RU" dirty="0"/>
              <a:t>увеличения в </a:t>
            </a:r>
            <a:r>
              <a:rPr lang="ru-RU" dirty="0" smtClean="0"/>
              <a:t>современных конструкциях </a:t>
            </a:r>
            <a:r>
              <a:rPr lang="ru-RU" dirty="0"/>
              <a:t>РЭМ достигают 150000–200000. Разрешающая способность растровой микроскопии определяется многими факторами, зависящими как от конструкции прибора, так и от природы исследуемого объекта.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образец электро- и теплопроводен, однороден по составу и не обладает приповерхностной пористостью, в РЭМ с вольфрамовыми электродами достигается разрешение 5–7 </a:t>
            </a:r>
            <a:r>
              <a:rPr lang="ru-RU" dirty="0" err="1"/>
              <a:t>нм</a:t>
            </a:r>
            <a:r>
              <a:rPr lang="ru-RU" dirty="0"/>
              <a:t>, в РЭМ с электронными пушками на полевой эмиссии – 1,0–1,5 </a:t>
            </a:r>
            <a:r>
              <a:rPr lang="ru-RU" dirty="0" err="1"/>
              <a:t>нм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9346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Другие характеристики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Наименьшие значения разрешаемого расстояния 70–100 Å при использовании эффекта эмиссии вторичных электронов. При любом виде используемого для выявления микроструктуры сигнала характерным является чрезвычайно большая глубина резкости вследствие очень </a:t>
            </a:r>
            <a:r>
              <a:rPr lang="ru-RU" dirty="0" smtClean="0"/>
              <a:t>малой апертуры </a:t>
            </a:r>
            <a:r>
              <a:rPr lang="ru-RU" dirty="0"/>
              <a:t>(практически, параллельности) электронного зонда.</a:t>
            </a:r>
          </a:p>
          <a:p>
            <a:r>
              <a:rPr lang="ru-RU" dirty="0"/>
              <a:t>Разного рода сигналы от участка объекта, на который попадает пучок электронов, представляют информацию об особенностях соответствующего участка (рис</a:t>
            </a:r>
            <a:r>
              <a:rPr lang="ru-RU" dirty="0" smtClean="0"/>
              <a:t>.). </a:t>
            </a:r>
            <a:r>
              <a:rPr lang="ru-RU" dirty="0"/>
              <a:t>Размер этого участка определяется сечением зонда, который в существующих конструкциях растровых электронных микроскопов может достигать 10–100 Å.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606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Примеры изображения </a:t>
            </a:r>
            <a:r>
              <a:rPr lang="ru-RU" b="1" dirty="0"/>
              <a:t>поверхности </a:t>
            </a:r>
            <a:r>
              <a:rPr lang="ru-RU" b="1" dirty="0" smtClean="0"/>
              <a:t>твердых тел на РЭМ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85000" lnSpcReduction="20000"/>
          </a:bodyPr>
          <a:lstStyle/>
          <a:p>
            <a:endParaRPr lang="ru-RU" i="1" dirty="0" smtClean="0"/>
          </a:p>
          <a:p>
            <a:endParaRPr lang="ru-RU" i="1" dirty="0"/>
          </a:p>
          <a:p>
            <a:endParaRPr lang="ru-RU" i="1" dirty="0" smtClean="0"/>
          </a:p>
          <a:p>
            <a:endParaRPr lang="ru-RU" i="1" dirty="0"/>
          </a:p>
          <a:p>
            <a:endParaRPr lang="ru-RU" i="1" dirty="0" smtClean="0"/>
          </a:p>
          <a:p>
            <a:endParaRPr lang="ru-RU" i="1" dirty="0"/>
          </a:p>
          <a:p>
            <a:endParaRPr lang="ru-RU" i="1" dirty="0" smtClean="0"/>
          </a:p>
          <a:p>
            <a:endParaRPr lang="ru-RU" i="1" dirty="0"/>
          </a:p>
          <a:p>
            <a:endParaRPr lang="ru-RU" i="1" dirty="0" smtClean="0"/>
          </a:p>
          <a:p>
            <a:endParaRPr lang="ru-RU" i="1" dirty="0"/>
          </a:p>
          <a:p>
            <a:r>
              <a:rPr lang="ru-RU" i="1" dirty="0" smtClean="0"/>
              <a:t>В </a:t>
            </a:r>
            <a:r>
              <a:rPr lang="ru-RU" i="1" dirty="0" err="1"/>
              <a:t>упругоотраженных</a:t>
            </a:r>
            <a:r>
              <a:rPr lang="ru-RU" i="1" dirty="0"/>
              <a:t> (а), поглощенных (б) и во вторичных электронах (в)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59632" y="1916832"/>
            <a:ext cx="6696744" cy="309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95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Современный РЭМ </a:t>
            </a:r>
            <a:r>
              <a:rPr lang="ru-RU" b="1" i="1" dirty="0"/>
              <a:t>JEOL JSM 6390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323528" y="1600200"/>
            <a:ext cx="4172272" cy="452596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Общий вид РЭМ приведен на </a:t>
            </a:r>
            <a:r>
              <a:rPr lang="ru-RU" dirty="0" smtClean="0"/>
              <a:t>рисунке. </a:t>
            </a:r>
            <a:r>
              <a:rPr lang="ru-RU" dirty="0"/>
              <a:t>В этих приборах как детектор вторичных электронов, так и детекторы рентгеновского излучения установлен ниже конечной линзы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Электронная оптика дает возможность исследователю сформировать электронный пучок, </a:t>
            </a:r>
            <a:r>
              <a:rPr lang="ru-RU" dirty="0" smtClean="0"/>
              <a:t>который характеризуют </a:t>
            </a:r>
            <a:r>
              <a:rPr lang="ru-RU" dirty="0"/>
              <a:t>три параметра: ток пучка </a:t>
            </a:r>
            <a:r>
              <a:rPr lang="ru-RU" i="1" dirty="0"/>
              <a:t>i </a:t>
            </a:r>
            <a:r>
              <a:rPr lang="ru-RU" dirty="0"/>
              <a:t>(диапазон изменения 10</a:t>
            </a:r>
            <a:r>
              <a:rPr lang="ru-RU" baseline="30000" dirty="0"/>
              <a:t>−12</a:t>
            </a:r>
            <a:r>
              <a:rPr lang="ru-RU" dirty="0"/>
              <a:t>–</a:t>
            </a:r>
            <a:br>
              <a:rPr lang="ru-RU" dirty="0"/>
            </a:br>
            <a:r>
              <a:rPr lang="ru-RU" dirty="0"/>
              <a:t>10</a:t>
            </a:r>
            <a:r>
              <a:rPr lang="ru-RU" baseline="30000" dirty="0"/>
              <a:t>−6</a:t>
            </a:r>
            <a:r>
              <a:rPr lang="ru-RU" dirty="0"/>
              <a:t> Å), диаметр пучка </a:t>
            </a:r>
            <a:r>
              <a:rPr lang="ru-RU" i="1" dirty="0"/>
              <a:t>d </a:t>
            </a:r>
            <a:r>
              <a:rPr lang="ru-RU" dirty="0"/>
              <a:t>(5 </a:t>
            </a:r>
            <a:r>
              <a:rPr lang="ru-RU" dirty="0" err="1"/>
              <a:t>нм</a:t>
            </a:r>
            <a:r>
              <a:rPr lang="ru-RU" dirty="0"/>
              <a:t>–l мкм) и расходимость </a:t>
            </a:r>
            <a:r>
              <a:rPr lang="ru-RU" i="1" dirty="0"/>
              <a:t>α </a:t>
            </a:r>
            <a:r>
              <a:rPr lang="ru-RU" dirty="0"/>
              <a:t>(10</a:t>
            </a:r>
            <a:r>
              <a:rPr lang="ru-RU" baseline="30000" dirty="0"/>
              <a:t>–4</a:t>
            </a:r>
            <a:r>
              <a:rPr lang="ru-RU" dirty="0"/>
              <a:t>–10</a:t>
            </a:r>
            <a:r>
              <a:rPr lang="ru-RU" baseline="30000" dirty="0"/>
              <a:t>–2</a:t>
            </a:r>
            <a:r>
              <a:rPr lang="ru-RU" dirty="0"/>
              <a:t> ср).</a:t>
            </a:r>
          </a:p>
          <a:p>
            <a:endParaRPr lang="ru-RU" dirty="0"/>
          </a:p>
        </p:txBody>
      </p:sp>
      <p:pic>
        <p:nvPicPr>
          <p:cNvPr id="8" name="Объект 7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27984" y="2276872"/>
            <a:ext cx="4464496" cy="250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54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9.2.2. Просвечивающая электронная микроскопия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087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Принцип работы ПЭМ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i="1" dirty="0"/>
              <a:t>Трансмиссионная микроскопия </a:t>
            </a:r>
            <a:r>
              <a:rPr lang="ru-RU" dirty="0"/>
              <a:t>реализуется с помощью трансмиссионных (просвечивающих) электронных микроскопов, в которых тонкопленочный объект просвечивается пучком ускоренных электронов с</a:t>
            </a:r>
            <a:br>
              <a:rPr lang="ru-RU" dirty="0"/>
            </a:br>
            <a:r>
              <a:rPr lang="ru-RU" dirty="0"/>
              <a:t>энергией 50–200 кэВ. </a:t>
            </a:r>
            <a:endParaRPr lang="ru-RU" dirty="0" smtClean="0"/>
          </a:p>
          <a:p>
            <a:r>
              <a:rPr lang="ru-RU" dirty="0" smtClean="0"/>
              <a:t>Электроны</a:t>
            </a:r>
            <a:r>
              <a:rPr lang="ru-RU" dirty="0"/>
              <a:t>, отклоненные атомами объекта на малые углы и прошедшие сквозь него с небольшими энергетическими потерями, попадают в систему магнитных линз, которые формируют </a:t>
            </a:r>
            <a:r>
              <a:rPr lang="ru-RU" dirty="0" smtClean="0"/>
              <a:t>на люминесцентном </a:t>
            </a:r>
            <a:r>
              <a:rPr lang="ru-RU" dirty="0"/>
              <a:t>экране (и на фотопленке) </a:t>
            </a:r>
            <a:r>
              <a:rPr lang="ru-RU" dirty="0" err="1"/>
              <a:t>светлопольное</a:t>
            </a:r>
            <a:r>
              <a:rPr lang="ru-RU" dirty="0"/>
              <a:t> </a:t>
            </a:r>
            <a:r>
              <a:rPr lang="ru-RU" dirty="0" smtClean="0"/>
              <a:t>изображение внутренней </a:t>
            </a:r>
            <a:r>
              <a:rPr lang="ru-RU" dirty="0"/>
              <a:t>структуры.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этом удается достичь разрешения </a:t>
            </a:r>
            <a:r>
              <a:rPr lang="ru-RU" dirty="0" smtClean="0"/>
              <a:t>порядка 0,1 </a:t>
            </a:r>
            <a:r>
              <a:rPr lang="ru-RU" dirty="0" err="1"/>
              <a:t>нм</a:t>
            </a:r>
            <a:r>
              <a:rPr lang="ru-RU" dirty="0"/>
              <a:t>, что соответствует увеличениям до 1,5·10</a:t>
            </a:r>
            <a:r>
              <a:rPr lang="ru-RU" baseline="30000" dirty="0"/>
              <a:t>6</a:t>
            </a:r>
            <a:r>
              <a:rPr lang="ru-RU" dirty="0"/>
              <a:t> раз. Рассеянные электроны задерживаются диафрагмами, от диаметра которых зависит контраст изображения.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875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Виды изображений в ПЭМ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В просвечивающем электронном микроскопе применяют два основных вида съемки:</a:t>
            </a:r>
          </a:p>
          <a:p>
            <a:r>
              <a:rPr lang="ru-RU" i="1" dirty="0" err="1"/>
              <a:t>светлопольное</a:t>
            </a:r>
            <a:r>
              <a:rPr lang="ru-RU" i="1" dirty="0"/>
              <a:t> изображение</a:t>
            </a:r>
            <a:r>
              <a:rPr lang="ru-RU" dirty="0"/>
              <a:t>, отображающее морфологию исследуемого объекта и формируемое центральным пучком </a:t>
            </a:r>
            <a:r>
              <a:rPr lang="ru-RU" dirty="0" err="1" smtClean="0"/>
              <a:t>прошедшихэлектронов</a:t>
            </a:r>
            <a:r>
              <a:rPr lang="ru-RU" dirty="0" smtClean="0"/>
              <a:t> </a:t>
            </a:r>
            <a:r>
              <a:rPr lang="ru-RU" dirty="0"/>
              <a:t>(рис. </a:t>
            </a:r>
            <a:r>
              <a:rPr lang="ru-RU" i="1" dirty="0" smtClean="0"/>
              <a:t>а</a:t>
            </a:r>
            <a:r>
              <a:rPr lang="ru-RU" dirty="0"/>
              <a:t>);</a:t>
            </a:r>
          </a:p>
          <a:p>
            <a:r>
              <a:rPr lang="ru-RU" i="1" dirty="0" err="1"/>
              <a:t>темнопольное</a:t>
            </a:r>
            <a:r>
              <a:rPr lang="ru-RU" i="1" dirty="0"/>
              <a:t> изображение</a:t>
            </a:r>
            <a:r>
              <a:rPr lang="ru-RU" dirty="0"/>
              <a:t>. В этом случае изображение формируется не центральным пучком, а одним или несколькими дифракционными пучками. На изображении светятся только те области кристалла, которые рассеивают электроны в данном дифракционном направлении. Обычно такое изображение имеет низкое разрешение, но оно очень информативно, поскольку позволяет качественно оценить в анализируемом образце наличие и размеры закристаллизованных областей с одинаковыми параметрами кристаллической решетки (размер кристаллитов) (рис. </a:t>
            </a:r>
            <a:r>
              <a:rPr lang="ru-RU" i="1" dirty="0" smtClean="0"/>
              <a:t>б</a:t>
            </a:r>
            <a:r>
              <a:rPr lang="ru-RU" dirty="0"/>
              <a:t>)</a:t>
            </a:r>
            <a:r>
              <a:rPr lang="ru-RU" i="1" dirty="0"/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8793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Микрофотографии частиц </a:t>
            </a:r>
            <a:r>
              <a:rPr lang="ru-RU" b="1" dirty="0" smtClean="0"/>
              <a:t>                у-</a:t>
            </a:r>
            <a:r>
              <a:rPr lang="ru-RU" b="1" dirty="0" err="1" smtClean="0"/>
              <a:t>FeООН</a:t>
            </a:r>
            <a:r>
              <a:rPr lang="ru-RU" b="1" dirty="0"/>
              <a:t>, полученные на </a:t>
            </a:r>
            <a:r>
              <a:rPr lang="ru-RU" b="1" dirty="0" smtClean="0"/>
              <a:t>ПЭМ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ru-RU" i="1" dirty="0" smtClean="0"/>
          </a:p>
          <a:p>
            <a:endParaRPr lang="ru-RU" i="1" dirty="0"/>
          </a:p>
          <a:p>
            <a:endParaRPr lang="ru-RU" i="1" dirty="0" smtClean="0"/>
          </a:p>
          <a:p>
            <a:endParaRPr lang="ru-RU" i="1" dirty="0"/>
          </a:p>
          <a:p>
            <a:endParaRPr lang="ru-RU" i="1" dirty="0" smtClean="0"/>
          </a:p>
          <a:p>
            <a:endParaRPr lang="ru-RU" i="1" dirty="0"/>
          </a:p>
          <a:p>
            <a:endParaRPr lang="ru-RU" i="1" dirty="0" smtClean="0"/>
          </a:p>
          <a:p>
            <a:r>
              <a:rPr lang="ru-RU" i="1" dirty="0" smtClean="0"/>
              <a:t>Фото </a:t>
            </a:r>
            <a:r>
              <a:rPr lang="ru-RU" i="1" dirty="0" err="1" smtClean="0"/>
              <a:t>полученыв</a:t>
            </a:r>
            <a:r>
              <a:rPr lang="ru-RU" i="1" dirty="0" smtClean="0"/>
              <a:t> </a:t>
            </a:r>
            <a:r>
              <a:rPr lang="ru-RU" i="1" dirty="0"/>
              <a:t>режимах светлого (а) и темного (6) полей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99592" y="2132856"/>
            <a:ext cx="6912768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44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Применение ПЭМ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При изучении </a:t>
            </a:r>
            <a:r>
              <a:rPr lang="ru-RU" dirty="0" err="1"/>
              <a:t>сильнорассеивающих</a:t>
            </a:r>
            <a:r>
              <a:rPr lang="ru-RU" dirty="0"/>
              <a:t> объектов более информативны</a:t>
            </a:r>
            <a:br>
              <a:rPr lang="ru-RU" dirty="0"/>
            </a:br>
            <a:r>
              <a:rPr lang="ru-RU" dirty="0" err="1"/>
              <a:t>темнопольные</a:t>
            </a:r>
            <a:r>
              <a:rPr lang="ru-RU" dirty="0"/>
              <a:t> изображения. ПЭМ работает с тонкими объектами на просвет. </a:t>
            </a:r>
            <a:endParaRPr lang="ru-RU" dirty="0" smtClean="0"/>
          </a:p>
          <a:p>
            <a:r>
              <a:rPr lang="ru-RU" dirty="0" smtClean="0"/>
              <a:t>С </a:t>
            </a:r>
            <a:r>
              <a:rPr lang="ru-RU" dirty="0"/>
              <a:t>толстыми объектами работа производится на растровых (сканирующих) электронных микроскопах, или с исследуемого массивного образца снимается тонкая реплика для исследования ее в просвечивающем электронном микроскопе.</a:t>
            </a:r>
          </a:p>
          <a:p>
            <a:r>
              <a:rPr lang="ru-RU" dirty="0"/>
              <a:t>Для получения информации о структуре исследуемых образцов на</a:t>
            </a:r>
            <a:br>
              <a:rPr lang="ru-RU" dirty="0"/>
            </a:br>
            <a:r>
              <a:rPr lang="ru-RU" dirty="0"/>
              <a:t>уровне атомного разрешения используют </a:t>
            </a:r>
            <a:r>
              <a:rPr lang="ru-RU" i="1" dirty="0"/>
              <a:t>просвечивающую электронную микроскопию высокого разрешения. </a:t>
            </a:r>
            <a:r>
              <a:rPr lang="ru-RU" dirty="0"/>
              <a:t>Данный метод является </a:t>
            </a:r>
            <a:r>
              <a:rPr lang="ru-RU" dirty="0" smtClean="0"/>
              <a:t>очень эффективным </a:t>
            </a:r>
            <a:r>
              <a:rPr lang="ru-RU" dirty="0"/>
              <a:t>для определения строения </a:t>
            </a:r>
            <a:r>
              <a:rPr lang="ru-RU" dirty="0" err="1"/>
              <a:t>наночастиц</a:t>
            </a:r>
            <a:r>
              <a:rPr lang="ru-RU" dirty="0"/>
              <a:t> (</a:t>
            </a:r>
            <a:r>
              <a:rPr lang="ru-RU" dirty="0" smtClean="0"/>
              <a:t>обнаружения микродефектов</a:t>
            </a:r>
            <a:r>
              <a:rPr lang="ru-RU" dirty="0"/>
              <a:t>, границ </a:t>
            </a:r>
            <a:r>
              <a:rPr lang="ru-RU" dirty="0" err="1"/>
              <a:t>псевдоморфного</a:t>
            </a:r>
            <a:r>
              <a:rPr lang="ru-RU" dirty="0"/>
              <a:t> сопряжения нескольких кристаллических модификаций в объеме одной </a:t>
            </a:r>
            <a:r>
              <a:rPr lang="ru-RU" dirty="0" err="1"/>
              <a:t>наночастицы</a:t>
            </a:r>
            <a:r>
              <a:rPr lang="ru-RU" dirty="0"/>
              <a:t> и т. д</a:t>
            </a:r>
            <a:r>
              <a:rPr lang="ru-RU" dirty="0" smtClean="0"/>
              <a:t>.).</a:t>
            </a:r>
          </a:p>
          <a:p>
            <a:r>
              <a:rPr lang="ru-RU" dirty="0" smtClean="0"/>
              <a:t>Просвечивающая </a:t>
            </a:r>
            <a:r>
              <a:rPr lang="ru-RU" dirty="0"/>
              <a:t>электронная микроскопия дает возможность получить в одном эксперименте изображения с высоким разрешением </a:t>
            </a:r>
            <a:r>
              <a:rPr lang="ru-RU" dirty="0" smtClean="0"/>
              <a:t>и </a:t>
            </a:r>
            <a:r>
              <a:rPr lang="ru-RU" dirty="0" err="1" smtClean="0"/>
              <a:t>микродифракционные</a:t>
            </a:r>
            <a:r>
              <a:rPr lang="ru-RU" dirty="0" smtClean="0"/>
              <a:t> </a:t>
            </a:r>
            <a:r>
              <a:rPr lang="ru-RU" dirty="0"/>
              <a:t>картины одного и того же участка образца. </a:t>
            </a:r>
          </a:p>
        </p:txBody>
      </p:sp>
    </p:spTree>
    <p:extLst>
      <p:ext uri="{BB962C8B-B14F-4D97-AF65-F5344CB8AC3E}">
        <p14:creationId xmlns:p14="http://schemas.microsoft.com/office/powerpoint/2010/main" val="2294648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Разрешение ПЭМ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Современные просвечивающие электронные микроскопы </a:t>
            </a:r>
            <a:r>
              <a:rPr lang="ru-RU" dirty="0" smtClean="0"/>
              <a:t>обеспечивают разрешение </a:t>
            </a:r>
            <a:r>
              <a:rPr lang="ru-RU" dirty="0"/>
              <a:t>до 0,1 </a:t>
            </a:r>
            <a:r>
              <a:rPr lang="ru-RU" dirty="0" err="1"/>
              <a:t>нм</a:t>
            </a:r>
            <a:r>
              <a:rPr lang="ru-RU" dirty="0"/>
              <a:t> и размер участка, с которого снимается </a:t>
            </a:r>
            <a:r>
              <a:rPr lang="ru-RU" dirty="0" err="1"/>
              <a:t>микродифракционная</a:t>
            </a:r>
            <a:r>
              <a:rPr lang="ru-RU" dirty="0"/>
              <a:t> картина, до 50 </a:t>
            </a:r>
            <a:r>
              <a:rPr lang="ru-RU" dirty="0" err="1"/>
              <a:t>нм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связи с этим стали иногда употреблять термин «просвечивающая электронная микроскопия высокого разрешения». </a:t>
            </a:r>
            <a:endParaRPr lang="ru-RU" dirty="0" smtClean="0"/>
          </a:p>
          <a:p>
            <a:r>
              <a:rPr lang="ru-RU" dirty="0" smtClean="0"/>
              <a:t>По </a:t>
            </a:r>
            <a:r>
              <a:rPr lang="ru-RU" dirty="0"/>
              <a:t>полученному изображению можно судить о строении материала, а по дифракционной картине – о типе кристаллической решетки.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9411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Аппаратура метода ПЭМ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проведения исследований методом ПЭМ используют просвечивающие электронные микроскопы, представляющие собой высоковакуумные высоковольтные устройства, позволяющие определять размер, форму и строение вещества путем анализа углового распределения</a:t>
            </a:r>
            <a:br>
              <a:rPr lang="ru-RU" dirty="0"/>
            </a:br>
            <a:r>
              <a:rPr lang="ru-RU" dirty="0"/>
              <a:t>электронов, прошедших через образец.</a:t>
            </a:r>
          </a:p>
        </p:txBody>
      </p:sp>
    </p:spTree>
    <p:extLst>
      <p:ext uri="{BB962C8B-B14F-4D97-AF65-F5344CB8AC3E}">
        <p14:creationId xmlns:p14="http://schemas.microsoft.com/office/powerpoint/2010/main" val="405780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Общий вид колонны ПЭМ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3995936" y="1052736"/>
            <a:ext cx="4896544" cy="554461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1 – высоковольтный кабель; 2 – электронная пушка; 3 – катодный узел; 4 – управляющий электрод; 5 – анод; 6 – первая </a:t>
            </a:r>
            <a:r>
              <a:rPr lang="ru-RU" dirty="0" err="1"/>
              <a:t>конденсорная</a:t>
            </a:r>
            <a:r>
              <a:rPr lang="ru-RU" dirty="0"/>
              <a:t> линза; 7 – вторая </a:t>
            </a:r>
            <a:r>
              <a:rPr lang="ru-RU" dirty="0" err="1"/>
              <a:t>конденсорная</a:t>
            </a:r>
            <a:r>
              <a:rPr lang="ru-RU" dirty="0"/>
              <a:t> линза; 8 – отклоняющая система юстировки осветителя; 9 – камера образцов; 10 – апертурная диафрагма объектива; 11 – объективная линза; 12 – полевая диафрагма; 13 – промежуточная линза; 14 – дифракционная камера; 15 – проекционная линза; 16 – микроскоп;17 – камера наблюдения; 18 – катодолюминесцентный экран</a:t>
            </a:r>
          </a:p>
          <a:p>
            <a:endParaRPr lang="ru-RU" dirty="0"/>
          </a:p>
        </p:txBody>
      </p:sp>
      <p:pic>
        <p:nvPicPr>
          <p:cNvPr id="7" name="Объект 6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27584" y="764704"/>
            <a:ext cx="288032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48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/>
              <a:t>Устройство электронной пушки ПЭМ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597666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Просвечивающий электронный микроскоп </a:t>
            </a:r>
            <a:r>
              <a:rPr lang="ru-RU" dirty="0" smtClean="0"/>
              <a:t> </a:t>
            </a:r>
            <a:r>
              <a:rPr lang="ru-RU" dirty="0"/>
              <a:t>состоит из</a:t>
            </a:r>
            <a:br>
              <a:rPr lang="ru-RU" dirty="0"/>
            </a:br>
            <a:r>
              <a:rPr lang="ru-RU" dirty="0"/>
              <a:t>электронной пушки и системы магнитных линз, одни из которых </a:t>
            </a:r>
            <a:r>
              <a:rPr lang="ru-RU" dirty="0" smtClean="0"/>
              <a:t>служат для </a:t>
            </a:r>
            <a:r>
              <a:rPr lang="ru-RU" dirty="0"/>
              <a:t>создания освещающего пучка с небольшой расходимостью, а </a:t>
            </a:r>
            <a:r>
              <a:rPr lang="ru-RU" dirty="0" smtClean="0"/>
              <a:t>другие – </a:t>
            </a:r>
            <a:r>
              <a:rPr lang="ru-RU" dirty="0"/>
              <a:t>для создания увеличенного изображения.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вертикально расположенной колонне поддерживается вакуум 10</a:t>
            </a:r>
            <a:r>
              <a:rPr lang="ru-RU" baseline="30000" dirty="0"/>
              <a:t>-2</a:t>
            </a:r>
            <a:r>
              <a:rPr lang="ru-RU" dirty="0"/>
              <a:t>–10</a:t>
            </a:r>
            <a:r>
              <a:rPr lang="ru-RU" baseline="30000" dirty="0"/>
              <a:t>-3</a:t>
            </a:r>
            <a:r>
              <a:rPr lang="ru-RU" dirty="0"/>
              <a:t> Па. Для получения электронного пучка используют явление термоэлектронной эмиссии. Источником электронов является тонкая вольфрамовая нить диаметром 0,1 мм V-образного изгиба. Нить нагревается переменным током до температуры 2700 °С и становится источником электронов. </a:t>
            </a:r>
            <a:endParaRPr lang="ru-RU" dirty="0" smtClean="0"/>
          </a:p>
          <a:p>
            <a:r>
              <a:rPr lang="ru-RU" dirty="0" smtClean="0"/>
              <a:t>Система</a:t>
            </a:r>
            <a:r>
              <a:rPr lang="ru-RU" dirty="0"/>
              <a:t>, образованная катодом, анодом и нитью накала называется </a:t>
            </a:r>
            <a:r>
              <a:rPr lang="ru-RU" i="1" dirty="0"/>
              <a:t>электронной пушкой</a:t>
            </a:r>
            <a:r>
              <a:rPr lang="ru-RU" dirty="0"/>
              <a:t>. Ток электронного пучка зависит от температуры нити. </a:t>
            </a:r>
            <a:endParaRPr lang="ru-RU" dirty="0" smtClean="0"/>
          </a:p>
          <a:p>
            <a:r>
              <a:rPr lang="ru-RU" dirty="0" smtClean="0"/>
              <a:t>Выходя </a:t>
            </a:r>
            <a:r>
              <a:rPr lang="ru-RU" dirty="0"/>
              <a:t>из электронной пушки, пучок попадает в поле </a:t>
            </a:r>
            <a:r>
              <a:rPr lang="ru-RU" dirty="0" err="1"/>
              <a:t>конденсорной</a:t>
            </a:r>
            <a:r>
              <a:rPr lang="ru-RU" dirty="0"/>
              <a:t> линзы, которая его фокусирует и направляет на образец.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3697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Система фокусировки пучка электронов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600200"/>
            <a:ext cx="8712968" cy="499715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Объективная линза служит для первоначального увеличения изображения. Это очень важная часть микроскопа, так как любые дефекты</a:t>
            </a:r>
            <a:br>
              <a:rPr lang="ru-RU" dirty="0"/>
            </a:br>
            <a:r>
              <a:rPr lang="ru-RU" dirty="0"/>
              <a:t>изображения, появившиеся в объективной линзе, дают большие искажения всего изображения в целом. Для получения большого увеличения</a:t>
            </a:r>
            <a:br>
              <a:rPr lang="ru-RU" dirty="0"/>
            </a:br>
            <a:r>
              <a:rPr lang="ru-RU" dirty="0"/>
              <a:t>фокусное расстояние объективной линзы должно быть как можно короче. Для этого поле должно быть как можно сильнее и ограничено в пространстве. Увеличение поля достигается путем увеличения числа витков. </a:t>
            </a:r>
          </a:p>
          <a:p>
            <a:r>
              <a:rPr lang="ru-RU" dirty="0"/>
              <a:t>Для уменьшения протяженности поля используют оболочку – </a:t>
            </a:r>
            <a:r>
              <a:rPr lang="ru-RU" dirty="0" err="1"/>
              <a:t>магнитопровод</a:t>
            </a:r>
            <a:r>
              <a:rPr lang="ru-RU" dirty="0"/>
              <a:t> для катушки из </a:t>
            </a:r>
            <a:r>
              <a:rPr lang="ru-RU" dirty="0" err="1"/>
              <a:t>ферромагнитного</a:t>
            </a:r>
            <a:r>
              <a:rPr lang="ru-RU" dirty="0"/>
              <a:t> </a:t>
            </a:r>
            <a:r>
              <a:rPr lang="ru-RU" dirty="0" smtClean="0"/>
              <a:t> материала</a:t>
            </a:r>
            <a:r>
              <a:rPr lang="ru-RU" dirty="0"/>
              <a:t>. Внутри располагают полюсные наконечники с малым зазором между полюсами и </a:t>
            </a:r>
            <a:r>
              <a:rPr lang="ru-RU" dirty="0" smtClean="0"/>
              <a:t>с отверстием </a:t>
            </a:r>
            <a:r>
              <a:rPr lang="ru-RU" dirty="0"/>
              <a:t>диаметром 4–6 мм для прохода электронов и </a:t>
            </a:r>
            <a:r>
              <a:rPr lang="ru-RU" dirty="0" smtClean="0"/>
              <a:t>размещения образца</a:t>
            </a:r>
            <a:r>
              <a:rPr lang="ru-RU" dirty="0"/>
              <a:t>. Этим достигается интенсивное поле в малом объеме. </a:t>
            </a:r>
            <a:endParaRPr lang="ru-RU" dirty="0" smtClean="0"/>
          </a:p>
          <a:p>
            <a:r>
              <a:rPr lang="ru-RU" dirty="0" smtClean="0"/>
              <a:t>Так </a:t>
            </a:r>
            <a:r>
              <a:rPr lang="ru-RU" dirty="0"/>
              <a:t>как в обмотке большое число витков и сильный ток, то система подвергается нагреву, следовательно, ток через катушку может изменяться со временем. Этого избегают, применяя водяное охлаждение и электронную стабилизацию тока в линзах</a:t>
            </a:r>
            <a:r>
              <a:rPr lang="ru-RU" dirty="0" smtClean="0"/>
              <a:t>. Объект </a:t>
            </a:r>
            <a:r>
              <a:rPr lang="ru-RU" dirty="0"/>
              <a:t>располагается в непосредственной близости от фокальной плоскости линзы.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1158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Получение изображения в ПЭМ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Проходя через образец, электронный пучок рассеивается, отклоняясь от тяжелых атомов и поглощаясь более </a:t>
            </a:r>
            <a:r>
              <a:rPr lang="ru-RU" dirty="0" smtClean="0"/>
              <a:t>толстыми участками</a:t>
            </a:r>
            <a:r>
              <a:rPr lang="ru-RU" dirty="0"/>
              <a:t>. Для повышения контраста изображения в задней </a:t>
            </a:r>
            <a:r>
              <a:rPr lang="ru-RU" dirty="0" smtClean="0"/>
              <a:t>фокальной плоскости </a:t>
            </a:r>
            <a:r>
              <a:rPr lang="ru-RU" dirty="0"/>
              <a:t>объективной линзы (плоскость первичного </a:t>
            </a:r>
            <a:r>
              <a:rPr lang="ru-RU" dirty="0" smtClean="0"/>
              <a:t>дифракционного изображения</a:t>
            </a:r>
            <a:r>
              <a:rPr lang="ru-RU" dirty="0"/>
              <a:t>) устанавливается аппретурная диафрагма, которая обрезает электроны, рассеянные на структурах с пространственными периодами меньшими тех, изображение которых хотят получить. </a:t>
            </a:r>
            <a:endParaRPr lang="ru-RU" dirty="0" smtClean="0"/>
          </a:p>
          <a:p>
            <a:r>
              <a:rPr lang="ru-RU" dirty="0" smtClean="0"/>
              <a:t>Аппретурная </a:t>
            </a:r>
            <a:r>
              <a:rPr lang="ru-RU" dirty="0"/>
              <a:t>диафрагма позволяет выбирать из всех электронов, прошедших </a:t>
            </a:r>
            <a:r>
              <a:rPr lang="ru-RU" dirty="0" smtClean="0"/>
              <a:t>через образец</a:t>
            </a:r>
            <a:r>
              <a:rPr lang="ru-RU" dirty="0"/>
              <a:t>, либо только сильно рассеянные электроны, либо </a:t>
            </a:r>
            <a:r>
              <a:rPr lang="ru-RU" dirty="0" smtClean="0"/>
              <a:t>нерассеянные или </a:t>
            </a:r>
            <a:r>
              <a:rPr lang="ru-RU" dirty="0" err="1"/>
              <a:t>слаборассеянные</a:t>
            </a:r>
            <a:r>
              <a:rPr lang="ru-RU" dirty="0"/>
              <a:t> электроны.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первом случае на полученном изображении более светлыми будут выглядеть участки, </a:t>
            </a:r>
            <a:r>
              <a:rPr lang="ru-RU" dirty="0" smtClean="0"/>
              <a:t>соответствующие участкам </a:t>
            </a:r>
            <a:r>
              <a:rPr lang="ru-RU" dirty="0"/>
              <a:t>образца с большей рассеивающей способностью (</a:t>
            </a:r>
            <a:r>
              <a:rPr lang="ru-RU" dirty="0" err="1"/>
              <a:t>темнопольное</a:t>
            </a:r>
            <a:r>
              <a:rPr lang="ru-RU" dirty="0"/>
              <a:t> изображение), а во втором – наоборот (</a:t>
            </a:r>
            <a:r>
              <a:rPr lang="ru-RU" dirty="0" err="1"/>
              <a:t>светлопольное</a:t>
            </a:r>
            <a:r>
              <a:rPr lang="ru-RU" dirty="0"/>
              <a:t> изображение</a:t>
            </a:r>
            <a:r>
              <a:rPr lang="ru-RU" dirty="0" smtClean="0"/>
              <a:t>).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42544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Фиксация изображений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Фиксация изображения на ранее выпущенных микроскопах осуществлялась на фотопленку или фотопластинки. 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современных микроскопах используются цифровые фото- и видеокамеры.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300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Получение картин дифракции  (</a:t>
            </a:r>
            <a:r>
              <a:rPr lang="ru-RU" b="1" dirty="0" err="1" smtClean="0"/>
              <a:t>электронограмм</a:t>
            </a:r>
            <a:r>
              <a:rPr lang="ru-RU" b="1" dirty="0" smtClean="0"/>
              <a:t>) на ПЭМ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412776"/>
            <a:ext cx="8712968" cy="532859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Разрешение электронного микроскопа достигает 0,1 </a:t>
            </a:r>
            <a:r>
              <a:rPr lang="ru-RU" dirty="0" err="1"/>
              <a:t>нм</a:t>
            </a:r>
            <a:r>
              <a:rPr lang="ru-RU" dirty="0"/>
              <a:t>. Длина волны электронов в ПЭМ при энергии электронов 100 кэВ достигает 0,0037 </a:t>
            </a:r>
            <a:r>
              <a:rPr lang="ru-RU" dirty="0" err="1"/>
              <a:t>нм</a:t>
            </a:r>
            <a:r>
              <a:rPr lang="ru-RU" dirty="0"/>
              <a:t>. Поэтому с помощью просвечивающего электронного микроскопа можно получать картины дифракции электронов – </a:t>
            </a:r>
            <a:r>
              <a:rPr lang="ru-RU" i="1" dirty="0" err="1"/>
              <a:t>электронограммы</a:t>
            </a:r>
            <a:r>
              <a:rPr lang="ru-RU" dirty="0"/>
              <a:t>, используемые для идентификации фаз при проведении качественного фазового анализа. </a:t>
            </a:r>
            <a:endParaRPr lang="ru-RU" dirty="0" smtClean="0"/>
          </a:p>
          <a:p>
            <a:r>
              <a:rPr lang="ru-RU" dirty="0" smtClean="0"/>
              <a:t>C </a:t>
            </a:r>
            <a:r>
              <a:rPr lang="ru-RU" dirty="0"/>
              <a:t>уменьшением длины волны возрастает разрешающая способность оптической системы ПЭМ. Рост ускоряющего напряжения также приводит к возрастанию проникающей способности электронов. </a:t>
            </a:r>
            <a:r>
              <a:rPr lang="ru-RU" dirty="0" smtClean="0"/>
              <a:t>На </a:t>
            </a:r>
            <a:r>
              <a:rPr lang="ru-RU" dirty="0"/>
              <a:t>микроскопах с напряжением 1000 и более </a:t>
            </a:r>
            <a:r>
              <a:rPr lang="ru-RU" dirty="0" err="1"/>
              <a:t>кВ</a:t>
            </a:r>
            <a:r>
              <a:rPr lang="ru-RU" dirty="0"/>
              <a:t> возможно изучение образцов толщиной до 5–10 мкм.</a:t>
            </a:r>
          </a:p>
          <a:p>
            <a:r>
              <a:rPr lang="ru-RU" dirty="0"/>
              <a:t>Быстрый переход от ПЭМ изображения к </a:t>
            </a:r>
            <a:r>
              <a:rPr lang="ru-RU" dirty="0" smtClean="0"/>
              <a:t> </a:t>
            </a:r>
            <a:r>
              <a:rPr lang="ru-RU" dirty="0" err="1" smtClean="0"/>
              <a:t>микродифракционным</a:t>
            </a:r>
            <a:r>
              <a:rPr lang="ru-RU" dirty="0" smtClean="0"/>
              <a:t> картинам </a:t>
            </a:r>
            <a:r>
              <a:rPr lang="ru-RU" dirty="0"/>
              <a:t>(</a:t>
            </a:r>
            <a:r>
              <a:rPr lang="ru-RU" dirty="0" err="1"/>
              <a:t>электронограммам</a:t>
            </a:r>
            <a:r>
              <a:rPr lang="ru-RU" dirty="0"/>
              <a:t>) традиционно является сильной </a:t>
            </a:r>
            <a:r>
              <a:rPr lang="ru-RU" dirty="0" smtClean="0"/>
              <a:t>стороной ПЭМ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45481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err="1" smtClean="0"/>
              <a:t>Микродифракционные</a:t>
            </a:r>
            <a:r>
              <a:rPr lang="ru-RU" sz="3600" b="1" dirty="0" smtClean="0"/>
              <a:t> исследования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Для </a:t>
            </a:r>
            <a:r>
              <a:rPr lang="ru-RU" dirty="0" err="1"/>
              <a:t>микродифракционных</a:t>
            </a:r>
            <a:r>
              <a:rPr lang="ru-RU" dirty="0"/>
              <a:t> исследований в состав микроскопа включают подвижную селекторную диафрагму, которая в этом случае заменяет аппретурную. </a:t>
            </a:r>
            <a:endParaRPr lang="ru-RU" dirty="0" smtClean="0"/>
          </a:p>
          <a:p>
            <a:r>
              <a:rPr lang="ru-RU" dirty="0" smtClean="0"/>
              <a:t>Проекционная </a:t>
            </a:r>
            <a:r>
              <a:rPr lang="ru-RU" dirty="0"/>
              <a:t>линза служит для дальнейшего увеличения изображения объекта и получения его конечного изображения на экране микроскопа и на </a:t>
            </a:r>
            <a:r>
              <a:rPr lang="ru-RU" dirty="0" smtClean="0"/>
              <a:t>фотоснимке. </a:t>
            </a:r>
          </a:p>
          <a:p>
            <a:r>
              <a:rPr lang="ru-RU" dirty="0" smtClean="0"/>
              <a:t>Для </a:t>
            </a:r>
            <a:r>
              <a:rPr lang="ru-RU" dirty="0"/>
              <a:t>плавного изменения увеличения и получения большего увеличения между объективной и проекционной линзами ставят промежуточную линзу.</a:t>
            </a:r>
          </a:p>
        </p:txBody>
      </p:sp>
    </p:spTree>
    <p:extLst>
      <p:ext uri="{BB962C8B-B14F-4D97-AF65-F5344CB8AC3E}">
        <p14:creationId xmlns:p14="http://schemas.microsoft.com/office/powerpoint/2010/main" val="18900510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Разновидности метода ПЭМ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Существует три разновидности метода просвечивающей электронной </a:t>
            </a:r>
            <a:r>
              <a:rPr lang="ru-RU" dirty="0" smtClean="0"/>
              <a:t> микроскопии</a:t>
            </a:r>
            <a:r>
              <a:rPr lang="ru-RU" dirty="0"/>
              <a:t>: </a:t>
            </a:r>
            <a:endParaRPr lang="ru-RU" dirty="0" smtClean="0"/>
          </a:p>
          <a:p>
            <a:r>
              <a:rPr lang="ru-RU" dirty="0" smtClean="0"/>
              <a:t>- прямой</a:t>
            </a:r>
            <a:r>
              <a:rPr lang="ru-RU" dirty="0"/>
              <a:t>, </a:t>
            </a:r>
            <a:endParaRPr lang="ru-RU" dirty="0" smtClean="0"/>
          </a:p>
          <a:p>
            <a:r>
              <a:rPr lang="ru-RU" dirty="0" smtClean="0"/>
              <a:t>- полупрямой, </a:t>
            </a:r>
          </a:p>
          <a:p>
            <a:r>
              <a:rPr lang="ru-RU" dirty="0" smtClean="0"/>
              <a:t>- </a:t>
            </a:r>
            <a:r>
              <a:rPr lang="ru-RU" dirty="0"/>
              <a:t>косвенный.</a:t>
            </a:r>
          </a:p>
        </p:txBody>
      </p:sp>
    </p:spTree>
    <p:extLst>
      <p:ext uri="{BB962C8B-B14F-4D97-AF65-F5344CB8AC3E}">
        <p14:creationId xmlns:p14="http://schemas.microsoft.com/office/powerpoint/2010/main" val="154515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Прямой метод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36712"/>
            <a:ext cx="8856984" cy="5832648"/>
          </a:xfrm>
        </p:spPr>
        <p:txBody>
          <a:bodyPr>
            <a:normAutofit fontScale="62500" lnSpcReduction="20000"/>
          </a:bodyPr>
          <a:lstStyle/>
          <a:p>
            <a:r>
              <a:rPr lang="ru-RU" i="1" dirty="0"/>
              <a:t>Прямой метод </a:t>
            </a:r>
            <a:r>
              <a:rPr lang="ru-RU" dirty="0"/>
              <a:t>дает наиболее полную информацию о структуре</a:t>
            </a:r>
            <a:br>
              <a:rPr lang="ru-RU" dirty="0"/>
            </a:br>
            <a:r>
              <a:rPr lang="ru-RU" dirty="0"/>
              <a:t>объекта, которым служит тонкая металлическая пленка (фольга), прозрачная или полупрозрачная, для электронов.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исследованиях по этому методу удается различать отдельные дислокации и их скопления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Иногда микроскопы снабжают </a:t>
            </a:r>
            <a:r>
              <a:rPr lang="ru-RU" dirty="0" smtClean="0"/>
              <a:t>специальными приставками</a:t>
            </a:r>
            <a:r>
              <a:rPr lang="ru-RU" dirty="0"/>
              <a:t>. Например, при использовании приставки, </a:t>
            </a:r>
            <a:r>
              <a:rPr lang="ru-RU" dirty="0" smtClean="0"/>
              <a:t>позволяющей растягивать </a:t>
            </a:r>
            <a:r>
              <a:rPr lang="ru-RU" dirty="0"/>
              <a:t>фольгу в колонне микроскопа, можно </a:t>
            </a:r>
            <a:r>
              <a:rPr lang="ru-RU" dirty="0" smtClean="0"/>
              <a:t>непосредственно наблюдать </a:t>
            </a:r>
            <a:r>
              <a:rPr lang="ru-RU" dirty="0"/>
              <a:t>эволюцию дислокационной структуры при деформации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При </a:t>
            </a:r>
            <a:r>
              <a:rPr lang="ru-RU" dirty="0"/>
              <a:t>исследовании этим методом можно проводить и </a:t>
            </a:r>
            <a:r>
              <a:rPr lang="ru-RU" dirty="0" err="1"/>
              <a:t>микродифракционный</a:t>
            </a:r>
            <a:r>
              <a:rPr lang="ru-RU" dirty="0"/>
              <a:t> анализ. В зависимости от состава материала в зоне изучения получают диаграммы в виде точек (монокристаллы, или поликристаллы с зерном больше зоны исследования), сплошные или </a:t>
            </a:r>
            <a:r>
              <a:rPr lang="ru-RU" dirty="0" smtClean="0"/>
              <a:t>состоящие из </a:t>
            </a:r>
            <a:r>
              <a:rPr lang="ru-RU" dirty="0"/>
              <a:t>отдельных рефлексов (очень мелкие кристаллики в зернах или несколько малых зерен). Расчет этих диаграмм аналогичен расчету рентгеновских </a:t>
            </a:r>
            <a:r>
              <a:rPr lang="ru-RU" dirty="0" err="1"/>
              <a:t>дебаеграмм</a:t>
            </a:r>
            <a:r>
              <a:rPr lang="ru-RU" dirty="0"/>
              <a:t>.</a:t>
            </a:r>
          </a:p>
          <a:p>
            <a:r>
              <a:rPr lang="ru-RU" dirty="0"/>
              <a:t>С помощью </a:t>
            </a:r>
            <a:r>
              <a:rPr lang="ru-RU" dirty="0" err="1"/>
              <a:t>микродифракционного</a:t>
            </a:r>
            <a:r>
              <a:rPr lang="ru-RU" dirty="0"/>
              <a:t> анализа можно также определять ориентировки кристаллов и </a:t>
            </a:r>
            <a:r>
              <a:rPr lang="ru-RU" dirty="0" err="1"/>
              <a:t>разориентировки</a:t>
            </a:r>
            <a:r>
              <a:rPr lang="ru-RU" dirty="0"/>
              <a:t> зерен и </a:t>
            </a:r>
            <a:r>
              <a:rPr lang="ru-RU" dirty="0" err="1"/>
              <a:t>субзерен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Просвечивающие </a:t>
            </a:r>
            <a:r>
              <a:rPr lang="ru-RU" dirty="0"/>
              <a:t>электронные микроскопы с очень узким лучом позволяют по спектру энергетических потерь электронов, прошедших через</a:t>
            </a:r>
            <a:br>
              <a:rPr lang="ru-RU" dirty="0"/>
            </a:br>
            <a:r>
              <a:rPr lang="ru-RU" dirty="0"/>
              <a:t>изучаемый объект, проводить локальный химический анализ материала,</a:t>
            </a:r>
            <a:br>
              <a:rPr lang="ru-RU" dirty="0"/>
            </a:br>
            <a:r>
              <a:rPr lang="ru-RU" dirty="0"/>
              <a:t>в том числе анализ на легкие элементы (бор, углерод, кислород, азот).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45809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Косвенный метод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62500" lnSpcReduction="20000"/>
          </a:bodyPr>
          <a:lstStyle/>
          <a:p>
            <a:r>
              <a:rPr lang="ru-RU" i="1" dirty="0"/>
              <a:t>Косвенный метод </a:t>
            </a:r>
            <a:r>
              <a:rPr lang="ru-RU" dirty="0"/>
              <a:t>связан с исследованием не самого материала, а</a:t>
            </a:r>
            <a:br>
              <a:rPr lang="ru-RU" dirty="0"/>
            </a:br>
            <a:r>
              <a:rPr lang="ru-RU" dirty="0"/>
              <a:t>тонких реплик, получаемых с поверхности образца. В методическом</a:t>
            </a:r>
            <a:br>
              <a:rPr lang="ru-RU" dirty="0"/>
            </a:br>
            <a:r>
              <a:rPr lang="ru-RU" dirty="0"/>
              <a:t>плане он наиболее простой, так как изготовление фольг является сложным и достаточно длительным процессом. Изготовление реплик значительно проще. Его проводят либо путем напыления в вакууме на поверхность образца пленки углерода, кварца, титана и т. д., которую</a:t>
            </a:r>
            <a:br>
              <a:rPr lang="ru-RU" dirty="0"/>
            </a:br>
            <a:r>
              <a:rPr lang="ru-RU" dirty="0"/>
              <a:t>можно потом отделить от образца, либо используют легко </a:t>
            </a:r>
            <a:r>
              <a:rPr lang="ru-RU" dirty="0" smtClean="0"/>
              <a:t>отделяемые оксидные </a:t>
            </a:r>
            <a:r>
              <a:rPr lang="ru-RU" dirty="0"/>
              <a:t>пленки (например для меди), получаемые </a:t>
            </a:r>
            <a:r>
              <a:rPr lang="ru-RU" dirty="0" smtClean="0"/>
              <a:t>оксидированием поверхности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Еще </a:t>
            </a:r>
            <a:r>
              <a:rPr lang="ru-RU" dirty="0"/>
              <a:t>более перспективно использование реплик в виде полимерных или лаковых пленок, наносимых в жидком виде на поверхность шлифа. Для косвенного метода не требуются дорогостоящие высоковольтные микроскопы. Однако косвенный метод значительно </a:t>
            </a:r>
            <a:r>
              <a:rPr lang="ru-RU" dirty="0" smtClean="0"/>
              <a:t>уступает </a:t>
            </a:r>
            <a:r>
              <a:rPr lang="ru-RU" dirty="0"/>
              <a:t>в разрешении прямому. Разрешение лимитируется точностью самой реплики и достигает в лучшем случае (углеродные реплики) несколько </a:t>
            </a:r>
            <a:r>
              <a:rPr lang="ru-RU" dirty="0" err="1"/>
              <a:t>нм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Кроме </a:t>
            </a:r>
            <a:r>
              <a:rPr lang="ru-RU" dirty="0"/>
              <a:t>того, возможно появление различных искажений и</a:t>
            </a:r>
            <a:br>
              <a:rPr lang="ru-RU" dirty="0"/>
            </a:br>
            <a:r>
              <a:rPr lang="ru-RU" dirty="0"/>
              <a:t>артефактов в процессе изготовления самой реплики. Поэтому этот метод применяется в настоящее время достаточно редко. Многие его задачи, в том числе </a:t>
            </a:r>
            <a:r>
              <a:rPr lang="ru-RU" dirty="0" err="1"/>
              <a:t>фрактография</a:t>
            </a:r>
            <a:r>
              <a:rPr lang="ru-RU" dirty="0"/>
              <a:t>, в значительной мере решаются </a:t>
            </a:r>
            <a:r>
              <a:rPr lang="ru-RU" dirty="0" smtClean="0"/>
              <a:t>теперь методами </a:t>
            </a:r>
            <a:r>
              <a:rPr lang="ru-RU" dirty="0"/>
              <a:t>растровой электронной микроскопии.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98956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Полупрямой метод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832648"/>
          </a:xfrm>
        </p:spPr>
        <p:txBody>
          <a:bodyPr>
            <a:normAutofit fontScale="77500" lnSpcReduction="20000"/>
          </a:bodyPr>
          <a:lstStyle/>
          <a:p>
            <a:r>
              <a:rPr lang="ru-RU" i="1" dirty="0"/>
              <a:t>Полупрямой метод </a:t>
            </a:r>
            <a:r>
              <a:rPr lang="ru-RU" dirty="0"/>
              <a:t>иногда применяют при исследовании </a:t>
            </a:r>
            <a:r>
              <a:rPr lang="ru-RU" dirty="0" err="1"/>
              <a:t>гетерофазных</a:t>
            </a:r>
            <a:r>
              <a:rPr lang="ru-RU" dirty="0"/>
              <a:t> сплавов. В этом случае основную фазу (матрицу) изучают с помощью реплик (косвенный метод), а частицы, извлеченные из </a:t>
            </a:r>
            <a:r>
              <a:rPr lang="ru-RU" dirty="0" smtClean="0"/>
              <a:t>матрицы в </a:t>
            </a:r>
            <a:r>
              <a:rPr lang="ru-RU" dirty="0"/>
              <a:t>реплику, исследуют прямым методом, в том числе и с помощью </a:t>
            </a:r>
            <a:r>
              <a:rPr lang="ru-RU" dirty="0" err="1"/>
              <a:t>микродифракции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этом методе реплика перед отделением разрезается</a:t>
            </a:r>
            <a:br>
              <a:rPr lang="ru-RU" dirty="0"/>
            </a:br>
            <a:r>
              <a:rPr lang="ru-RU" dirty="0"/>
              <a:t>на мелкие квадратики, а затем образец протравливают по режиму, обеспечивающему растворение материала матрицы и сохранение </a:t>
            </a:r>
            <a:r>
              <a:rPr lang="ru-RU" dirty="0" smtClean="0"/>
              <a:t>частиц других </a:t>
            </a:r>
            <a:r>
              <a:rPr lang="ru-RU" dirty="0"/>
              <a:t>фаз. Травление проводят до полного отделения </a:t>
            </a:r>
            <a:r>
              <a:rPr lang="ru-RU" dirty="0" smtClean="0"/>
              <a:t>пленки-реплики от </a:t>
            </a:r>
            <a:r>
              <a:rPr lang="ru-RU" dirty="0"/>
              <a:t>основы. </a:t>
            </a:r>
            <a:endParaRPr lang="ru-RU" dirty="0" smtClean="0"/>
          </a:p>
          <a:p>
            <a:r>
              <a:rPr lang="ru-RU" dirty="0" smtClean="0"/>
              <a:t>Особенно </a:t>
            </a:r>
            <a:r>
              <a:rPr lang="ru-RU" dirty="0"/>
              <a:t>удобен метод при изучении мелкодисперсных </a:t>
            </a:r>
            <a:r>
              <a:rPr lang="ru-RU" dirty="0" smtClean="0"/>
              <a:t>фаз в </a:t>
            </a:r>
            <a:r>
              <a:rPr lang="ru-RU" dirty="0"/>
              <a:t>матрице при малой объемной их доле. </a:t>
            </a:r>
            <a:endParaRPr lang="ru-RU" dirty="0" smtClean="0"/>
          </a:p>
          <a:p>
            <a:r>
              <a:rPr lang="ru-RU" dirty="0" smtClean="0"/>
              <a:t>Отсутствие </a:t>
            </a:r>
            <a:r>
              <a:rPr lang="ru-RU" dirty="0"/>
              <a:t>у реплики собственной структуры позволяет исследовать дифракционные картины </a:t>
            </a:r>
            <a:r>
              <a:rPr lang="ru-RU" dirty="0" smtClean="0"/>
              <a:t>от частиц</a:t>
            </a:r>
            <a:r>
              <a:rPr lang="ru-RU" dirty="0"/>
              <a:t>. При прямом методе такие картины выявить и отделить от картины для матрицы очень сложно.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90820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9.3. </a:t>
            </a:r>
            <a:r>
              <a:rPr lang="ru-RU" b="1" dirty="0" smtClean="0"/>
              <a:t>Методы сканирующей зондовой микроскопии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8368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Принцип работы СЗМ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Данная группа методов является наиболее широко используемой в</a:t>
            </a:r>
            <a:br>
              <a:rPr lang="ru-RU" dirty="0"/>
            </a:br>
            <a:r>
              <a:rPr lang="ru-RU" dirty="0"/>
              <a:t>области </a:t>
            </a:r>
            <a:r>
              <a:rPr lang="ru-RU" dirty="0" err="1"/>
              <a:t>наноматериалов</a:t>
            </a:r>
            <a:r>
              <a:rPr lang="ru-RU" dirty="0"/>
              <a:t> и </a:t>
            </a:r>
            <a:r>
              <a:rPr lang="ru-RU" dirty="0" err="1"/>
              <a:t>нанотехнологий</a:t>
            </a:r>
            <a:r>
              <a:rPr lang="ru-RU" dirty="0"/>
              <a:t>. Основная идея всех методов данной группы заключается в использовании </a:t>
            </a:r>
            <a:r>
              <a:rPr lang="ru-RU" i="1" dirty="0"/>
              <a:t>зонда </a:t>
            </a:r>
            <a:r>
              <a:rPr lang="ru-RU" dirty="0"/>
              <a:t>– устройства считывания информации с поверхности исследуемого материала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Все </a:t>
            </a:r>
            <a:r>
              <a:rPr lang="ru-RU" dirty="0"/>
              <a:t>методы </a:t>
            </a:r>
            <a:r>
              <a:rPr lang="ru-RU" i="1" dirty="0"/>
              <a:t>сканирующей зондовой микроскопии (СЗМ)</a:t>
            </a:r>
            <a:r>
              <a:rPr lang="ru-RU" dirty="0"/>
              <a:t>основаны</a:t>
            </a:r>
            <a:br>
              <a:rPr lang="ru-RU" dirty="0"/>
            </a:br>
            <a:r>
              <a:rPr lang="ru-RU" dirty="0"/>
              <a:t>на одном принципе действия: острый зонд подводится к исследуемой</a:t>
            </a:r>
            <a:br>
              <a:rPr lang="ru-RU" dirty="0"/>
            </a:br>
            <a:r>
              <a:rPr lang="ru-RU" dirty="0"/>
              <a:t>поверхности на расстояние порядка 1 </a:t>
            </a:r>
            <a:r>
              <a:rPr lang="ru-RU" dirty="0" err="1"/>
              <a:t>нм</a:t>
            </a:r>
            <a:r>
              <a:rPr lang="ru-RU" dirty="0"/>
              <a:t>. </a:t>
            </a:r>
          </a:p>
          <a:p>
            <a:r>
              <a:rPr lang="ru-RU" dirty="0"/>
              <a:t>В результате приближения между образцом и зондом устанавливается физическое взаимодействие, силу которого можно измерить. </a:t>
            </a:r>
            <a:endParaRPr lang="ru-RU" dirty="0" smtClean="0"/>
          </a:p>
          <a:p>
            <a:r>
              <a:rPr lang="ru-RU" dirty="0" smtClean="0"/>
              <a:t>Интенсивность </a:t>
            </a:r>
            <a:r>
              <a:rPr lang="ru-RU" dirty="0"/>
              <a:t>измеряемого сигнала зависит от расстояния зонд–образец, что используется для контроля данного расстояния. </a:t>
            </a:r>
            <a:endParaRPr lang="ru-RU" dirty="0" smtClean="0"/>
          </a:p>
          <a:p>
            <a:r>
              <a:rPr lang="ru-RU" dirty="0" smtClean="0"/>
              <a:t>Относительное </a:t>
            </a:r>
            <a:r>
              <a:rPr lang="ru-RU" dirty="0"/>
              <a:t>перемещение зонда и образца (сканирование) реализуется с помощью пьезокерамического сканера, который изменяет размеры под воздействием прикладываемого напряжения.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22997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Разновидности методов СЗМ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Основное отличие между различными разновидностями </a:t>
            </a:r>
            <a:r>
              <a:rPr lang="ru-RU" dirty="0" smtClean="0"/>
              <a:t>методов СЗМ </a:t>
            </a:r>
            <a:r>
              <a:rPr lang="ru-RU" dirty="0"/>
              <a:t>(</a:t>
            </a:r>
            <a:r>
              <a:rPr lang="ru-RU" i="1" dirty="0"/>
              <a:t>сканирующая туннельная микроскопия </a:t>
            </a:r>
            <a:r>
              <a:rPr lang="ru-RU" dirty="0"/>
              <a:t>– </a:t>
            </a:r>
            <a:r>
              <a:rPr lang="ru-RU" i="1" dirty="0"/>
              <a:t>СТМ, сканирующая</a:t>
            </a:r>
            <a:r>
              <a:rPr lang="ru-RU" dirty="0"/>
              <a:t/>
            </a:r>
            <a:br>
              <a:rPr lang="ru-RU" dirty="0"/>
            </a:br>
            <a:r>
              <a:rPr lang="ru-RU" i="1" dirty="0" err="1"/>
              <a:t>ближнепольная</a:t>
            </a:r>
            <a:r>
              <a:rPr lang="ru-RU" i="1" dirty="0"/>
              <a:t> оптическая микроскопия, атомно-силовая </a:t>
            </a:r>
            <a:r>
              <a:rPr lang="ru-RU" i="1" dirty="0" smtClean="0"/>
              <a:t>микроскопия (</a:t>
            </a:r>
            <a:r>
              <a:rPr lang="ru-RU" i="1" dirty="0"/>
              <a:t>АСМ), магнитно-силовая микроскопия, </a:t>
            </a:r>
            <a:r>
              <a:rPr lang="ru-RU" i="1" dirty="0" err="1"/>
              <a:t>ближнепольная</a:t>
            </a:r>
            <a:r>
              <a:rPr lang="ru-RU" i="1" dirty="0"/>
              <a:t> акустическая</a:t>
            </a:r>
            <a:r>
              <a:rPr lang="ru-RU" dirty="0"/>
              <a:t/>
            </a:r>
            <a:br>
              <a:rPr lang="ru-RU" dirty="0"/>
            </a:br>
            <a:r>
              <a:rPr lang="ru-RU" i="1" dirty="0"/>
              <a:t>микроскопия </a:t>
            </a:r>
            <a:r>
              <a:rPr lang="ru-RU" dirty="0"/>
              <a:t>и т. д.) лежит в типе взаимодействия, который используется для контроля расстояния зонд–образец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Несмотря на то, что количество вариантов СЗМ достаточно многочисленно, оно продолжает расти, что позволяет получать дополнительную информацию не только топографическую, но и о поверхностных свойствах образцов.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8640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Материал зонда и метод его сканирования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большинстве случаев в качестве рабочего тела зонда используется алмазная игла с радиусом при вершине порядка 10 </a:t>
            </a:r>
            <a:r>
              <a:rPr lang="ru-RU" dirty="0" err="1"/>
              <a:t>нм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 помощью высокоточного </a:t>
            </a:r>
            <a:r>
              <a:rPr lang="ru-RU" dirty="0"/>
              <a:t>позиционирующего (сканирующего) механизма зонд перемещают над поверхностью образца по трем координатам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Как правило, имеется два диапазона перемещения зонда: грубое перемещение </a:t>
            </a:r>
            <a:r>
              <a:rPr lang="ru-RU" dirty="0" smtClean="0"/>
              <a:t>с относительно </a:t>
            </a:r>
            <a:r>
              <a:rPr lang="ru-RU" dirty="0"/>
              <a:t>низкой точностью и высокой скоростью и точное перемещение с достаточно низкой скоростью и высокой точностью позиционирования до 0,1–1 </a:t>
            </a:r>
            <a:r>
              <a:rPr lang="ru-RU" dirty="0" err="1"/>
              <a:t>нм</a:t>
            </a:r>
            <a:r>
              <a:rPr lang="ru-RU" dirty="0"/>
              <a:t>. Большая точность позиционирования обеспечивается, как правило, по высоте.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297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Аппаратура методов СЗМ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Сигнал от зонда обрабатывается с помощью компьютера и преобразуется в трехмерное изображение. </a:t>
            </a:r>
            <a:endParaRPr lang="ru-RU" dirty="0" smtClean="0"/>
          </a:p>
          <a:p>
            <a:r>
              <a:rPr lang="ru-RU" dirty="0" smtClean="0"/>
              <a:t>Для обработки </a:t>
            </a:r>
            <a:r>
              <a:rPr lang="ru-RU" dirty="0"/>
              <a:t>снимаемых сигналов, их фильтрации и корректировки используются специальные пакеты программ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Стоимость и размеры зондовых микроскопов значительно ниже, чем у электронных, а возможности вполне соизмеримы.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ряда вариантов зондовой </a:t>
            </a:r>
            <a:r>
              <a:rPr lang="ru-RU" dirty="0" smtClean="0"/>
              <a:t>микроскопии наличие </a:t>
            </a:r>
            <a:r>
              <a:rPr lang="ru-RU" dirty="0"/>
              <a:t>вакуума не требуется, материалы исследования могут быть самые разнообразные, в том числе изоляторы, полупроводники, биологические объекты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При этом исследования могут проводиться без существенного повреждения объекта и с достаточно простой подготовкой</a:t>
            </a:r>
            <a:br>
              <a:rPr lang="ru-RU" dirty="0"/>
            </a:br>
            <a:r>
              <a:rPr lang="ru-RU" dirty="0"/>
              <a:t>его поверхности (например, только полировка отдельного участка).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17154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Достоинства методов СЗМ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Достоинства метода сканирующей микроскопии</a:t>
            </a:r>
            <a:r>
              <a:rPr lang="ru-RU" dirty="0" smtClean="0"/>
              <a:t>:</a:t>
            </a:r>
          </a:p>
          <a:p>
            <a:r>
              <a:rPr lang="ru-RU" dirty="0"/>
              <a:t>-</a:t>
            </a:r>
            <a:r>
              <a:rPr lang="ru-RU" dirty="0" smtClean="0"/>
              <a:t> сверхвысокое разрешение </a:t>
            </a:r>
            <a:r>
              <a:rPr lang="ru-RU" dirty="0"/>
              <a:t>(атомного порядка, 10</a:t>
            </a:r>
            <a:r>
              <a:rPr lang="ru-RU" baseline="30000" dirty="0"/>
              <a:t>-2</a:t>
            </a:r>
            <a:r>
              <a:rPr lang="ru-RU" dirty="0"/>
              <a:t> </a:t>
            </a:r>
            <a:r>
              <a:rPr lang="ru-RU" dirty="0" err="1"/>
              <a:t>нм</a:t>
            </a:r>
            <a:r>
              <a:rPr lang="ru-RU" dirty="0" smtClean="0"/>
              <a:t>);</a:t>
            </a:r>
          </a:p>
          <a:p>
            <a:r>
              <a:rPr lang="ru-RU" dirty="0" smtClean="0"/>
              <a:t>-  </a:t>
            </a:r>
            <a:r>
              <a:rPr lang="ru-RU" dirty="0"/>
              <a:t>возможность размещать образец не в вакууме (как в электронных микроскопах), а в обычной воздушной среде при атмосферном давлении, в атмосфере инертного газа и</a:t>
            </a:r>
            <a:br>
              <a:rPr lang="ru-RU" dirty="0"/>
            </a:br>
            <a:r>
              <a:rPr lang="ru-RU" dirty="0"/>
              <a:t>даже в жидкости, что особенно важно для изучения гелеобразных </a:t>
            </a:r>
            <a:r>
              <a:rPr lang="ru-RU" dirty="0" smtClean="0"/>
              <a:t>и макромолекулярных </a:t>
            </a:r>
            <a:r>
              <a:rPr lang="ru-RU" dirty="0"/>
              <a:t>структур (белков, ДНК, РНК, вирусов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По </a:t>
            </a:r>
            <a:r>
              <a:rPr lang="ru-RU" dirty="0"/>
              <a:t>принципу синтеза изображений (с помощью электронных сканирующих систем) и диапазону объектов анализа метод </a:t>
            </a:r>
            <a:r>
              <a:rPr lang="ru-RU" dirty="0" smtClean="0"/>
              <a:t>сканирующей микроскопии </a:t>
            </a:r>
            <a:r>
              <a:rPr lang="ru-RU" dirty="0"/>
              <a:t>тесно связан с электронной микроскопией.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6741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9.3.1. Сканирующая туннельная микроскопия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1419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Определение СТМ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i="1" dirty="0"/>
              <a:t>Туннельная сканирующая микроскопия (СТМ</a:t>
            </a:r>
            <a:r>
              <a:rPr lang="ru-RU" dirty="0"/>
              <a:t>, – метод исследования структуры поверхности твердых тел, позволяющий четко визуализировать на ней взаимное расположение отдельных атомов.</a:t>
            </a:r>
          </a:p>
          <a:p>
            <a:r>
              <a:rPr lang="ru-RU" dirty="0"/>
              <a:t>Метод СТМ является основоположником всего семейства методов</a:t>
            </a:r>
            <a:br>
              <a:rPr lang="ru-RU" dirty="0"/>
            </a:br>
            <a:r>
              <a:rPr lang="ru-RU" dirty="0"/>
              <a:t>СЗМ. Первый сканирующий туннельный микроскоп был создан в 1981</a:t>
            </a:r>
            <a:br>
              <a:rPr lang="ru-RU" dirty="0"/>
            </a:br>
            <a:r>
              <a:rPr lang="ru-RU" dirty="0"/>
              <a:t>году Гердом </a:t>
            </a:r>
            <a:r>
              <a:rPr lang="ru-RU" dirty="0" err="1"/>
              <a:t>Биннигом</a:t>
            </a:r>
            <a:r>
              <a:rPr lang="ru-RU" dirty="0"/>
              <a:t> и Генрихом </a:t>
            </a:r>
            <a:r>
              <a:rPr lang="ru-RU" dirty="0" err="1"/>
              <a:t>Рорером</a:t>
            </a:r>
            <a:r>
              <a:rPr lang="ru-RU" dirty="0"/>
              <a:t> (в 1986 г. – Нобелевская</a:t>
            </a:r>
            <a:br>
              <a:rPr lang="ru-RU" dirty="0"/>
            </a:br>
            <a:r>
              <a:rPr lang="ru-RU" dirty="0"/>
              <a:t>премия). </a:t>
            </a:r>
          </a:p>
          <a:p>
            <a:r>
              <a:rPr lang="ru-RU" dirty="0"/>
              <a:t>Изначально метод СТМ создавался как метод, позволяющий</a:t>
            </a:r>
            <a:br>
              <a:rPr lang="ru-RU" dirty="0"/>
            </a:br>
            <a:r>
              <a:rPr lang="ru-RU" dirty="0"/>
              <a:t>исследовать топографию поверхности металлов с высоким (вплоть до</a:t>
            </a:r>
            <a:br>
              <a:rPr lang="ru-RU" dirty="0"/>
            </a:br>
            <a:r>
              <a:rPr lang="ru-RU" dirty="0"/>
              <a:t>атомарного) разрешением в сверхвысоком вакууме. </a:t>
            </a:r>
            <a:endParaRPr lang="ru-RU" dirty="0" smtClean="0"/>
          </a:p>
          <a:p>
            <a:r>
              <a:rPr lang="ru-RU" dirty="0" smtClean="0"/>
              <a:t>Позже </a:t>
            </a:r>
            <a:r>
              <a:rPr lang="ru-RU" dirty="0"/>
              <a:t>метод был</a:t>
            </a:r>
            <a:br>
              <a:rPr lang="ru-RU" dirty="0"/>
            </a:br>
            <a:r>
              <a:rPr lang="ru-RU" dirty="0"/>
              <a:t>применен для исследования других материалов, таких, как полупроводники, тонкие непроводящие пленки или биологические молекулы в различных условиях (вакуум, воздух или жидкость).</a:t>
            </a:r>
            <a:br>
              <a:rPr lang="ru-RU" dirty="0"/>
            </a:br>
            <a:r>
              <a:rPr lang="ru-RU" dirty="0"/>
              <a:t>Туннельная сканирующая микроскопия основана на туннельном</a:t>
            </a:r>
            <a:br>
              <a:rPr lang="ru-RU" dirty="0"/>
            </a:br>
            <a:r>
              <a:rPr lang="ru-RU" dirty="0"/>
              <a:t>эффекте.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33666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Туннельный эффект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fontScale="77500" lnSpcReduction="20000"/>
          </a:bodyPr>
          <a:lstStyle/>
          <a:p>
            <a:r>
              <a:rPr lang="ru-RU" i="1" dirty="0"/>
              <a:t>Туннельный эффект </a:t>
            </a:r>
            <a:r>
              <a:rPr lang="ru-RU" dirty="0"/>
              <a:t>– квантовый эффект, состоящий в проникновении квантовой частицы сквозь область пространства, в которой согласно законам классической физики нахождение частицы запрещено</a:t>
            </a:r>
            <a:r>
              <a:rPr lang="ru-RU" dirty="0" smtClean="0"/>
              <a:t>.</a:t>
            </a:r>
          </a:p>
          <a:p>
            <a:r>
              <a:rPr lang="ru-RU" dirty="0" smtClean="0"/>
              <a:t>Классическая </a:t>
            </a:r>
            <a:r>
              <a:rPr lang="ru-RU" dirty="0"/>
              <a:t>частица, обладающая полной энергией E и находящаяся </a:t>
            </a:r>
            <a:r>
              <a:rPr lang="ru-RU" dirty="0" smtClean="0"/>
              <a:t>в потенциальном </a:t>
            </a:r>
            <a:r>
              <a:rPr lang="ru-RU" dirty="0"/>
              <a:t>поле, может пребывать лишь в тех областях пространства, в которых ее полная энергия не превышает потенциальную энергию взаимодействия с полем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Поскольку волновая функция </a:t>
            </a:r>
            <a:r>
              <a:rPr lang="ru-RU" dirty="0" smtClean="0"/>
              <a:t>квантовой частицы </a:t>
            </a:r>
            <a:r>
              <a:rPr lang="ru-RU" dirty="0"/>
              <a:t>отлична от нуля во всем пространстве и вероятность нахождения частицы в определенной области пространства задается </a:t>
            </a:r>
            <a:r>
              <a:rPr lang="ru-RU" dirty="0" smtClean="0"/>
              <a:t>квадратом модуля </a:t>
            </a:r>
            <a:r>
              <a:rPr lang="ru-RU" dirty="0"/>
              <a:t>волновой функции, то и в запрещенных (с точки зрения классической механики) областях волновая функция отлична от нуля.</a:t>
            </a:r>
          </a:p>
        </p:txBody>
      </p:sp>
    </p:spTree>
    <p:extLst>
      <p:ext uri="{BB962C8B-B14F-4D97-AF65-F5344CB8AC3E}">
        <p14:creationId xmlns:p14="http://schemas.microsoft.com/office/powerpoint/2010/main" val="9604682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Работа СТМ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179512" y="1600200"/>
            <a:ext cx="3672408" cy="4925144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В туннельном сканирующем микроскопе (</a:t>
            </a:r>
            <a:r>
              <a:rPr lang="ru-RU" dirty="0" smtClean="0"/>
              <a:t>рис.) </a:t>
            </a:r>
            <a:r>
              <a:rPr lang="ru-RU" dirty="0"/>
              <a:t>система </a:t>
            </a:r>
            <a:r>
              <a:rPr lang="ru-RU" dirty="0" err="1"/>
              <a:t>пьезокристаллов</a:t>
            </a:r>
            <a:r>
              <a:rPr lang="ru-RU" dirty="0"/>
              <a:t>, управляемая компьютером, обеспечивает </a:t>
            </a:r>
            <a:r>
              <a:rPr lang="ru-RU" dirty="0" err="1"/>
              <a:t>трехкоординатное</a:t>
            </a:r>
            <a:r>
              <a:rPr lang="ru-RU" dirty="0"/>
              <a:t> перемещение металлического зонда на расстоянии порядка 0,1 </a:t>
            </a:r>
            <a:r>
              <a:rPr lang="ru-RU" dirty="0" err="1"/>
              <a:t>нм</a:t>
            </a:r>
            <a:r>
              <a:rPr lang="ru-RU" dirty="0"/>
              <a:t> от исследуемой поверхности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Между </a:t>
            </a:r>
            <a:r>
              <a:rPr lang="ru-RU" dirty="0"/>
              <a:t>ней и зондом прикладывают напряжение примерно 1 В. В зазоре возникает туннельный ток величиной около 1–10 нА, который зависит от свойств и конфигурации атомов на исследуемой поверхности материала. Этот ток регистрируется приборами.</a:t>
            </a:r>
          </a:p>
          <a:p>
            <a:endParaRPr lang="ru-RU" dirty="0"/>
          </a:p>
        </p:txBody>
      </p:sp>
      <p:pic>
        <p:nvPicPr>
          <p:cNvPr id="7" name="Объект 6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79912" y="1772816"/>
            <a:ext cx="5364088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459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Туннельный ток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1662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Туннельным этот метод называется в связи с тем, что ток </a:t>
            </a:r>
            <a:r>
              <a:rPr lang="ru-RU" dirty="0" smtClean="0"/>
              <a:t>возникает вследствие </a:t>
            </a:r>
            <a:r>
              <a:rPr lang="ru-RU" dirty="0"/>
              <a:t>туннельного эффекта, а именно квантового перехода электрона через область, запрещенную классической механикой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Если </a:t>
            </a:r>
            <a:r>
              <a:rPr lang="ru-RU" dirty="0"/>
              <a:t>между иглой и образцом прикладывается небольшое электрическое напряжение (</a:t>
            </a:r>
            <a:r>
              <a:rPr lang="ru-RU" dirty="0" err="1"/>
              <a:t>Ut</a:t>
            </a:r>
            <a:r>
              <a:rPr lang="ru-RU" dirty="0"/>
              <a:t>), через промежуток порядка ∼1 </a:t>
            </a:r>
            <a:r>
              <a:rPr lang="ru-RU" dirty="0" err="1"/>
              <a:t>нм</a:t>
            </a:r>
            <a:r>
              <a:rPr lang="ru-RU" dirty="0"/>
              <a:t> </a:t>
            </a:r>
            <a:r>
              <a:rPr lang="ru-RU" dirty="0" smtClean="0"/>
              <a:t>начинают происходить </a:t>
            </a:r>
            <a:r>
              <a:rPr lang="ru-RU" dirty="0"/>
              <a:t>туннельные переходы электронов, т. е. начинается протекание так называемого «туннельного тока» (</a:t>
            </a:r>
            <a:r>
              <a:rPr lang="ru-RU" dirty="0" err="1"/>
              <a:t>It</a:t>
            </a:r>
            <a:r>
              <a:rPr lang="ru-RU" dirty="0"/>
              <a:t>). </a:t>
            </a:r>
          </a:p>
          <a:p>
            <a:r>
              <a:rPr lang="ru-RU" dirty="0"/>
              <a:t>В простейшем случае туннельный ток экспоненциально зависит от ширины и высоты барьера (соответственно d туннельного промежутка, а также от работы выхода материалов образца и иглы). Эта экспоненциальная зависимость обуславливает высокую разрешающую способность СТМ, прежде всего по высоте, и делает возможным достижение атомарного разрешения.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34216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Управление зондом и изображение поверхности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Компьютер управляет вертикальным перемещением зонда так, чтобы ток поддерживался на заданном постоянном уровне и горизонтальными перемещениями по осям </a:t>
            </a:r>
            <a:r>
              <a:rPr lang="ru-RU" i="1" dirty="0"/>
              <a:t>х </a:t>
            </a:r>
            <a:r>
              <a:rPr lang="ru-RU" dirty="0"/>
              <a:t>и </a:t>
            </a:r>
            <a:r>
              <a:rPr lang="ru-RU" i="1" dirty="0"/>
              <a:t>у </a:t>
            </a:r>
            <a:r>
              <a:rPr lang="ru-RU" dirty="0"/>
              <a:t>(сканированием). </a:t>
            </a:r>
            <a:endParaRPr lang="ru-RU" dirty="0" smtClean="0"/>
          </a:p>
          <a:p>
            <a:r>
              <a:rPr lang="ru-RU" dirty="0" smtClean="0"/>
              <a:t>Воспроизводимое на </a:t>
            </a:r>
            <a:r>
              <a:rPr lang="ru-RU" dirty="0"/>
              <a:t>дисплее семейство кривых, отвечающих перемещениям зонда, является изображением эквипотенциальной поверхности, поэтому </a:t>
            </a:r>
            <a:r>
              <a:rPr lang="ru-RU" dirty="0" smtClean="0"/>
              <a:t>атомы изображаются </a:t>
            </a:r>
            <a:r>
              <a:rPr lang="ru-RU" dirty="0"/>
              <a:t>полусферами различных радиусов.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47449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Методы записи СТМ-изображений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Различают два крайних варианта записи СТМ-изображения: </a:t>
            </a:r>
            <a:r>
              <a:rPr lang="ru-RU" dirty="0" smtClean="0"/>
              <a:t>режим «</a:t>
            </a:r>
            <a:r>
              <a:rPr lang="ru-RU" dirty="0"/>
              <a:t>постоянного туннельного тока» и «постоянной высоты зонда». В режиме постоянного тока («топографическом») система обратной </a:t>
            </a:r>
            <a:r>
              <a:rPr lang="ru-RU" dirty="0" smtClean="0"/>
              <a:t>связи постоянно </a:t>
            </a:r>
            <a:r>
              <a:rPr lang="ru-RU" dirty="0"/>
              <a:t>регистрирует туннельный ток и вносит корректировки в высоту зависания иглы, управляя при этом двигателями подачи иглы так</a:t>
            </a:r>
            <a:r>
              <a:rPr lang="ru-RU" dirty="0" smtClean="0"/>
              <a:t>, чтобы </a:t>
            </a:r>
            <a:r>
              <a:rPr lang="ru-RU" dirty="0"/>
              <a:t>величина заданного туннельного тока оставалась постоянной в</a:t>
            </a:r>
            <a:br>
              <a:rPr lang="ru-RU" dirty="0"/>
            </a:br>
            <a:r>
              <a:rPr lang="ru-RU" dirty="0"/>
              <a:t>каждой точке сканирования. </a:t>
            </a:r>
            <a:endParaRPr lang="ru-RU" dirty="0" smtClean="0"/>
          </a:p>
          <a:p>
            <a:r>
              <a:rPr lang="ru-RU" dirty="0" smtClean="0"/>
              <a:t>Игла </a:t>
            </a:r>
            <a:r>
              <a:rPr lang="ru-RU" dirty="0"/>
              <a:t>при этом остается всегда на одном </a:t>
            </a:r>
            <a:r>
              <a:rPr lang="ru-RU" dirty="0" smtClean="0"/>
              <a:t>и том </a:t>
            </a:r>
            <a:r>
              <a:rPr lang="ru-RU" dirty="0"/>
              <a:t>же расстоянии от поверхности, и коррекция высоты иглы </a:t>
            </a:r>
            <a:r>
              <a:rPr lang="ru-RU" dirty="0" smtClean="0"/>
              <a:t>прямо отражает </a:t>
            </a:r>
            <a:r>
              <a:rPr lang="ru-RU" dirty="0"/>
              <a:t>рельеф поверхности образца. Происходящее при этом </a:t>
            </a:r>
            <a:r>
              <a:rPr lang="ru-RU" dirty="0" smtClean="0"/>
              <a:t>вертикальное </a:t>
            </a:r>
            <a:r>
              <a:rPr lang="ru-RU" dirty="0"/>
              <a:t>по отношению к плоскости сканирования перемещение </a:t>
            </a:r>
            <a:r>
              <a:rPr lang="ru-RU" dirty="0" err="1"/>
              <a:t>пьезопривода</a:t>
            </a:r>
            <a:r>
              <a:rPr lang="ru-RU" dirty="0"/>
              <a:t> отражает геометрию поверхности.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738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Режим постоянной высоты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 режиме </a:t>
            </a:r>
            <a:r>
              <a:rPr lang="ru-RU" i="1" dirty="0"/>
              <a:t>«постоянной высоты» </a:t>
            </a:r>
            <a:r>
              <a:rPr lang="ru-RU" dirty="0"/>
              <a:t>или быстрого сканирования цепь</a:t>
            </a:r>
            <a:br>
              <a:rPr lang="ru-RU" dirty="0"/>
            </a:br>
            <a:r>
              <a:rPr lang="ru-RU" dirty="0"/>
              <a:t>обратной связи не отслеживает профиль поверхности (не изменяется</a:t>
            </a:r>
            <a:br>
              <a:rPr lang="ru-RU" dirty="0"/>
            </a:br>
            <a:r>
              <a:rPr lang="ru-RU" dirty="0"/>
              <a:t>положение иглы), но при этом регистрируются изменения </a:t>
            </a:r>
            <a:r>
              <a:rPr lang="ru-RU" dirty="0" smtClean="0"/>
              <a:t>туннельного тока </a:t>
            </a:r>
            <a:r>
              <a:rPr lang="ru-RU" dirty="0"/>
              <a:t>и строение поверхности описывается в виде массива. </a:t>
            </a:r>
            <a:endParaRPr lang="ru-RU" dirty="0" smtClean="0"/>
          </a:p>
          <a:p>
            <a:r>
              <a:rPr lang="ru-RU" dirty="0" smtClean="0"/>
              <a:t>Последний режим </a:t>
            </a:r>
            <a:r>
              <a:rPr lang="ru-RU" dirty="0"/>
              <a:t>полезен при исследовании с атомарным разрешением относительно ровных поверхностей, таких, например, как монокристаллы, </a:t>
            </a:r>
            <a:r>
              <a:rPr lang="ru-RU" dirty="0" smtClean="0"/>
              <a:t>так как </a:t>
            </a:r>
            <a:r>
              <a:rPr lang="ru-RU" dirty="0"/>
              <a:t>при фиксированном положении иглы проще обеспечить механическую стабильность системы в целом, а изменения туннельного </a:t>
            </a:r>
            <a:r>
              <a:rPr lang="ru-RU" dirty="0" smtClean="0"/>
              <a:t>тока очень </a:t>
            </a:r>
            <a:r>
              <a:rPr lang="ru-RU" dirty="0"/>
              <a:t>чувствительны к изменению туннельного промежутка d. </a:t>
            </a:r>
            <a:endParaRPr lang="ru-RU" dirty="0" smtClean="0"/>
          </a:p>
          <a:p>
            <a:r>
              <a:rPr lang="ru-RU" dirty="0" smtClean="0"/>
              <a:t>Данный режим </a:t>
            </a:r>
            <a:r>
              <a:rPr lang="ru-RU" dirty="0"/>
              <a:t>не применим для исследования образцов с неизвестной морфологией, шероховатых поверхностей, так как велика вероятность повреждения иглы. В связи с этим наибольшее распространение получил </a:t>
            </a:r>
            <a:r>
              <a:rPr lang="ru-RU" i="1" dirty="0" smtClean="0"/>
              <a:t>«режим </a:t>
            </a:r>
            <a:r>
              <a:rPr lang="ru-RU" i="1" dirty="0"/>
              <a:t>постоянного </a:t>
            </a:r>
            <a:r>
              <a:rPr lang="ru-RU" i="1" dirty="0" smtClean="0"/>
              <a:t>тока».</a:t>
            </a:r>
            <a:endParaRPr lang="ru-RU" i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8729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Вольтамперная характеристика СТМ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Обычное СТМ – изображение содержит «свертку» информации </a:t>
            </a:r>
            <a:r>
              <a:rPr lang="ru-RU" dirty="0" smtClean="0"/>
              <a:t>как о </a:t>
            </a:r>
            <a:r>
              <a:rPr lang="ru-RU" dirty="0"/>
              <a:t>геометрии (топографии) поверхности, так и о ее электронных характеристиках. Более полную информацию об электронных характеристиках поверхности можно получить из данных </a:t>
            </a:r>
            <a:r>
              <a:rPr lang="ru-RU" i="1" dirty="0"/>
              <a:t>сканирующей туннельной спектроскопии (СТС)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Регистрируя </a:t>
            </a:r>
            <a:r>
              <a:rPr lang="ru-RU" dirty="0"/>
              <a:t>зависимость туннельного тока  от напряжения, можно определять плотность электронных состояний выше и ниже уровня Ферми, в частности, получать прямую информацию </a:t>
            </a:r>
            <a:r>
              <a:rPr lang="ru-RU" dirty="0" smtClean="0"/>
              <a:t>о положении </a:t>
            </a:r>
            <a:r>
              <a:rPr lang="ru-RU" dirty="0"/>
              <a:t>запрещенной зоны в полупроводниках. </a:t>
            </a:r>
            <a:endParaRPr lang="ru-RU" dirty="0" smtClean="0"/>
          </a:p>
          <a:p>
            <a:r>
              <a:rPr lang="ru-RU" dirty="0" smtClean="0"/>
              <a:t>Если зафиксировать положение </a:t>
            </a:r>
            <a:r>
              <a:rPr lang="ru-RU" dirty="0"/>
              <a:t>иглы относительно образца (над выбранной областью поверхности, при этом отключается цепь обратной связи), то, разворачивая потенциал, прикладываемый к системе игла–образец, и </a:t>
            </a:r>
            <a:r>
              <a:rPr lang="ru-RU" dirty="0" smtClean="0"/>
              <a:t>регистрируя синхронно </a:t>
            </a:r>
            <a:r>
              <a:rPr lang="ru-RU" dirty="0"/>
              <a:t>ток, протекающий через туннельный контакт, можно получить зависимость туннельного тока от этого потенциала (вольтамперную характеристику – ВАХ).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47190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47260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Ограничениями метода сканирующей туннельной микроскопии являются обязательность электропроводности материала </a:t>
            </a:r>
            <a:r>
              <a:rPr lang="ru-RU" dirty="0" smtClean="0"/>
              <a:t>исследуемого образца </a:t>
            </a:r>
            <a:r>
              <a:rPr lang="ru-RU" dirty="0"/>
              <a:t>и необходимость высокого или сверхвысокого вакуума и низких температур (до 50–100 К) для получения высоких разрешений. В </a:t>
            </a:r>
            <a:r>
              <a:rPr lang="ru-RU" dirty="0" smtClean="0"/>
              <a:t>то же </a:t>
            </a:r>
            <a:r>
              <a:rPr lang="ru-RU" dirty="0"/>
              <a:t>время для разрешения в диапазоне порядка </a:t>
            </a:r>
            <a:r>
              <a:rPr lang="ru-RU" dirty="0" smtClean="0"/>
              <a:t>1 </a:t>
            </a:r>
            <a:r>
              <a:rPr lang="ru-RU" dirty="0" err="1" smtClean="0"/>
              <a:t>нм</a:t>
            </a:r>
            <a:r>
              <a:rPr lang="ru-RU" dirty="0" smtClean="0"/>
              <a:t> </a:t>
            </a:r>
            <a:r>
              <a:rPr lang="ru-RU" dirty="0"/>
              <a:t>эти требования необязательны.</a:t>
            </a:r>
          </a:p>
          <a:p>
            <a:r>
              <a:rPr lang="ru-RU" dirty="0"/>
              <a:t>Еще один фактор нестабильности положения зонда относительно</a:t>
            </a:r>
            <a:br>
              <a:rPr lang="ru-RU" dirty="0"/>
            </a:br>
            <a:r>
              <a:rPr lang="ru-RU" dirty="0"/>
              <a:t>исследуемой поверхности – влияние колебаний температуры сканера </a:t>
            </a:r>
            <a:r>
              <a:rPr lang="ru-RU" dirty="0" smtClean="0"/>
              <a:t>в ходе </a:t>
            </a:r>
            <a:r>
              <a:rPr lang="ru-RU" dirty="0"/>
              <a:t>эксперимента. Учитывая малость расстояния игла–образец (∼1 </a:t>
            </a:r>
            <a:r>
              <a:rPr lang="ru-RU" dirty="0" err="1"/>
              <a:t>нм</a:t>
            </a:r>
            <a:r>
              <a:rPr lang="ru-RU" dirty="0" smtClean="0"/>
              <a:t>), очевидно</a:t>
            </a:r>
            <a:r>
              <a:rPr lang="ru-RU" dirty="0"/>
              <a:t>, что при изменении температуры сканера за счет различий </a:t>
            </a:r>
            <a:r>
              <a:rPr lang="ru-RU" dirty="0" smtClean="0"/>
              <a:t>в коэффициентах </a:t>
            </a:r>
            <a:r>
              <a:rPr lang="ru-RU" dirty="0"/>
              <a:t>температурного расширения его деталей, особенно </a:t>
            </a:r>
            <a:r>
              <a:rPr lang="ru-RU" dirty="0" err="1"/>
              <a:t>пьезокерамики</a:t>
            </a:r>
            <a:r>
              <a:rPr lang="ru-RU" dirty="0"/>
              <a:t>, происходит неконтролируемое смещение иглы относительно образца (температурный дрейф). </a:t>
            </a:r>
            <a:endParaRPr lang="ru-RU" dirty="0" smtClean="0"/>
          </a:p>
          <a:p>
            <a:r>
              <a:rPr lang="ru-RU" dirty="0" smtClean="0"/>
              <a:t>Влияние </a:t>
            </a:r>
            <a:r>
              <a:rPr lang="ru-RU" dirty="0"/>
              <a:t>условий сканирования на разрешение прибора проверяется варьированием задаваемых оператором параметров и оптимизируется индивидуально для каждого образца. 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Ограничения метода СТМ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267575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9.3.2. Атомно-силовая микроскопия</a:t>
            </a:r>
            <a:br>
              <a:rPr lang="ru-RU" sz="3600" b="1" dirty="0"/>
            </a:br>
            <a:endParaRPr lang="ru-RU" sz="36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316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Принцип работы АСМ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36712"/>
            <a:ext cx="8856984" cy="5904656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В этом методе регистрируют изменение силы взаимодействия кончика зонда (иглы) с исследуемой поверхностью. Игла (рис</a:t>
            </a:r>
            <a:r>
              <a:rPr lang="ru-RU" dirty="0" smtClean="0"/>
              <a:t>.) </a:t>
            </a:r>
            <a:r>
              <a:rPr lang="ru-RU" dirty="0"/>
              <a:t>располагается на конце консольной </a:t>
            </a:r>
            <a:r>
              <a:rPr lang="ru-RU" dirty="0" err="1"/>
              <a:t>балочки</a:t>
            </a:r>
            <a:r>
              <a:rPr lang="ru-RU" dirty="0"/>
              <a:t> с известной жесткостью, способной изгибаться под действием небольших сил, возникающих между поверхностью образца и вершиной острия. Эти силы в ряде вариантов метода могут быть Ван-дер-</a:t>
            </a:r>
            <a:r>
              <a:rPr lang="ru-RU" dirty="0" err="1"/>
              <a:t>Ваальсовскими</a:t>
            </a:r>
            <a:r>
              <a:rPr lang="ru-RU" dirty="0"/>
              <a:t> (молекулярными), электростатическими или магнитными.</a:t>
            </a:r>
          </a:p>
          <a:p>
            <a:r>
              <a:rPr lang="ru-RU" dirty="0" err="1"/>
              <a:t>Балочка</a:t>
            </a:r>
            <a:r>
              <a:rPr lang="ru-RU" dirty="0"/>
              <a:t> с иглой носит название </a:t>
            </a:r>
            <a:r>
              <a:rPr lang="ru-RU" dirty="0" err="1"/>
              <a:t>кантилевера</a:t>
            </a:r>
            <a:r>
              <a:rPr lang="ru-RU" dirty="0"/>
              <a:t>. Деформация </a:t>
            </a:r>
            <a:r>
              <a:rPr lang="ru-RU" dirty="0" err="1"/>
              <a:t>кантилевера</a:t>
            </a:r>
            <a:r>
              <a:rPr lang="ru-RU" dirty="0"/>
              <a:t> измеряется по отклонению лазерного луча, падающего на его тыльную поверхность, или с помощью </a:t>
            </a:r>
            <a:r>
              <a:rPr lang="ru-RU" dirty="0" err="1"/>
              <a:t>пьезорезистивного</a:t>
            </a:r>
            <a:r>
              <a:rPr lang="ru-RU" dirty="0"/>
              <a:t> эффекта, возникающего в материале </a:t>
            </a:r>
            <a:r>
              <a:rPr lang="ru-RU" dirty="0" err="1"/>
              <a:t>кантилевера</a:t>
            </a:r>
            <a:r>
              <a:rPr lang="ru-RU" dirty="0"/>
              <a:t> при изгибе</a:t>
            </a:r>
            <a:r>
              <a:rPr lang="ru-RU" dirty="0" smtClean="0"/>
              <a:t>.</a:t>
            </a:r>
          </a:p>
          <a:p>
            <a:r>
              <a:rPr lang="ru-RU" dirty="0"/>
              <a:t>На конце </a:t>
            </a:r>
            <a:r>
              <a:rPr lang="ru-RU" dirty="0" err="1"/>
              <a:t>кантилевера</a:t>
            </a:r>
            <a:r>
              <a:rPr lang="ru-RU" dirty="0"/>
              <a:t> расположен острый шип (радиус закругления</a:t>
            </a:r>
            <a:br>
              <a:rPr lang="ru-RU" dirty="0"/>
            </a:br>
            <a:r>
              <a:rPr lang="ru-RU" dirty="0"/>
              <a:t>от 1 до 10 </a:t>
            </a:r>
            <a:r>
              <a:rPr lang="ru-RU" dirty="0" err="1"/>
              <a:t>нм</a:t>
            </a:r>
            <a:r>
              <a:rPr lang="ru-RU" dirty="0"/>
              <a:t>). При перемещении </a:t>
            </a:r>
            <a:r>
              <a:rPr lang="ru-RU" dirty="0" err="1"/>
              <a:t>микрозонда</a:t>
            </a:r>
            <a:r>
              <a:rPr lang="ru-RU" dirty="0"/>
              <a:t> вдоль поверхности образца острие шипа приподнимается и опускается, очерчивая микрорельеф</a:t>
            </a:r>
            <a:br>
              <a:rPr lang="ru-RU" dirty="0"/>
            </a:br>
            <a:r>
              <a:rPr lang="ru-RU" dirty="0"/>
              <a:t>поверхности, подобно тому, как скользит по грампластинке патефонная</a:t>
            </a:r>
            <a:br>
              <a:rPr lang="ru-RU" dirty="0"/>
            </a:br>
            <a:r>
              <a:rPr lang="ru-RU" dirty="0"/>
              <a:t>игла. На выступающем конце </a:t>
            </a:r>
            <a:r>
              <a:rPr lang="ru-RU" dirty="0" err="1"/>
              <a:t>кантилевера</a:t>
            </a:r>
            <a:r>
              <a:rPr lang="ru-RU" dirty="0"/>
              <a:t> (над шипом) расположена</a:t>
            </a:r>
            <a:br>
              <a:rPr lang="ru-RU" dirty="0"/>
            </a:br>
            <a:r>
              <a:rPr lang="ru-RU" dirty="0"/>
              <a:t>зеркальная площадка, на которую падает и от которой отражается луч</a:t>
            </a:r>
            <a:br>
              <a:rPr lang="ru-RU" dirty="0"/>
            </a:br>
            <a:r>
              <a:rPr lang="ru-RU" dirty="0"/>
              <a:t>лазера. Когда шип опускается и поднимается на неровностях поверхности, отраженный луч отклоняется, и это отклонение регистрируется фотодетектором. Данные фотодетектора используются в системе обратной</a:t>
            </a:r>
            <a:br>
              <a:rPr lang="ru-RU" dirty="0"/>
            </a:br>
            <a:r>
              <a:rPr lang="ru-RU" dirty="0"/>
              <a:t>связи, которая обеспечивает постоянную силу давления острия на образец.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15734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АСМ зонды</a:t>
            </a:r>
            <a:endParaRPr lang="ru-RU" b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1484784"/>
            <a:ext cx="7632848" cy="45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2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Разрешающая способность АСМ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928992" cy="6093296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 Пьезоэлектрический преобразователь может регистрировать изменение рельефа образца в режиме реального времени. В другом </a:t>
            </a:r>
            <a:r>
              <a:rPr lang="ru-RU" dirty="0" smtClean="0"/>
              <a:t>режиме работы </a:t>
            </a:r>
            <a:r>
              <a:rPr lang="ru-RU" dirty="0"/>
              <a:t>регистрируется сила взаимодействия острия с поверхностью при</a:t>
            </a:r>
            <a:br>
              <a:rPr lang="ru-RU" dirty="0"/>
            </a:br>
            <a:r>
              <a:rPr lang="ru-RU" dirty="0"/>
              <a:t>постоянном положении шипа над образцом. </a:t>
            </a:r>
            <a:endParaRPr lang="ru-RU" dirty="0" smtClean="0"/>
          </a:p>
          <a:p>
            <a:r>
              <a:rPr lang="ru-RU" dirty="0" err="1" smtClean="0"/>
              <a:t>Микрозонд</a:t>
            </a:r>
            <a:r>
              <a:rPr lang="ru-RU" dirty="0" smtClean="0"/>
              <a:t> </a:t>
            </a:r>
            <a:r>
              <a:rPr lang="ru-RU" dirty="0"/>
              <a:t>обычно </a:t>
            </a:r>
            <a:r>
              <a:rPr lang="ru-RU" dirty="0" smtClean="0"/>
              <a:t>делают из </a:t>
            </a:r>
            <a:r>
              <a:rPr lang="ru-RU" dirty="0"/>
              <a:t>кремния или нитрида кремния. Разрешающая способность метода составляет примерно 0,1–1 </a:t>
            </a:r>
            <a:r>
              <a:rPr lang="ru-RU" dirty="0" err="1"/>
              <a:t>нм</a:t>
            </a:r>
            <a:r>
              <a:rPr lang="ru-RU" dirty="0"/>
              <a:t> по горизонтали и 0,01 </a:t>
            </a:r>
            <a:r>
              <a:rPr lang="ru-RU" dirty="0" err="1"/>
              <a:t>нм</a:t>
            </a:r>
            <a:r>
              <a:rPr lang="ru-RU" dirty="0"/>
              <a:t> по вертикали.</a:t>
            </a:r>
          </a:p>
          <a:p>
            <a:r>
              <a:rPr lang="ru-RU" dirty="0"/>
              <a:t>Смещая зонд по горизонтали, можно получить серию рельефов и с помощью компьютера построить трехмерное изображение.</a:t>
            </a:r>
            <a:br>
              <a:rPr lang="ru-RU" dirty="0"/>
            </a:br>
            <a:r>
              <a:rPr lang="ru-RU" dirty="0"/>
              <a:t>С помощью атомного силового микроскопа исследуют любые материалы. </a:t>
            </a:r>
            <a:endParaRPr lang="ru-RU" dirty="0" smtClean="0"/>
          </a:p>
          <a:p>
            <a:r>
              <a:rPr lang="ru-RU" dirty="0" smtClean="0"/>
              <a:t>Поддерживая </a:t>
            </a:r>
            <a:r>
              <a:rPr lang="ru-RU" dirty="0"/>
              <a:t>постоянную силу межатомного притяжения </a:t>
            </a:r>
            <a:r>
              <a:rPr lang="ru-RU" dirty="0" err="1"/>
              <a:t>кантилевера</a:t>
            </a:r>
            <a:r>
              <a:rPr lang="ru-RU" dirty="0"/>
              <a:t> и поверхности, можно построить атомный рельеф исследуемого образца.</a:t>
            </a:r>
            <a:br>
              <a:rPr lang="ru-RU" dirty="0"/>
            </a:br>
            <a:r>
              <a:rPr lang="ru-RU" dirty="0"/>
              <a:t>Имеются две моды варианта метода атомно-силовой микроскопии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При </a:t>
            </a:r>
            <a:r>
              <a:rPr lang="ru-RU" dirty="0"/>
              <a:t>контактной моде кончик иглы (алмазной, </a:t>
            </a:r>
            <a:r>
              <a:rPr lang="ru-RU" dirty="0" err="1"/>
              <a:t>фулеритовой</a:t>
            </a:r>
            <a:r>
              <a:rPr lang="ru-RU" dirty="0"/>
              <a:t> или</a:t>
            </a:r>
            <a:br>
              <a:rPr lang="ru-RU" dirty="0"/>
            </a:br>
            <a:r>
              <a:rPr lang="ru-RU" dirty="0"/>
              <a:t>кремниевой с упрочняющим покрытием) в рабочем режиме непрерывно</a:t>
            </a:r>
            <a:br>
              <a:rPr lang="ru-RU" dirty="0"/>
            </a:br>
            <a:r>
              <a:rPr lang="ru-RU" dirty="0"/>
              <a:t>находится в контакте с исследуемой поверхностью. При простоте реализации этой моды имеется и недостаток – возможность повреждения</a:t>
            </a:r>
            <a:br>
              <a:rPr lang="ru-RU" dirty="0"/>
            </a:br>
            <a:r>
              <a:rPr lang="ru-RU" dirty="0"/>
              <a:t>исследуемого материала или иглы.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93406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Неконтактный режим АСМ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При «</a:t>
            </a:r>
            <a:r>
              <a:rPr lang="ru-RU" dirty="0" err="1"/>
              <a:t>квазиконтактном</a:t>
            </a:r>
            <a:r>
              <a:rPr lang="ru-RU" dirty="0"/>
              <a:t>» или «неконтактном» режиме </a:t>
            </a:r>
            <a:r>
              <a:rPr lang="ru-RU" dirty="0" smtClean="0"/>
              <a:t>проводится измерение </a:t>
            </a:r>
            <a:r>
              <a:rPr lang="ru-RU" dirty="0"/>
              <a:t>параметров собственных колебаний </a:t>
            </a:r>
            <a:r>
              <a:rPr lang="ru-RU" dirty="0" err="1"/>
              <a:t>кантилевера</a:t>
            </a:r>
            <a:r>
              <a:rPr lang="ru-RU" dirty="0"/>
              <a:t> (резонансные частоты, затухания колебаний, сдвиг фаз между </a:t>
            </a:r>
            <a:r>
              <a:rPr lang="ru-RU" dirty="0" smtClean="0"/>
              <a:t>воздействующей силой </a:t>
            </a:r>
            <a:r>
              <a:rPr lang="ru-RU" dirty="0"/>
              <a:t>и смещением). </a:t>
            </a:r>
            <a:endParaRPr lang="ru-RU" dirty="0" smtClean="0"/>
          </a:p>
          <a:p>
            <a:r>
              <a:rPr lang="ru-RU" dirty="0" smtClean="0"/>
              <a:t>Игла </a:t>
            </a:r>
            <a:r>
              <a:rPr lang="ru-RU" dirty="0" err="1"/>
              <a:t>кантилевера</a:t>
            </a:r>
            <a:r>
              <a:rPr lang="ru-RU" dirty="0"/>
              <a:t> находится в этом случае на некотором расстоянии от поверхности образца и взаимодействует с </a:t>
            </a:r>
            <a:r>
              <a:rPr lang="ru-RU" dirty="0" smtClean="0"/>
              <a:t>ней посредством </a:t>
            </a:r>
            <a:r>
              <a:rPr lang="ru-RU" dirty="0"/>
              <a:t>относительно </a:t>
            </a:r>
            <a:r>
              <a:rPr lang="ru-RU" dirty="0" smtClean="0"/>
              <a:t>дальнодействующих </a:t>
            </a:r>
            <a:r>
              <a:rPr lang="ru-RU" dirty="0"/>
              <a:t>сил Ван-дер-Ваальса.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29419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Возможности метода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5544616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 ряде современных приборов существует возможность </a:t>
            </a:r>
            <a:r>
              <a:rPr lang="ru-RU" dirty="0" smtClean="0"/>
              <a:t>измерения усилий </a:t>
            </a:r>
            <a:r>
              <a:rPr lang="ru-RU" dirty="0"/>
              <a:t>трения иглы, снятие карт упругости изучаемых участков материала, электрического импеданса, проведения испытаний </a:t>
            </a:r>
            <a:r>
              <a:rPr lang="ru-RU" dirty="0" err="1"/>
              <a:t>нанотвердости</a:t>
            </a:r>
            <a:r>
              <a:rPr lang="ru-RU" dirty="0"/>
              <a:t> методом царапанья, а при использовании полупроводниковых алмазных игл – емкость поверхности образца, проводимость приповерхностного слоя, определение концентрации примесей по величине изменения емкости. </a:t>
            </a:r>
            <a:endParaRPr lang="ru-RU" dirty="0" smtClean="0"/>
          </a:p>
          <a:p>
            <a:r>
              <a:rPr lang="ru-RU" dirty="0" smtClean="0"/>
              <a:t>Разрешение </a:t>
            </a:r>
            <a:r>
              <a:rPr lang="ru-RU" dirty="0"/>
              <a:t>по плоскости (координаты </a:t>
            </a:r>
            <a:r>
              <a:rPr lang="ru-RU" i="1" dirty="0"/>
              <a:t>x </a:t>
            </a:r>
            <a:r>
              <a:rPr lang="ru-RU" dirty="0"/>
              <a:t>и </a:t>
            </a:r>
            <a:r>
              <a:rPr lang="ru-RU" i="1" dirty="0"/>
              <a:t>y</a:t>
            </a:r>
            <a:r>
              <a:rPr lang="ru-RU" dirty="0"/>
              <a:t>) составляет порядка 1 </a:t>
            </a:r>
            <a:r>
              <a:rPr lang="ru-RU" dirty="0" err="1"/>
              <a:t>нм</a:t>
            </a:r>
            <a:r>
              <a:rPr lang="ru-RU" dirty="0"/>
              <a:t>, а по высоте (координата </a:t>
            </a:r>
            <a:r>
              <a:rPr lang="ru-RU" i="1" dirty="0"/>
              <a:t>z</a:t>
            </a:r>
            <a:r>
              <a:rPr lang="ru-RU" dirty="0"/>
              <a:t>) – до 0,1 </a:t>
            </a:r>
            <a:r>
              <a:rPr lang="ru-RU" dirty="0" err="1"/>
              <a:t>нм</a:t>
            </a:r>
            <a:r>
              <a:rPr lang="ru-RU" dirty="0"/>
              <a:t>.</a:t>
            </a:r>
          </a:p>
          <a:p>
            <a:r>
              <a:rPr lang="ru-RU" dirty="0"/>
              <a:t>Атомно-силовой микроскоп позволяет измерять локальные силы</a:t>
            </a:r>
            <a:br>
              <a:rPr lang="ru-RU" dirty="0"/>
            </a:br>
            <a:r>
              <a:rPr lang="ru-RU" dirty="0"/>
              <a:t>трения, величину адгезии, упругие и вязкие свойства поверхности </a:t>
            </a:r>
            <a:r>
              <a:rPr lang="ru-RU" dirty="0" smtClean="0"/>
              <a:t>с </a:t>
            </a:r>
            <a:r>
              <a:rPr lang="ru-RU" dirty="0" err="1" smtClean="0"/>
              <a:t>субнанометровым</a:t>
            </a:r>
            <a:r>
              <a:rPr lang="ru-RU" dirty="0" smtClean="0"/>
              <a:t> </a:t>
            </a:r>
            <a:r>
              <a:rPr lang="ru-RU" dirty="0"/>
              <a:t>пространственным </a:t>
            </a:r>
            <a:r>
              <a:rPr lang="ru-RU" dirty="0" err="1"/>
              <a:t>разрешением.АСМ</a:t>
            </a:r>
            <a:r>
              <a:rPr lang="ru-RU" dirty="0"/>
              <a:t> позволяет анализировать на атомном уровне структуру самых</a:t>
            </a:r>
            <a:br>
              <a:rPr lang="ru-RU" dirty="0"/>
            </a:br>
            <a:r>
              <a:rPr lang="ru-RU" dirty="0"/>
              <a:t>разных твердых материалов – стекла, керамики, пластиков, металлов</a:t>
            </a:r>
            <a:r>
              <a:rPr lang="ru-RU" dirty="0" smtClean="0"/>
              <a:t>, полупроводников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Измерение </a:t>
            </a:r>
            <a:r>
              <a:rPr lang="ru-RU" dirty="0"/>
              <a:t>можно проводить не только в вакууме, </a:t>
            </a:r>
            <a:r>
              <a:rPr lang="ru-RU" dirty="0" smtClean="0"/>
              <a:t>но и </a:t>
            </a:r>
            <a:r>
              <a:rPr lang="ru-RU" dirty="0"/>
              <a:t>на воздухе, в атмосфере любого газа и даже в капле жидкости.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76626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Особенности АСМ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При использовании атомно-силовой микроскопии не требуется</a:t>
            </a:r>
            <a:r>
              <a:rPr lang="ru-RU" dirty="0" smtClean="0"/>
              <a:t>, чтобы </a:t>
            </a:r>
            <a:r>
              <a:rPr lang="ru-RU" dirty="0"/>
              <a:t>образец проводил </a:t>
            </a:r>
            <a:r>
              <a:rPr lang="ru-RU" dirty="0" smtClean="0"/>
              <a:t>электричество , как в </a:t>
            </a:r>
            <a:r>
              <a:rPr lang="ru-RU" dirty="0" err="1" smtClean="0"/>
              <a:t>тунельной</a:t>
            </a:r>
            <a:r>
              <a:rPr lang="ru-RU" dirty="0" smtClean="0"/>
              <a:t> зондовой микроскопии. </a:t>
            </a:r>
          </a:p>
          <a:p>
            <a:r>
              <a:rPr lang="ru-RU" dirty="0" smtClean="0"/>
              <a:t>Благодаря </a:t>
            </a:r>
            <a:r>
              <a:rPr lang="ru-RU" dirty="0"/>
              <a:t>этому АСМ </a:t>
            </a:r>
            <a:r>
              <a:rPr lang="ru-RU" dirty="0" smtClean="0"/>
              <a:t>нашла широкое </a:t>
            </a:r>
            <a:r>
              <a:rPr lang="ru-RU" dirty="0"/>
              <a:t>применение для анализа биологических объектов – кристаллов</a:t>
            </a:r>
            <a:br>
              <a:rPr lang="ru-RU" dirty="0"/>
            </a:br>
            <a:r>
              <a:rPr lang="ru-RU" dirty="0"/>
              <a:t>аминокислот, белков, клеточных мембран и многого другого</a:t>
            </a:r>
            <a:r>
              <a:rPr lang="ru-RU" dirty="0" smtClean="0"/>
              <a:t>.</a:t>
            </a:r>
          </a:p>
          <a:p>
            <a:r>
              <a:rPr lang="ru-RU" dirty="0" smtClean="0"/>
              <a:t>Узким </a:t>
            </a:r>
            <a:r>
              <a:rPr lang="ru-RU" dirty="0"/>
              <a:t>местом метода является стойкость материала иглы. </a:t>
            </a:r>
            <a:r>
              <a:rPr lang="ru-RU" dirty="0" smtClean="0"/>
              <a:t>Однако для </a:t>
            </a:r>
            <a:r>
              <a:rPr lang="ru-RU" dirty="0"/>
              <a:t>большинства исследуемых материалов твердости алмазной или</a:t>
            </a:r>
            <a:br>
              <a:rPr lang="ru-RU" dirty="0"/>
            </a:br>
            <a:r>
              <a:rPr lang="ru-RU" dirty="0" err="1"/>
              <a:t>фуллеритовой</a:t>
            </a:r>
            <a:r>
              <a:rPr lang="ru-RU" dirty="0"/>
              <a:t> иглы вполне хватает.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25562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i="1" dirty="0"/>
              <a:t>9.3.3. </a:t>
            </a:r>
            <a:r>
              <a:rPr lang="ru-RU" b="1" i="1" dirty="0" err="1"/>
              <a:t>Магнитосиловая</a:t>
            </a:r>
            <a:r>
              <a:rPr lang="ru-RU" b="1" i="1" dirty="0"/>
              <a:t> зондовая микроскопия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2683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Метод МСМ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Данный метод фактически является разновидностью </a:t>
            </a:r>
            <a:r>
              <a:rPr lang="ru-RU" dirty="0" smtClean="0"/>
              <a:t>предыдущего АСМ-метода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(рис. </a:t>
            </a:r>
            <a:r>
              <a:rPr lang="ru-RU" dirty="0" smtClean="0"/>
              <a:t>). </a:t>
            </a:r>
            <a:r>
              <a:rPr lang="ru-RU" dirty="0"/>
              <a:t>Отличие заключается в том, что кончик иглы </a:t>
            </a:r>
            <a:r>
              <a:rPr lang="ru-RU" dirty="0" err="1" smtClean="0"/>
              <a:t>кантилевера</a:t>
            </a:r>
            <a:r>
              <a:rPr lang="ru-RU" dirty="0" smtClean="0"/>
              <a:t> выполняется </a:t>
            </a:r>
            <a:r>
              <a:rPr lang="ru-RU" dirty="0"/>
              <a:t>из магнитного материала или игла имеет </a:t>
            </a:r>
            <a:r>
              <a:rPr lang="ru-RU" dirty="0" err="1"/>
              <a:t>ферромагнитное</a:t>
            </a:r>
            <a:r>
              <a:rPr lang="ru-RU" dirty="0"/>
              <a:t> покрытие.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этом </a:t>
            </a:r>
            <a:r>
              <a:rPr lang="ru-RU" dirty="0" err="1"/>
              <a:t>кантилевер</a:t>
            </a:r>
            <a:r>
              <a:rPr lang="ru-RU" dirty="0"/>
              <a:t> становится чувствительным к магнитной структуре образца. Разрешение этого метода составляет </a:t>
            </a:r>
            <a:r>
              <a:rPr lang="ru-RU" dirty="0" smtClean="0"/>
              <a:t>порядка 10÷50 </a:t>
            </a:r>
            <a:r>
              <a:rPr lang="ru-RU" dirty="0" err="1"/>
              <a:t>нм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05499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АМС и МСМ (общее и различия)</a:t>
            </a:r>
            <a:br>
              <a:rPr lang="ru-RU" b="1" dirty="0"/>
            </a:br>
            <a:endParaRPr lang="ru-RU" b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556792"/>
            <a:ext cx="7128792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366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Работа МСМ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5069160"/>
          </a:xfrm>
        </p:spPr>
        <p:txBody>
          <a:bodyPr/>
          <a:lstStyle/>
          <a:p>
            <a:r>
              <a:rPr lang="ru-RU" dirty="0"/>
              <a:t>Принцип устройства МСМ и сканирования с помощью зонда представлены на </a:t>
            </a:r>
            <a:r>
              <a:rPr lang="ru-RU" dirty="0" smtClean="0"/>
              <a:t>рис.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971600" y="2708920"/>
            <a:ext cx="7488832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165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Применение МСМ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ru-RU" dirty="0" err="1"/>
              <a:t>магнитосиловой</a:t>
            </a:r>
            <a:r>
              <a:rPr lang="ru-RU" dirty="0"/>
              <a:t> зондовой микроскопии особенно</a:t>
            </a:r>
            <a:br>
              <a:rPr lang="ru-RU" dirty="0"/>
            </a:br>
            <a:r>
              <a:rPr lang="ru-RU" dirty="0"/>
              <a:t>перспективно при исследованиях тонких пленок ферромагнетиков,</a:t>
            </a:r>
            <a:br>
              <a:rPr lang="ru-RU" dirty="0"/>
            </a:br>
            <a:r>
              <a:rPr lang="ru-RU" dirty="0"/>
              <a:t>например для целей электроники.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42301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9.3.4. Сканирующая микроскопия ближней оптической зоны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0191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Сущность метода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В этом методе, называемом также </a:t>
            </a:r>
            <a:r>
              <a:rPr lang="ru-RU" i="1" dirty="0" err="1"/>
              <a:t>ближнепольной</a:t>
            </a:r>
            <a:r>
              <a:rPr lang="ru-RU" i="1" dirty="0"/>
              <a:t> оптической микроскопией</a:t>
            </a:r>
            <a:r>
              <a:rPr lang="ru-RU" dirty="0"/>
              <a:t>, в качестве зонда используется световой волновод (стекловолокно), сужающийся на конце, обращенном к исследуемому образцу.</a:t>
            </a:r>
          </a:p>
          <a:p>
            <a:r>
              <a:rPr lang="ru-RU" dirty="0"/>
              <a:t>Минимальный диаметр кончика </a:t>
            </a:r>
            <a:r>
              <a:rPr lang="ru-RU" dirty="0" err="1"/>
              <a:t>световолокна</a:t>
            </a:r>
            <a:r>
              <a:rPr lang="ru-RU" dirty="0"/>
              <a:t> конца волновода </a:t>
            </a:r>
            <a:br>
              <a:rPr lang="ru-RU" dirty="0"/>
            </a:br>
            <a:r>
              <a:rPr lang="ru-RU" dirty="0" smtClean="0"/>
              <a:t>должен быть меньше </a:t>
            </a:r>
            <a:r>
              <a:rPr lang="ru-RU" dirty="0"/>
              <a:t>длины волны светового излучения. В этих условиях </a:t>
            </a:r>
            <a:r>
              <a:rPr lang="ru-RU" dirty="0" smtClean="0"/>
              <a:t>световая волна </a:t>
            </a:r>
            <a:r>
              <a:rPr lang="ru-RU" dirty="0"/>
              <a:t>не выходит из волновода на большое расстояние, а лишь </a:t>
            </a:r>
            <a:r>
              <a:rPr lang="ru-RU" dirty="0" smtClean="0"/>
              <a:t>слегка «</a:t>
            </a:r>
            <a:r>
              <a:rPr lang="ru-RU" dirty="0"/>
              <a:t>выглядывает» из его кончика. </a:t>
            </a:r>
            <a:endParaRPr lang="ru-RU" dirty="0" smtClean="0"/>
          </a:p>
          <a:p>
            <a:r>
              <a:rPr lang="ru-RU" dirty="0" smtClean="0"/>
              <a:t>На </a:t>
            </a:r>
            <a:r>
              <a:rPr lang="ru-RU" dirty="0"/>
              <a:t>другом конце волновода располагаются лазер и чувствительный фотоприемник отраженного от свободного торца волновода света. С учетом малого расстояния между исследуемой поверхностью и кончиком зонда сигналом, используемым для построения трехмерного изображения поверхности, являются амплитуда </a:t>
            </a:r>
            <a:r>
              <a:rPr lang="ru-RU" dirty="0" smtClean="0"/>
              <a:t>и фаза </a:t>
            </a:r>
            <a:r>
              <a:rPr lang="ru-RU" dirty="0"/>
              <a:t>отраженной световой волны.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3740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Разрешение метода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Метод позволяет достигать разрешения до 10 </a:t>
            </a:r>
            <a:r>
              <a:rPr lang="ru-RU" dirty="0" err="1"/>
              <a:t>нм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ряде </a:t>
            </a:r>
            <a:r>
              <a:rPr lang="ru-RU" dirty="0" smtClean="0"/>
              <a:t>приборов самого </a:t>
            </a:r>
            <a:r>
              <a:rPr lang="ru-RU" dirty="0"/>
              <a:t>последнего поколения с использованием </a:t>
            </a:r>
            <a:r>
              <a:rPr lang="ru-RU" dirty="0" err="1"/>
              <a:t>нанотехнологий</a:t>
            </a:r>
            <a:r>
              <a:rPr lang="ru-RU" dirty="0"/>
              <a:t> лазер </a:t>
            </a:r>
            <a:r>
              <a:rPr lang="ru-RU" dirty="0" smtClean="0"/>
              <a:t>и фотоприемник </a:t>
            </a:r>
            <a:r>
              <a:rPr lang="ru-RU" dirty="0"/>
              <a:t>стали располагать на кончике иглы </a:t>
            </a:r>
            <a:r>
              <a:rPr lang="ru-RU" dirty="0" smtClean="0"/>
              <a:t>атомно-силового микроскопа</a:t>
            </a:r>
            <a:r>
              <a:rPr lang="ru-RU" dirty="0"/>
              <a:t>, что позволяет объединять возможности обоих методов.</a:t>
            </a:r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20927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3559</Words>
  <Application>Microsoft Office PowerPoint</Application>
  <PresentationFormat>Экран (4:3)</PresentationFormat>
  <Paragraphs>303</Paragraphs>
  <Slides>77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77</vt:i4>
      </vt:variant>
    </vt:vector>
  </HeadingPairs>
  <TitlesOfParts>
    <vt:vector size="78" baseType="lpstr">
      <vt:lpstr>Тема Office</vt:lpstr>
      <vt:lpstr> МИКРОСКОПИЧЕСКИЕ МЕТОДЫ АНАЛИЗА  </vt:lpstr>
      <vt:lpstr>Определение микроскопии</vt:lpstr>
      <vt:lpstr>Области микроскопии</vt:lpstr>
      <vt:lpstr>Особенности видов микроскопии</vt:lpstr>
      <vt:lpstr>Разрешающая способность метода</vt:lpstr>
      <vt:lpstr>Возможности микроскопии</vt:lpstr>
      <vt:lpstr>Ультрамикроскопия</vt:lpstr>
      <vt:lpstr> 9.1. Световая (оптическая) микроскопия </vt:lpstr>
      <vt:lpstr>Принципы световой микроскопии</vt:lpstr>
      <vt:lpstr>Разрешающая способность светового микроскопа</vt:lpstr>
      <vt:lpstr>Применение световой микроскопии</vt:lpstr>
      <vt:lpstr>9.2. Электронная микроскопия </vt:lpstr>
      <vt:lpstr>Определение</vt:lpstr>
      <vt:lpstr>Типы электронной микроскопии</vt:lpstr>
      <vt:lpstr>Варианты электронной микроскопии</vt:lpstr>
      <vt:lpstr>Другие варианты электронной микроскопии</vt:lpstr>
      <vt:lpstr>9.2.1. Растровая электронная микроскопия</vt:lpstr>
      <vt:lpstr>Принципы работы РЭМ</vt:lpstr>
      <vt:lpstr>Достоинства растровой электронной микроскопии</vt:lpstr>
      <vt:lpstr>Недостаток метода РЭМ</vt:lpstr>
      <vt:lpstr>Метод рентгеноспектрального микроанализа (РСМА) на РЭМ</vt:lpstr>
      <vt:lpstr>Принципиальная схема растрового электронного микроскопа</vt:lpstr>
      <vt:lpstr>Работа РЭМ</vt:lpstr>
      <vt:lpstr>Площадь сканирования</vt:lpstr>
      <vt:lpstr>Характеристики РЭМ</vt:lpstr>
      <vt:lpstr>Другие характеристики</vt:lpstr>
      <vt:lpstr>Примеры изображения поверхности твердых тел на РЭМ</vt:lpstr>
      <vt:lpstr>Современный РЭМ JEOL JSM 6390</vt:lpstr>
      <vt:lpstr>9.2.2. Просвечивающая электронная микроскопия</vt:lpstr>
      <vt:lpstr>Принцип работы ПЭМ</vt:lpstr>
      <vt:lpstr>Виды изображений в ПЭМ</vt:lpstr>
      <vt:lpstr>Микрофотографии частиц                 у-FeООН, полученные на ПЭМ</vt:lpstr>
      <vt:lpstr>Применение ПЭМ</vt:lpstr>
      <vt:lpstr>Разрешение ПЭМ</vt:lpstr>
      <vt:lpstr>Аппаратура метода ПЭМ</vt:lpstr>
      <vt:lpstr>Общий вид колонны ПЭМ</vt:lpstr>
      <vt:lpstr>Устройство электронной пушки ПЭМ</vt:lpstr>
      <vt:lpstr>Система фокусировки пучка электронов</vt:lpstr>
      <vt:lpstr>Получение изображения в ПЭМ</vt:lpstr>
      <vt:lpstr>Фиксация изображений</vt:lpstr>
      <vt:lpstr>Получение картин дифракции  (электронограмм) на ПЭМ</vt:lpstr>
      <vt:lpstr>Микродифракционные исследования</vt:lpstr>
      <vt:lpstr>Разновидности метода ПЭМ </vt:lpstr>
      <vt:lpstr>Прямой метод</vt:lpstr>
      <vt:lpstr>Косвенный метод</vt:lpstr>
      <vt:lpstr>Полупрямой метод</vt:lpstr>
      <vt:lpstr>9.3. Методы сканирующей зондовой микроскопии</vt:lpstr>
      <vt:lpstr>Принцип работы СЗМ</vt:lpstr>
      <vt:lpstr>Разновидности методов СЗМ</vt:lpstr>
      <vt:lpstr>Материал зонда и метод его сканирования</vt:lpstr>
      <vt:lpstr>Аппаратура методов СЗМ</vt:lpstr>
      <vt:lpstr>Достоинства методов СЗМ</vt:lpstr>
      <vt:lpstr>9.3.1. Сканирующая туннельная микроскопия </vt:lpstr>
      <vt:lpstr>Определение СТМ</vt:lpstr>
      <vt:lpstr>Туннельный эффект</vt:lpstr>
      <vt:lpstr>Работа СТМ</vt:lpstr>
      <vt:lpstr>Туннельный ток</vt:lpstr>
      <vt:lpstr>Управление зондом и изображение поверхности</vt:lpstr>
      <vt:lpstr>Методы записи СТМ-изображений</vt:lpstr>
      <vt:lpstr>Режим постоянной высоты</vt:lpstr>
      <vt:lpstr>Вольтамперная характеристика СТМ</vt:lpstr>
      <vt:lpstr>Ограничения метода СТМ</vt:lpstr>
      <vt:lpstr>9.3.2. Атомно-силовая микроскопия </vt:lpstr>
      <vt:lpstr>Принцип работы АСМ</vt:lpstr>
      <vt:lpstr>АСМ зонды</vt:lpstr>
      <vt:lpstr>Разрешающая способность АСМ</vt:lpstr>
      <vt:lpstr>Неконтактный режим АСМ</vt:lpstr>
      <vt:lpstr>Возможности метода</vt:lpstr>
      <vt:lpstr>Особенности АСМ</vt:lpstr>
      <vt:lpstr>9.3.3. Магнитосиловая зондовая микроскопия </vt:lpstr>
      <vt:lpstr>Метод МСМ</vt:lpstr>
      <vt:lpstr>АМС и МСМ (общее и различия) </vt:lpstr>
      <vt:lpstr>Работа МСМ</vt:lpstr>
      <vt:lpstr>Применение МСМ</vt:lpstr>
      <vt:lpstr>9.3.4. Сканирующая микроскопия ближней оптической зоны </vt:lpstr>
      <vt:lpstr>Сущность метода</vt:lpstr>
      <vt:lpstr>Разрешение метода</vt:lpstr>
    </vt:vector>
  </TitlesOfParts>
  <Company>-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-</dc:creator>
  <cp:lastModifiedBy>-</cp:lastModifiedBy>
  <cp:revision>85</cp:revision>
  <dcterms:created xsi:type="dcterms:W3CDTF">2016-09-26T10:58:57Z</dcterms:created>
  <dcterms:modified xsi:type="dcterms:W3CDTF">2016-09-28T09:43:56Z</dcterms:modified>
</cp:coreProperties>
</file>