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89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79D3-FFFB-4264-814C-AB64C5FB883E}" type="datetimeFigureOut">
              <a:rPr lang="ru-RU" smtClean="0"/>
              <a:pPr/>
              <a:t>15.11.2024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11BE-5428-4A93-9EFA-EE7AFB16D90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625896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79D3-FFFB-4264-814C-AB64C5FB883E}" type="datetimeFigureOut">
              <a:rPr lang="ru-RU" smtClean="0"/>
              <a:pPr/>
              <a:t>15.11.2024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11BE-5428-4A93-9EFA-EE7AFB16D90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161314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79D3-FFFB-4264-814C-AB64C5FB883E}" type="datetimeFigureOut">
              <a:rPr lang="ru-RU" smtClean="0"/>
              <a:pPr/>
              <a:t>15.11.2024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11BE-5428-4A93-9EFA-EE7AFB16D90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79448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79D3-FFFB-4264-814C-AB64C5FB883E}" type="datetimeFigureOut">
              <a:rPr lang="ru-RU" smtClean="0"/>
              <a:pPr/>
              <a:t>15.11.2024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11BE-5428-4A93-9EFA-EE7AFB16D90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078449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79D3-FFFB-4264-814C-AB64C5FB883E}" type="datetimeFigureOut">
              <a:rPr lang="ru-RU" smtClean="0"/>
              <a:pPr/>
              <a:t>15.11.2024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11BE-5428-4A93-9EFA-EE7AFB16D90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385939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79D3-FFFB-4264-814C-AB64C5FB883E}" type="datetimeFigureOut">
              <a:rPr lang="ru-RU" smtClean="0"/>
              <a:pPr/>
              <a:t>15.11.2024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11BE-5428-4A93-9EFA-EE7AFB16D90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884186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79D3-FFFB-4264-814C-AB64C5FB883E}" type="datetimeFigureOut">
              <a:rPr lang="ru-RU" smtClean="0"/>
              <a:pPr/>
              <a:t>15.11.2024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11BE-5428-4A93-9EFA-EE7AFB16D90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398578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79D3-FFFB-4264-814C-AB64C5FB883E}" type="datetimeFigureOut">
              <a:rPr lang="ru-RU" smtClean="0"/>
              <a:pPr/>
              <a:t>15.11.2024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11BE-5428-4A93-9EFA-EE7AFB16D90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137923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79D3-FFFB-4264-814C-AB64C5FB883E}" type="datetimeFigureOut">
              <a:rPr lang="ru-RU" smtClean="0"/>
              <a:pPr/>
              <a:t>15.11.2024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11BE-5428-4A93-9EFA-EE7AFB16D90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481150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79D3-FFFB-4264-814C-AB64C5FB883E}" type="datetimeFigureOut">
              <a:rPr lang="ru-RU" smtClean="0"/>
              <a:pPr/>
              <a:t>15.11.2024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11BE-5428-4A93-9EFA-EE7AFB16D90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793655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79D3-FFFB-4264-814C-AB64C5FB883E}" type="datetimeFigureOut">
              <a:rPr lang="ru-RU" smtClean="0"/>
              <a:pPr/>
              <a:t>15.11.2024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11BE-5428-4A93-9EFA-EE7AFB16D90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821841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B79D3-FFFB-4264-814C-AB64C5FB883E}" type="datetimeFigureOut">
              <a:rPr lang="ru-RU" smtClean="0"/>
              <a:pPr/>
              <a:t>15.11.2024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311BE-5428-4A93-9EFA-EE7AFB16D90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78950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730623"/>
          </a:xfrm>
        </p:spPr>
        <p:txBody>
          <a:bodyPr>
            <a:noAutofit/>
          </a:bodyPr>
          <a:lstStyle/>
          <a:p>
            <a:r>
              <a:rPr lang="ru-RU" sz="2000" dirty="0"/>
              <a:t/>
            </a:r>
            <a:br>
              <a:rPr lang="ru-RU" sz="2000" dirty="0"/>
            </a:br>
            <a:r>
              <a:rPr lang="ru-RU" sz="2000" b="1" dirty="0" smtClean="0"/>
              <a:t>Методы </a:t>
            </a:r>
            <a:r>
              <a:rPr lang="ru-RU" sz="2000" b="1" dirty="0"/>
              <a:t>наладки, регулировки и технического обслуживания ЭС в составе технологических систем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b="1" dirty="0" smtClean="0"/>
              <a:t> </a:t>
            </a:r>
            <a:r>
              <a:rPr lang="ru-RU" sz="2000" b="1" dirty="0"/>
              <a:t>Параметры наладочно-регулировочных работ и организация технологического процесса обслуживания и ремонта ЭС.</a:t>
            </a:r>
            <a:endParaRPr lang="ru-RU" sz="2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dirty="0" smtClean="0"/>
              <a:t>Параметры наладочно-регулировочных работ и организация технологического процесса обслуживания и ремонта ЭС.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5432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Наладочно регулировочные работы в составе технологических систем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Качество ЭС в существенной степени определяется регулировочными работами. Регулировка и настройка </a:t>
            </a:r>
            <a:r>
              <a:rPr lang="ru-RU" dirty="0" smtClean="0"/>
              <a:t>- это </a:t>
            </a:r>
            <a:r>
              <a:rPr lang="ru-RU" dirty="0"/>
              <a:t>вынужденные операции в общем технологическом цикле производства ЭС и составляют более 30 % от общей трудоемкости. </a:t>
            </a:r>
          </a:p>
          <a:p>
            <a:r>
              <a:rPr lang="ru-RU" dirty="0"/>
              <a:t>Под регулировочными и настроечными операциями (НРО) понимают комплекс работ по доведению параметров ЭС до величин, соответствующих требованиям технических условий ТУ и нормалей. </a:t>
            </a:r>
          </a:p>
          <a:p>
            <a:r>
              <a:rPr lang="ru-RU" dirty="0"/>
              <a:t>Качество ЭС – это соответствие ее параметров требованиям стандарта. </a:t>
            </a:r>
            <a:endParaRPr lang="ru-RU" dirty="0" smtClean="0"/>
          </a:p>
          <a:p>
            <a:r>
              <a:rPr lang="ru-RU" dirty="0" smtClean="0"/>
              <a:t>Достичь </a:t>
            </a:r>
            <a:r>
              <a:rPr lang="ru-RU" dirty="0"/>
              <a:t>этих параметров можно только проведением настройки и регулировки. </a:t>
            </a:r>
            <a:endParaRPr lang="ru-RU" dirty="0" smtClean="0"/>
          </a:p>
          <a:p>
            <a:r>
              <a:rPr lang="ru-RU" dirty="0" smtClean="0"/>
              <a:t>Целью </a:t>
            </a:r>
            <a:r>
              <a:rPr lang="ru-RU" dirty="0"/>
              <a:t>НРО является доведение выходных параметров ЭС до оптимальных значений удовлетворяющих требованиям ГОСТ или ТУ при наименьших затратах труда и времени.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175506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Наладка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i="1" dirty="0"/>
              <a:t>Наладка</a:t>
            </a:r>
            <a:r>
              <a:rPr lang="ru-RU" dirty="0"/>
              <a:t> – совокупность операций по подготовке, оснастке, регулированию и настройке объекта направленных на обеспечение ее работоспособности в заданных условиях на протяжении определенного времени (час, смена, партия и т.д.). </a:t>
            </a:r>
            <a:endParaRPr lang="ru-RU" dirty="0" smtClean="0"/>
          </a:p>
          <a:p>
            <a:r>
              <a:rPr lang="ru-RU" dirty="0" smtClean="0"/>
              <a:t>Объектами </a:t>
            </a:r>
            <a:r>
              <a:rPr lang="ru-RU" dirty="0"/>
              <a:t>наладки является технологическое оборудование, измерительные приборы, транспортные устройства, военные устройства, средства медицинской техники и т.д.</a:t>
            </a:r>
          </a:p>
        </p:txBody>
      </p:sp>
    </p:spTree>
    <p:extLst>
      <p:ext uri="{BB962C8B-B14F-4D97-AF65-F5344CB8AC3E}">
        <p14:creationId xmlns="" xmlns:p14="http://schemas.microsoft.com/office/powerpoint/2010/main" val="2279164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Настройка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Настройка</a:t>
            </a:r>
            <a:r>
              <a:rPr lang="ru-RU" dirty="0"/>
              <a:t> –  изменение в заданных ТУ пределах параметров устройств (обычно выполняется в процессе эксплуатации при переходе на новый режим работы), целью которого является обеспечение нормального функционирования объекта.</a:t>
            </a:r>
          </a:p>
        </p:txBody>
      </p:sp>
    </p:spTree>
    <p:extLst>
      <p:ext uri="{BB962C8B-B14F-4D97-AF65-F5344CB8AC3E}">
        <p14:creationId xmlns="" xmlns:p14="http://schemas.microsoft.com/office/powerpoint/2010/main" val="98729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Регулировка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i="1" dirty="0"/>
              <a:t>Регулировка</a:t>
            </a:r>
            <a:r>
              <a:rPr lang="ru-RU" dirty="0"/>
              <a:t> – процесс доведения параметров ЭС до оптимальных заданных ТУ без изменения схемы и конструкции. </a:t>
            </a:r>
          </a:p>
          <a:p>
            <a:r>
              <a:rPr lang="ru-RU" dirty="0"/>
              <a:t>Следует различать </a:t>
            </a:r>
            <a:r>
              <a:rPr lang="ru-RU" i="1" dirty="0"/>
              <a:t>технологическую</a:t>
            </a:r>
            <a:r>
              <a:rPr lang="ru-RU" dirty="0"/>
              <a:t> и </a:t>
            </a:r>
            <a:r>
              <a:rPr lang="ru-RU" i="1" dirty="0"/>
              <a:t>эксплуатационную</a:t>
            </a:r>
            <a:r>
              <a:rPr lang="ru-RU" dirty="0"/>
              <a:t> регулировки.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первом случае добиваются наилучших показателей всеми имеющимися регулировочными органами при среднем положении регулировочных органов, называемых эксплуатационными, которые выносятся на переднюю панель. </a:t>
            </a:r>
            <a:endParaRPr lang="ru-RU" dirty="0" smtClean="0"/>
          </a:p>
          <a:p>
            <a:r>
              <a:rPr lang="ru-RU" dirty="0" smtClean="0"/>
              <a:t>Во </a:t>
            </a:r>
            <a:r>
              <a:rPr lang="ru-RU" dirty="0"/>
              <a:t>втором случае добиваются наилучших показателей только с помощью регулировочных органов, которые выносятся на переднюю панель.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57264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 smtClean="0"/>
              <a:t>Настройка и регулировка сложной аппаратуры</a:t>
            </a:r>
            <a:endParaRPr lang="ru-RU" sz="2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При настройке и регулировке сложной аппаратуры весь процесс разбивают на ряд этапов. Сначала регулируют сборочные единицы, блоки, приборы, а затем осуществляют комплексную настройку и регулировку.</a:t>
            </a:r>
          </a:p>
          <a:p>
            <a:r>
              <a:rPr lang="ru-RU" dirty="0"/>
              <a:t> Настройка и регулировка сборочных единиц характерна для самостоятельных функциональных электронных устройств, входящих в общую схему ЭС. </a:t>
            </a:r>
          </a:p>
          <a:p>
            <a:r>
              <a:rPr lang="ru-RU" i="1" dirty="0"/>
              <a:t>Комплексная</a:t>
            </a:r>
            <a:r>
              <a:rPr lang="ru-RU" dirty="0"/>
              <a:t> настройка и регулировка предусматривает проверку работоспособности ЭС в целом и соответствия ее параметров ТУ на комплекс. При этом должна быть обеспечена такая точность параметров, которая гарантировала бы работоспособность ЭС в условиях эксплуатации.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369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Необходимость РНО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Проведение РНО необходимо тогда, когда требуется устранение погрешностей изготовления деталей, радиоэлементов, сборочных единиц, причем погрешностей как вынужденных, так и предопределенных заранее.</a:t>
            </a:r>
          </a:p>
          <a:p>
            <a:r>
              <a:rPr lang="ru-RU" dirty="0"/>
              <a:t>Причина последних - искусственное завышение допусков на отдельные параметры в целях уменьшения себестоимости изделий или невозможности реализации требуемой точности.</a:t>
            </a:r>
          </a:p>
          <a:p>
            <a:r>
              <a:rPr lang="ru-RU" dirty="0"/>
              <a:t>Работы, выполняемые при РНО, включают настройку различных резонансных систем, сопряжение электрических, радиотехнических и кинематических параметров отдельных узлов и всей аппаратуры в целом, установку определенных режимов отдельных каскадов, узлов, подгонку некоторых элементов и т.д.</a:t>
            </a:r>
          </a:p>
        </p:txBody>
      </p:sp>
    </p:spTree>
    <p:extLst>
      <p:ext uri="{BB962C8B-B14F-4D97-AF65-F5344CB8AC3E}">
        <p14:creationId xmlns="" xmlns:p14="http://schemas.microsoft.com/office/powerpoint/2010/main" val="1227101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Минимизация затрат труда и времени на НРО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Характер и объем РНО определяется видом и объемом производства, а также оснащенностью технологического процесса (ТП).</a:t>
            </a:r>
          </a:p>
          <a:p>
            <a:r>
              <a:rPr lang="ru-RU" dirty="0"/>
              <a:t> Как этап производства РНО составляют в общем технологическом процессе ряд операций, не изменяющих схему и конструкцию изделия, а лишь компенсирующих неточность изготовления и сборки элементов ЭС собственного производства, а также комплектующих элементов. За счет такой компенсации осуществляется:</a:t>
            </a:r>
          </a:p>
          <a:p>
            <a:r>
              <a:rPr lang="ru-RU" dirty="0"/>
              <a:t>- согласование входных и выходных параметров узлов;</a:t>
            </a:r>
          </a:p>
          <a:p>
            <a:r>
              <a:rPr lang="ru-RU" dirty="0"/>
              <a:t>- доведение параметров изделия до оптимального значения, удовлетворяющего требованиям ТУ.</a:t>
            </a:r>
          </a:p>
          <a:p>
            <a:r>
              <a:rPr lang="ru-RU" dirty="0"/>
              <a:t>Поскольку исключить НРО из технического процесса невозможно (хотя при использовании интегральных схем (ИС) количество НРО уменьшается поскольку ИС заменяют устройства которые требуют регулировки), то естественна постановка задачи минимизации затрат труда и времени на НРО. </a:t>
            </a:r>
          </a:p>
          <a:p>
            <a:r>
              <a:rPr lang="ru-RU" dirty="0"/>
              <a:t>Общие пути решения такого рода задач известны. Это отработка методики выполнения НРО, автоматизация НРО</a:t>
            </a:r>
            <a:r>
              <a:rPr lang="ru-RU" dirty="0" smtClean="0"/>
              <a:t>, - </a:t>
            </a:r>
            <a:r>
              <a:rPr lang="ru-RU" dirty="0"/>
              <a:t>схемотехнические и конструктивные решения, сокращающие затраты на НРО.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795809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Методы выполнения наладочно-</a:t>
            </a:r>
            <a:r>
              <a:rPr lang="ru-RU" b="1" dirty="0" err="1"/>
              <a:t>реулировочных</a:t>
            </a:r>
            <a:r>
              <a:rPr lang="ru-RU" b="1" dirty="0"/>
              <a:t> операций и их классификация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763826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Система всеобщего обслуживания оборудования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Одним из комплексных подходов управления качеством работы оборудования является внедрение системы всеобщего обслуживания оборудования или TPM (</a:t>
            </a:r>
            <a:r>
              <a:rPr lang="ru-RU" dirty="0" err="1"/>
              <a:t>Total</a:t>
            </a:r>
            <a:r>
              <a:rPr lang="ru-RU" dirty="0"/>
              <a:t> </a:t>
            </a:r>
            <a:r>
              <a:rPr lang="ru-RU" dirty="0" err="1"/>
              <a:t>Productive</a:t>
            </a:r>
            <a:r>
              <a:rPr lang="ru-RU" dirty="0"/>
              <a:t> </a:t>
            </a:r>
            <a:r>
              <a:rPr lang="ru-RU" dirty="0" err="1"/>
              <a:t>Maintenance</a:t>
            </a:r>
            <a:r>
              <a:rPr lang="ru-RU" dirty="0"/>
              <a:t>), которая зародилась в 1960-х гг. в Японии. </a:t>
            </a:r>
            <a:endParaRPr lang="ru-RU" dirty="0" smtClean="0"/>
          </a:p>
          <a:p>
            <a:r>
              <a:rPr lang="ru-RU" dirty="0" smtClean="0"/>
              <a:t>Ее </a:t>
            </a:r>
            <a:r>
              <a:rPr lang="ru-RU" dirty="0"/>
              <a:t>название не буквально, но точно по смыслу можно перевести как обслуживание оборудования, позволяющее обеспечить его наивысшую эффективность на протяжении всего жизненного цикла продукции с участием всего персонала.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181114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Идеи </a:t>
            </a:r>
            <a:r>
              <a:rPr lang="en-US" b="1" dirty="0" smtClean="0"/>
              <a:t>TPM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36712"/>
            <a:ext cx="8507288" cy="5904656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Данная система была сформирована на основе оригинальной концепции обеспечения качества, согласно которой ставку необходимо делать не на контроль качества, а на его создание непосредственно в процессе работы. </a:t>
            </a:r>
            <a:endParaRPr lang="ru-RU" dirty="0" smtClean="0"/>
          </a:p>
          <a:p>
            <a:r>
              <a:rPr lang="ru-RU" dirty="0" smtClean="0"/>
              <a:t>Начало </a:t>
            </a:r>
            <a:r>
              <a:rPr lang="ru-RU" dirty="0"/>
              <a:t>этому было положено в компании </a:t>
            </a:r>
            <a:r>
              <a:rPr lang="ru-RU" dirty="0" err="1"/>
              <a:t>Nippon</a:t>
            </a:r>
            <a:r>
              <a:rPr lang="ru-RU" dirty="0"/>
              <a:t>, производившей автомобильную электронику, где в результате автоматизации производства возникла проблема эффективного использования сложного оборудования.</a:t>
            </a:r>
          </a:p>
          <a:p>
            <a:r>
              <a:rPr lang="ru-RU" dirty="0"/>
              <a:t> Решение нашли с помощью двух основных идей:</a:t>
            </a:r>
          </a:p>
          <a:p>
            <a:r>
              <a:rPr lang="ru-RU" dirty="0"/>
              <a:t>- операторам было вменено в обязанность не только использовать оборудование, но и осуществлять его текущее обслуживание; </a:t>
            </a:r>
          </a:p>
          <a:p>
            <a:r>
              <a:rPr lang="ru-RU" dirty="0"/>
              <a:t>- на основе кружков качества была создана система поддержания в нормальном состоянии оборудования с помощью всего персонала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dirty="0"/>
              <a:t>В это же время было дано развернутое определение TPM для производственных подразделений. Позднее данная система охватила не только производственные, но и конструкторские, коммерческие, управленческие и другие подразделения, т.е. стала универсальной.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253808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Распространение системы TPM 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В 1990-х гг. система TPM получила распространение в отраслях, где состояние оборудования оказывает решающее влияние на уровень производительности, качества, травматизма, загрязнения окружающей среды.</a:t>
            </a:r>
          </a:p>
          <a:p>
            <a:r>
              <a:rPr lang="ru-RU" dirty="0"/>
              <a:t> Сегодня среди тех, кто уже внедрил или внедряет TPM, помимо японских фирм находятся также </a:t>
            </a:r>
            <a:r>
              <a:rPr lang="ru-RU" dirty="0" err="1"/>
              <a:t>Eastman</a:t>
            </a:r>
            <a:r>
              <a:rPr lang="ru-RU" dirty="0"/>
              <a:t> </a:t>
            </a:r>
            <a:r>
              <a:rPr lang="ru-RU" dirty="0" err="1"/>
              <a:t>Kodak</a:t>
            </a:r>
            <a:r>
              <a:rPr lang="ru-RU" dirty="0"/>
              <a:t>, </a:t>
            </a:r>
            <a:r>
              <a:rPr lang="ru-RU" dirty="0" err="1"/>
              <a:t>Ford</a:t>
            </a:r>
            <a:r>
              <a:rPr lang="ru-RU" dirty="0"/>
              <a:t>, </a:t>
            </a:r>
            <a:r>
              <a:rPr lang="ru-RU" dirty="0" err="1"/>
              <a:t>Procter</a:t>
            </a:r>
            <a:r>
              <a:rPr lang="ru-RU" dirty="0"/>
              <a:t> &amp;</a:t>
            </a:r>
            <a:r>
              <a:rPr lang="ru-RU" dirty="0" err="1"/>
              <a:t>Gambel</a:t>
            </a:r>
            <a:r>
              <a:rPr lang="ru-RU" dirty="0"/>
              <a:t>, несколько заводов </a:t>
            </a:r>
            <a:r>
              <a:rPr lang="ru-RU" dirty="0" err="1"/>
              <a:t>Pirelli</a:t>
            </a:r>
            <a:r>
              <a:rPr lang="ru-RU" dirty="0"/>
              <a:t>, группа </a:t>
            </a:r>
            <a:r>
              <a:rPr lang="ru-RU" dirty="0" err="1"/>
              <a:t>Dupont</a:t>
            </a:r>
            <a:r>
              <a:rPr lang="ru-RU" dirty="0"/>
              <a:t> и многие другие компании Европы, Южной Америки и Азии, в том числе Китая. В Финляндии учреждена премия TPM.</a:t>
            </a:r>
          </a:p>
          <a:p>
            <a:r>
              <a:rPr lang="ru-RU" dirty="0"/>
              <a:t>Внедрение TPM позволяет предприятию достичь предельной и комплексной эффективности производственной системы, т.е. получить максимально возможный результат в отношении объема производства (P), качества продукции (Q), себестоимости (С), сроков поставок (D), безопасности рабочих мест (S) и инициативы персонала (M) при минимальном использовании человеческих, материальных и финансовых ресурсов.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927067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Факторы успеха предприятия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Качественное улучшение состояния предприятия достигается при внедрении системы TPM за счет согласованного изменения двух факторов:</a:t>
            </a:r>
          </a:p>
          <a:p>
            <a:r>
              <a:rPr lang="ru-RU" dirty="0"/>
              <a:t>- профессионального развития человека: операторы должны уметь самостоятельно производить ежедневное обслуживание оборудования, обслуживающий персонал (механики и др.) — непрерывно поддерживать работоспособность высокотехнологичного оборудования, инженеры — проектировать оборудование, не требующее поддержания и ремонта;</a:t>
            </a:r>
          </a:p>
          <a:p>
            <a:r>
              <a:rPr lang="ru-RU" dirty="0"/>
              <a:t>- усовершенствования оборудования: повышение эффективности использования имеющегося оборудования за счет его непрерывного улучшения и проектирование нового с учетом полного жизненного цикла с последующим выводом его в кратчайшие сроки на полную проектную мощность.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340591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Эффект от внедрения системы ТРМ на предприятиях Японии</a:t>
            </a:r>
          </a:p>
        </p:txBody>
      </p:sp>
      <p:pic>
        <p:nvPicPr>
          <p:cNvPr id="4" name="Picture 2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600200"/>
            <a:ext cx="6336704" cy="4997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15672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/>
              <a:t>Влияние на качество технического уровня и уровня рабочего состояния оборудования</a:t>
            </a:r>
            <a:br>
              <a:rPr lang="ru-RU" sz="3200" b="1" dirty="0"/>
            </a:b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Технический уровень и уровень рабочего состояния прежде всего производственного оборудования, непосредственно отражаются на качестве продукции или оказываемой услуги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Чем выше точность, надежность и прогрессивность применяемого оборудования, тем выше качество конечного продукта деятельности организации.</a:t>
            </a:r>
          </a:p>
          <a:p>
            <a:r>
              <a:rPr lang="ru-RU" dirty="0"/>
              <a:t> Достижение необходимого технического уровня связано не только с его обновлением, но и с поддержанием соответствующего уровня действующего оборудования в процессе технического обслуживания и ремонта.</a:t>
            </a:r>
          </a:p>
        </p:txBody>
      </p:sp>
    </p:spTree>
    <p:extLst>
      <p:ext uri="{BB962C8B-B14F-4D97-AF65-F5344CB8AC3E}">
        <p14:creationId xmlns="" xmlns:p14="http://schemas.microsoft.com/office/powerpoint/2010/main" val="844384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Виды деятельности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Выделяют различные виды деятельности по поддержанию оборудования в надлежащем состоянии:</a:t>
            </a:r>
          </a:p>
          <a:p>
            <a:r>
              <a:rPr lang="ru-RU" dirty="0"/>
              <a:t>	- техническое обслуживание — это комплекс операций по поддержанию работоспособности оборудования при использовании по назначению, хранении и транспортировке, при которых периодически повторяющиеся операции — осмотры, проверки на прочность и др.  выполняются по заранее разработанному графику;</a:t>
            </a:r>
          </a:p>
          <a:p>
            <a:r>
              <a:rPr lang="ru-RU" dirty="0"/>
              <a:t>	-  плановые ремонты, которые по содержанию выполняемых работ и трудоемкости подразделяются на текущие, средние и капитальные.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47249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Особенности выполнения НРО.</a:t>
            </a:r>
            <a:br>
              <a:rPr lang="ru-RU" b="1" dirty="0"/>
            </a:b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507288" cy="5688632"/>
          </a:xfrm>
        </p:spPr>
        <p:txBody>
          <a:bodyPr>
            <a:noAutofit/>
          </a:bodyPr>
          <a:lstStyle/>
          <a:p>
            <a:r>
              <a:rPr lang="ru-RU" sz="1800" dirty="0"/>
              <a:t>Сущность регулировочных работ сводится к следующему. Имеется заданная функция, в большинстве своем функция от многих переменных</a:t>
            </a:r>
            <a:r>
              <a:rPr lang="ru-RU" sz="1800" dirty="0" smtClean="0"/>
              <a:t>:</a:t>
            </a:r>
          </a:p>
          <a:p>
            <a:pPr marL="0" indent="0">
              <a:buNone/>
            </a:pPr>
            <a:r>
              <a:rPr lang="ru-RU" sz="1800" b="1" i="1" dirty="0"/>
              <a:t>	</a:t>
            </a:r>
            <a:r>
              <a:rPr lang="ru-RU" sz="1800" b="1" i="1" dirty="0" smtClean="0"/>
              <a:t>		Е </a:t>
            </a:r>
            <a:r>
              <a:rPr lang="ru-RU" sz="1800" b="1" i="1" dirty="0"/>
              <a:t>= f(</a:t>
            </a:r>
            <a:r>
              <a:rPr lang="ru-RU" sz="1800" b="1" i="1" dirty="0" err="1"/>
              <a:t>x,y,z</a:t>
            </a:r>
            <a:r>
              <a:rPr lang="ru-RU" sz="1800" b="1" i="1" dirty="0"/>
              <a:t>…..)</a:t>
            </a:r>
            <a:r>
              <a:rPr lang="ru-RU" sz="1800" b="1" dirty="0"/>
              <a:t> 	</a:t>
            </a:r>
            <a:r>
              <a:rPr lang="ru-RU" sz="1800" dirty="0"/>
              <a:t>     	</a:t>
            </a:r>
            <a:r>
              <a:rPr lang="ru-RU" sz="1800" dirty="0" smtClean="0"/>
              <a:t> </a:t>
            </a:r>
            <a:r>
              <a:rPr lang="ru-RU" sz="1800" dirty="0"/>
              <a:t>(1</a:t>
            </a:r>
            <a:r>
              <a:rPr lang="ru-RU" sz="1800" dirty="0" smtClean="0"/>
              <a:t>)</a:t>
            </a:r>
          </a:p>
          <a:p>
            <a:r>
              <a:rPr lang="ru-RU" sz="1800" dirty="0" smtClean="0"/>
              <a:t>Каждый </a:t>
            </a:r>
            <a:r>
              <a:rPr lang="ru-RU" sz="1800" dirty="0"/>
              <a:t>из выходных параметров изделия представляет собой функцию многих переменных </a:t>
            </a:r>
            <a:r>
              <a:rPr lang="ru-RU" sz="1800" dirty="0" smtClean="0"/>
              <a:t>т.е.</a:t>
            </a:r>
          </a:p>
          <a:p>
            <a:pPr marL="0" indent="0">
              <a:buNone/>
            </a:pPr>
            <a:r>
              <a:rPr lang="ru-RU" sz="1800" b="1" i="1" dirty="0" smtClean="0"/>
              <a:t>			Е</a:t>
            </a:r>
            <a:r>
              <a:rPr lang="ru-RU" sz="1800" b="1" i="1" baseline="-25000" dirty="0" smtClean="0"/>
              <a:t>1</a:t>
            </a:r>
            <a:r>
              <a:rPr lang="ru-RU" sz="1800" b="1" i="1" dirty="0" smtClean="0"/>
              <a:t> </a:t>
            </a:r>
            <a:r>
              <a:rPr lang="ru-RU" sz="1800" b="1" i="1" dirty="0"/>
              <a:t>= f(x</a:t>
            </a:r>
            <a:r>
              <a:rPr lang="ru-RU" sz="1800" b="1" i="1" baseline="-25000" dirty="0"/>
              <a:t>1</a:t>
            </a:r>
            <a:r>
              <a:rPr lang="ru-RU" sz="1800" b="1" i="1" dirty="0"/>
              <a:t>,y</a:t>
            </a:r>
            <a:r>
              <a:rPr lang="ru-RU" sz="1800" b="1" i="1" baseline="-25000" dirty="0"/>
              <a:t>1</a:t>
            </a:r>
            <a:r>
              <a:rPr lang="ru-RU" sz="1800" b="1" i="1" dirty="0"/>
              <a:t>,z</a:t>
            </a:r>
            <a:r>
              <a:rPr lang="ru-RU" sz="1800" b="1" i="1" baseline="-25000" dirty="0"/>
              <a:t>1</a:t>
            </a:r>
            <a:r>
              <a:rPr lang="ru-RU" sz="1800" b="1" i="1" dirty="0" smtClean="0"/>
              <a:t>.....)</a:t>
            </a:r>
            <a:endParaRPr lang="ru-RU" sz="1800" dirty="0" smtClean="0"/>
          </a:p>
          <a:p>
            <a:pPr marL="0" indent="0">
              <a:buNone/>
            </a:pPr>
            <a:r>
              <a:rPr lang="ru-RU" sz="1800" b="1" i="1" dirty="0"/>
              <a:t>	</a:t>
            </a:r>
            <a:r>
              <a:rPr lang="ru-RU" sz="1800" b="1" i="1" dirty="0" smtClean="0"/>
              <a:t>		Е</a:t>
            </a:r>
            <a:r>
              <a:rPr lang="ru-RU" sz="1800" b="1" i="1" baseline="-25000" dirty="0" smtClean="0"/>
              <a:t>2</a:t>
            </a:r>
            <a:r>
              <a:rPr lang="ru-RU" sz="1800" b="1" i="1" dirty="0" smtClean="0"/>
              <a:t> </a:t>
            </a:r>
            <a:r>
              <a:rPr lang="ru-RU" sz="1800" b="1" i="1" dirty="0"/>
              <a:t>= f(x</a:t>
            </a:r>
            <a:r>
              <a:rPr lang="ru-RU" sz="1800" b="1" i="1" baseline="-25000" dirty="0"/>
              <a:t>2</a:t>
            </a:r>
            <a:r>
              <a:rPr lang="ru-RU" sz="1800" b="1" i="1" dirty="0"/>
              <a:t>,y</a:t>
            </a:r>
            <a:r>
              <a:rPr lang="ru-RU" sz="1800" b="1" i="1" baseline="-25000" dirty="0"/>
              <a:t>2</a:t>
            </a:r>
            <a:r>
              <a:rPr lang="ru-RU" sz="1800" b="1" i="1" dirty="0"/>
              <a:t>,z</a:t>
            </a:r>
            <a:r>
              <a:rPr lang="ru-RU" sz="1800" b="1" i="1" baseline="-25000" dirty="0"/>
              <a:t>2</a:t>
            </a:r>
            <a:r>
              <a:rPr lang="ru-RU" sz="1800" b="1" i="1" dirty="0"/>
              <a:t>.....)                      </a:t>
            </a:r>
            <a:r>
              <a:rPr lang="ru-RU" sz="1800" dirty="0"/>
              <a:t>(2</a:t>
            </a:r>
            <a:r>
              <a:rPr lang="ru-RU" sz="1800" dirty="0" smtClean="0"/>
              <a:t>)</a:t>
            </a:r>
          </a:p>
          <a:p>
            <a:pPr marL="0" indent="0">
              <a:buNone/>
            </a:pPr>
            <a:r>
              <a:rPr lang="ru-RU" sz="1800" b="1" dirty="0"/>
              <a:t>	</a:t>
            </a:r>
            <a:r>
              <a:rPr lang="ru-RU" sz="1800" b="1" dirty="0" smtClean="0"/>
              <a:t>		...................</a:t>
            </a:r>
          </a:p>
          <a:p>
            <a:pPr marL="0" indent="0">
              <a:buNone/>
            </a:pPr>
            <a:r>
              <a:rPr lang="ru-RU" sz="1800" b="1" i="1" dirty="0"/>
              <a:t>	</a:t>
            </a:r>
            <a:r>
              <a:rPr lang="ru-RU" sz="1800" b="1" i="1" dirty="0" smtClean="0"/>
              <a:t>	</a:t>
            </a:r>
            <a:r>
              <a:rPr lang="ru-RU" sz="1800" b="1" i="1" dirty="0"/>
              <a:t>	</a:t>
            </a:r>
            <a:r>
              <a:rPr lang="ru-RU" sz="1800" b="1" i="1" dirty="0" smtClean="0"/>
              <a:t>Е</a:t>
            </a:r>
            <a:r>
              <a:rPr lang="en-US" sz="1800" b="1" i="1" baseline="-25000" dirty="0"/>
              <a:t>n</a:t>
            </a:r>
            <a:r>
              <a:rPr lang="ru-RU" sz="1800" b="1" i="1" dirty="0"/>
              <a:t> = f(x</a:t>
            </a:r>
            <a:r>
              <a:rPr lang="en-US" sz="1800" b="1" i="1" baseline="-25000" dirty="0"/>
              <a:t>n</a:t>
            </a:r>
            <a:r>
              <a:rPr lang="ru-RU" sz="1800" b="1" i="1" dirty="0"/>
              <a:t>,y</a:t>
            </a:r>
            <a:r>
              <a:rPr lang="en-US" sz="1800" b="1" i="1" baseline="-25000" dirty="0"/>
              <a:t>n</a:t>
            </a:r>
            <a:r>
              <a:rPr lang="ru-RU" sz="1800" b="1" i="1" dirty="0"/>
              <a:t>,z</a:t>
            </a:r>
            <a:r>
              <a:rPr lang="en-US" sz="1800" b="1" i="1" baseline="-25000" dirty="0"/>
              <a:t>n</a:t>
            </a:r>
            <a:r>
              <a:rPr lang="ru-RU" sz="1800" b="1" i="1" dirty="0"/>
              <a:t>.....),</a:t>
            </a:r>
            <a:endParaRPr lang="ru-RU" sz="1800" dirty="0"/>
          </a:p>
          <a:p>
            <a:pPr marL="0" indent="0">
              <a:buNone/>
            </a:pPr>
            <a:r>
              <a:rPr lang="ru-RU" sz="1800" dirty="0"/>
              <a:t> </a:t>
            </a:r>
            <a:r>
              <a:rPr lang="ru-RU" sz="1800" dirty="0" smtClean="0"/>
              <a:t>	где    </a:t>
            </a:r>
            <a:r>
              <a:rPr lang="ru-RU" sz="1800" dirty="0" err="1"/>
              <a:t>x,y,z</a:t>
            </a:r>
            <a:r>
              <a:rPr lang="ru-RU" sz="1800" dirty="0"/>
              <a:t>....- параметры входящих в схему деталей, элементов узлов.</a:t>
            </a:r>
          </a:p>
          <a:p>
            <a:r>
              <a:rPr lang="ru-RU" sz="1800" dirty="0"/>
              <a:t>Цель регулировки - достижения условия по всем </a:t>
            </a:r>
            <a:r>
              <a:rPr lang="ru-RU" sz="1800" dirty="0" smtClean="0"/>
              <a:t>параметрам</a:t>
            </a:r>
          </a:p>
          <a:p>
            <a:pPr marL="0" indent="0" algn="ctr">
              <a:buNone/>
            </a:pPr>
            <a:r>
              <a:rPr lang="ru-RU" sz="1800" b="1" i="1" dirty="0" smtClean="0"/>
              <a:t>|</a:t>
            </a:r>
            <a:r>
              <a:rPr lang="ru-RU" sz="1800" b="1" i="1" dirty="0"/>
              <a:t>E</a:t>
            </a:r>
            <a:r>
              <a:rPr lang="ru-RU" sz="1800" b="1" i="1" baseline="-25000" dirty="0"/>
              <a:t>0</a:t>
            </a:r>
            <a:r>
              <a:rPr lang="en-US" sz="1800" b="1" i="1" baseline="-25000" dirty="0" err="1"/>
              <a:t>i</a:t>
            </a:r>
            <a:r>
              <a:rPr lang="ru-RU" sz="1800" b="1" i="1" dirty="0"/>
              <a:t> – Е</a:t>
            </a:r>
            <a:r>
              <a:rPr lang="en-US" sz="1800" b="1" i="1" baseline="-25000" dirty="0" err="1"/>
              <a:t>i</a:t>
            </a:r>
            <a:r>
              <a:rPr lang="ru-RU" sz="1800" b="1" i="1" dirty="0"/>
              <a:t>|  </a:t>
            </a:r>
            <a:r>
              <a:rPr lang="ru-RU" sz="1800" b="1" i="1" dirty="0" err="1"/>
              <a:t>Δ</a:t>
            </a:r>
            <a:r>
              <a:rPr lang="ru-RU" sz="1800" b="1" i="1" baseline="-25000" dirty="0" err="1"/>
              <a:t>доп</a:t>
            </a:r>
            <a:r>
              <a:rPr lang="ru-RU" sz="1800" i="1" dirty="0"/>
              <a:t>,</a:t>
            </a:r>
            <a:r>
              <a:rPr lang="ru-RU" sz="1800" dirty="0"/>
              <a:t>                      </a:t>
            </a:r>
            <a:r>
              <a:rPr lang="ru-RU" sz="1800" dirty="0" smtClean="0"/>
              <a:t>          </a:t>
            </a:r>
            <a:r>
              <a:rPr lang="ru-RU" sz="1800" dirty="0"/>
              <a:t>(</a:t>
            </a:r>
            <a:r>
              <a:rPr lang="ru-RU" sz="1800" dirty="0" smtClean="0"/>
              <a:t>3)</a:t>
            </a:r>
          </a:p>
          <a:p>
            <a:r>
              <a:rPr lang="ru-RU" sz="1800" dirty="0" smtClean="0"/>
              <a:t>где </a:t>
            </a:r>
            <a:r>
              <a:rPr lang="ru-RU" sz="1800" dirty="0"/>
              <a:t>E</a:t>
            </a:r>
            <a:r>
              <a:rPr lang="ru-RU" sz="1800" baseline="-25000" dirty="0"/>
              <a:t>0i</a:t>
            </a:r>
            <a:r>
              <a:rPr lang="ru-RU" sz="1800" dirty="0"/>
              <a:t> - номинальное значение выходного параметра, оговоренное ТУ;</a:t>
            </a:r>
          </a:p>
          <a:p>
            <a:r>
              <a:rPr lang="ru-RU" sz="1800" i="1" dirty="0"/>
              <a:t>Е</a:t>
            </a:r>
            <a:r>
              <a:rPr lang="en-US" sz="1800" i="1" baseline="-25000" dirty="0" err="1"/>
              <a:t>i</a:t>
            </a:r>
            <a:r>
              <a:rPr lang="en-US" sz="1800" i="1" dirty="0"/>
              <a:t> </a:t>
            </a:r>
            <a:r>
              <a:rPr lang="ru-RU" sz="1800" dirty="0"/>
              <a:t>- фактическое значение i-</a:t>
            </a:r>
            <a:r>
              <a:rPr lang="ru-RU" sz="1800" dirty="0" err="1"/>
              <a:t>го</a:t>
            </a:r>
            <a:r>
              <a:rPr lang="ru-RU" sz="1800" dirty="0"/>
              <a:t> параметра, достигнутое в результате выполнения НРО;</a:t>
            </a:r>
          </a:p>
          <a:p>
            <a:r>
              <a:rPr lang="ru-RU" sz="1800" i="1" dirty="0" err="1"/>
              <a:t>Δ</a:t>
            </a:r>
            <a:r>
              <a:rPr lang="ru-RU" sz="1800" i="1" baseline="-25000" dirty="0" err="1"/>
              <a:t>доп</a:t>
            </a:r>
            <a:r>
              <a:rPr lang="ru-RU" sz="1800" dirty="0"/>
              <a:t> - допустимое значение погрешности i-</a:t>
            </a:r>
            <a:r>
              <a:rPr lang="ru-RU" sz="1800" dirty="0" err="1"/>
              <a:t>го</a:t>
            </a:r>
            <a:r>
              <a:rPr lang="ru-RU" sz="1800" dirty="0"/>
              <a:t> параметра.</a:t>
            </a:r>
          </a:p>
        </p:txBody>
      </p:sp>
    </p:spTree>
    <p:extLst>
      <p:ext uri="{BB962C8B-B14F-4D97-AF65-F5344CB8AC3E}">
        <p14:creationId xmlns="" xmlns:p14="http://schemas.microsoft.com/office/powerpoint/2010/main" val="105605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Обобщенная функция качества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Рассматривая в качестве объекта настройки и регулировки изделие в целом, НРО можно представить как процесс оптимизации, осуществляющий поиск экстремума некоторой обобщенной функции качества </a:t>
            </a:r>
            <a:r>
              <a:rPr lang="ru-RU" i="1" dirty="0"/>
              <a:t>Q</a:t>
            </a:r>
            <a:r>
              <a:rPr lang="ru-RU" dirty="0"/>
              <a:t> изделия </a:t>
            </a:r>
            <a:r>
              <a:rPr lang="ru-RU" i="1" dirty="0"/>
              <a:t>j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Эта </a:t>
            </a:r>
            <a:r>
              <a:rPr lang="ru-RU" dirty="0"/>
              <a:t>функция определяется или совокупностью значений варьируемых параметров </a:t>
            </a:r>
            <a:r>
              <a:rPr lang="ru-RU" i="1" dirty="0"/>
              <a:t>p</a:t>
            </a:r>
            <a:r>
              <a:rPr lang="en-US" i="1" baseline="-25000" dirty="0"/>
              <a:t>j</a:t>
            </a:r>
            <a:r>
              <a:rPr lang="ru-RU" i="1" dirty="0"/>
              <a:t>{x</a:t>
            </a:r>
            <a:r>
              <a:rPr lang="en-US" i="1" baseline="-25000" dirty="0"/>
              <a:t>j</a:t>
            </a:r>
            <a:r>
              <a:rPr lang="ru-RU" i="1" dirty="0"/>
              <a:t>,y</a:t>
            </a:r>
            <a:r>
              <a:rPr lang="en-US" i="1" baseline="-25000" dirty="0"/>
              <a:t>j</a:t>
            </a:r>
            <a:r>
              <a:rPr lang="ru-RU" i="1" dirty="0"/>
              <a:t>,z</a:t>
            </a:r>
            <a:r>
              <a:rPr lang="en-US" i="1" baseline="-25000" dirty="0"/>
              <a:t>j</a:t>
            </a:r>
            <a:r>
              <a:rPr lang="ru-RU" i="1" dirty="0"/>
              <a:t>}</a:t>
            </a:r>
            <a:r>
              <a:rPr lang="ru-RU" dirty="0"/>
              <a:t>, или совокупностью частных функций качества </a:t>
            </a:r>
            <a:r>
              <a:rPr lang="ru-RU" i="1" dirty="0"/>
              <a:t>q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К </a:t>
            </a:r>
            <a:r>
              <a:rPr lang="ru-RU" dirty="0"/>
              <a:t>совокупности частных функций </a:t>
            </a:r>
            <a:r>
              <a:rPr lang="ru-RU" i="1" dirty="0"/>
              <a:t>q</a:t>
            </a:r>
            <a:r>
              <a:rPr lang="ru-RU" dirty="0"/>
              <a:t> можно отнести такие показатели, как статическая погрешность системы, среднеквадратическая погрешность в определенном режиме работы, время переходного процесса, степень </a:t>
            </a:r>
            <a:r>
              <a:rPr lang="ru-RU" dirty="0" err="1"/>
              <a:t>колебательности</a:t>
            </a:r>
            <a:r>
              <a:rPr lang="ru-RU" dirty="0"/>
              <a:t> при коррекции начальных рассогласований и т.д.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обобщенная функция качества определяется простой суммой частных функций, то частные функции качества желательно выбирать так, чтобы они определялись двумя варьируемыми параметрами </a:t>
            </a:r>
            <a:r>
              <a:rPr lang="ru-RU" i="1" dirty="0"/>
              <a:t>p</a:t>
            </a:r>
            <a:r>
              <a:rPr lang="en-US" i="1" baseline="-25000" dirty="0" err="1"/>
              <a:t>i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810697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Признаки классификации НРО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Все </a:t>
            </a:r>
            <a:r>
              <a:rPr lang="ru-RU" dirty="0" smtClean="0"/>
              <a:t>НРО </a:t>
            </a:r>
            <a:r>
              <a:rPr lang="ru-RU" dirty="0"/>
              <a:t>можно классифицировать по тем признакам, которые применяются в качестве критериев решения задач от проектирования операций до способа их выполнения, табл. </a:t>
            </a:r>
          </a:p>
          <a:p>
            <a:r>
              <a:rPr lang="ru-RU" dirty="0"/>
              <a:t>По виду оптимизируемой функции качества процессы регулировки подразделяются на процессы, оптимизирующие обобщенные, частные и комбинированные функции качества системы, подвергающейся регулировке или настройке.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535059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4605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Классификация </a:t>
            </a:r>
            <a:r>
              <a:rPr lang="ru-RU" b="1" dirty="0"/>
              <a:t>НРО</a:t>
            </a:r>
            <a:br>
              <a:rPr lang="ru-RU" b="1" dirty="0"/>
            </a:br>
            <a:endParaRPr lang="ru-RU" b="1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556985620"/>
              </p:ext>
            </p:extLst>
          </p:nvPr>
        </p:nvGraphicFramePr>
        <p:xfrm>
          <a:off x="1115616" y="764704"/>
          <a:ext cx="7056784" cy="58527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16968"/>
                <a:gridCol w="3439816"/>
              </a:tblGrid>
              <a:tr h="50866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</a:rPr>
                        <a:t>Признак классификации</a:t>
                      </a:r>
                      <a:endParaRPr lang="ru-RU" sz="1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1789" marR="617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</a:rPr>
                        <a:t>Вид НРО</a:t>
                      </a:r>
                      <a:endParaRPr lang="ru-RU" sz="1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1789" marR="61789" marT="0" marB="0" anchor="ctr"/>
                </a:tc>
              </a:tr>
              <a:tr h="8840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>
                          <a:effectLst/>
                        </a:rPr>
                        <a:t> </a:t>
                      </a:r>
                      <a:endParaRPr lang="ru-RU" sz="1000" b="1">
                        <a:effectLst/>
                      </a:endParaRPr>
                    </a:p>
                    <a:p>
                      <a:pPr indent="-685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>
                          <a:effectLst/>
                        </a:rPr>
                        <a:t>По виду оптимизируемой функции качества</a:t>
                      </a:r>
                      <a:endParaRPr lang="ru-RU" sz="1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1789" marR="617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</a:rPr>
                        <a:t>С оптимизацией функций качества</a:t>
                      </a:r>
                      <a:endParaRPr lang="ru-RU" sz="1000" b="1" dirty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</a:rPr>
                        <a:t>1)общих, 2)частных, комбинированных</a:t>
                      </a:r>
                      <a:endParaRPr lang="ru-RU" sz="1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1789" marR="61789" marT="0" marB="0" anchor="ctr"/>
                </a:tc>
              </a:tr>
              <a:tr h="8840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>
                          <a:effectLst/>
                        </a:rPr>
                        <a:t>По методу поиска функции качества</a:t>
                      </a:r>
                      <a:endParaRPr lang="ru-RU" sz="1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1789" marR="617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</a:rPr>
                        <a:t>С поисковой настройкой</a:t>
                      </a:r>
                      <a:endParaRPr lang="ru-RU" sz="1000" b="1" dirty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</a:rPr>
                        <a:t>С аналитической настройкой</a:t>
                      </a:r>
                      <a:endParaRPr lang="ru-RU" sz="1000" b="1" dirty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</a:rPr>
                        <a:t>С комбинированной настройкой</a:t>
                      </a:r>
                      <a:endParaRPr lang="ru-RU" sz="1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1789" marR="61789" marT="0" marB="0" anchor="ctr"/>
                </a:tc>
              </a:tr>
              <a:tr h="58934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>
                          <a:effectLst/>
                        </a:rPr>
                        <a:t>По способу поиска экстремума функции качества</a:t>
                      </a:r>
                      <a:endParaRPr lang="ru-RU" sz="1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1789" marR="617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</a:rPr>
                        <a:t>С независимым поиском</a:t>
                      </a:r>
                      <a:endParaRPr lang="ru-RU" sz="1000" b="1" dirty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</a:rPr>
                        <a:t>С зависимым поиском</a:t>
                      </a:r>
                      <a:endParaRPr lang="ru-RU" sz="1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1789" marR="61789" marT="0" marB="0" anchor="ctr"/>
                </a:tc>
              </a:tr>
              <a:tr h="14870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>
                          <a:effectLst/>
                        </a:rPr>
                        <a:t>По виду используемой информации</a:t>
                      </a:r>
                      <a:endParaRPr lang="ru-RU" sz="1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1789" marR="617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</a:rPr>
                        <a:t>По входной информации</a:t>
                      </a:r>
                      <a:endParaRPr lang="ru-RU" sz="1000" b="1" dirty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</a:rPr>
                        <a:t>По временным характеристикам</a:t>
                      </a:r>
                      <a:endParaRPr lang="ru-RU" sz="1000" b="1" dirty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</a:rPr>
                        <a:t>По частным характеристикам</a:t>
                      </a:r>
                      <a:endParaRPr lang="ru-RU" sz="1000" b="1" dirty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</a:rPr>
                        <a:t>По информации о процессах на границе устойчивости</a:t>
                      </a:r>
                      <a:endParaRPr lang="ru-RU" sz="1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1789" marR="61789" marT="0" marB="0" anchor="ctr"/>
                </a:tc>
              </a:tr>
              <a:tr h="14870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>
                          <a:effectLst/>
                        </a:rPr>
                        <a:t>По методу движения к экстремуму</a:t>
                      </a:r>
                      <a:endParaRPr lang="ru-RU" sz="1000" b="1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1789" marR="617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</a:rPr>
                        <a:t>По методу </a:t>
                      </a:r>
                      <a:r>
                        <a:rPr lang="ru-RU" sz="1300" b="1" dirty="0" err="1">
                          <a:effectLst/>
                        </a:rPr>
                        <a:t>Гауса</a:t>
                      </a:r>
                      <a:r>
                        <a:rPr lang="ru-RU" sz="1300" b="1" dirty="0">
                          <a:effectLst/>
                        </a:rPr>
                        <a:t> – Зейделя</a:t>
                      </a:r>
                      <a:endParaRPr lang="ru-RU" sz="1000" b="1" dirty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</a:rPr>
                        <a:t>По градиентному методу</a:t>
                      </a:r>
                      <a:endParaRPr lang="ru-RU" sz="1000" b="1" dirty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</a:rPr>
                        <a:t>По методу наискорейшего пуска</a:t>
                      </a:r>
                      <a:endParaRPr lang="ru-RU" sz="1000" b="1" dirty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 err="1">
                          <a:effectLst/>
                        </a:rPr>
                        <a:t>Двухшаговым</a:t>
                      </a:r>
                      <a:r>
                        <a:rPr lang="ru-RU" sz="1300" b="1" dirty="0">
                          <a:effectLst/>
                        </a:rPr>
                        <a:t> методом</a:t>
                      </a:r>
                      <a:endParaRPr lang="ru-RU" sz="1000" b="1" dirty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</a:rPr>
                        <a:t>Методом сканирования</a:t>
                      </a:r>
                      <a:endParaRPr lang="ru-RU" sz="1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1789" marR="61789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856357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Частные функции качества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i="1" dirty="0"/>
              <a:t>Частные функции (ЧФ) качества </a:t>
            </a:r>
            <a:r>
              <a:rPr lang="ru-RU" dirty="0"/>
              <a:t>системы являются логической или аналитической зависимостью между фазовыми координатами настраиваемой системы (или некоторыми показателями ее качества в определенном типовом режиме работы) и информационными сигналами. Эта зависимость оптимизируется в процессе регулировки.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216573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Обобщенные функции качества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i="1" dirty="0"/>
              <a:t>Обобщенные функции </a:t>
            </a:r>
            <a:r>
              <a:rPr lang="ru-RU" dirty="0"/>
              <a:t>(ОФ) качества составляют логическую или аналитическую зависимость или между регулируемыми координатами системы, или совокупностью частных показателей ее качества для различных режимов работы системы и информационными сигналами. </a:t>
            </a:r>
            <a:endParaRPr lang="ru-RU" dirty="0" smtClean="0"/>
          </a:p>
          <a:p>
            <a:r>
              <a:rPr lang="ru-RU" dirty="0" smtClean="0"/>
              <a:t>Эта </a:t>
            </a:r>
            <a:r>
              <a:rPr lang="ru-RU" dirty="0"/>
              <a:t>зависимость оптимизируется в процессе регулировки в одном из типовых режимов работы системы.</a:t>
            </a:r>
          </a:p>
          <a:p>
            <a:r>
              <a:rPr lang="ru-RU" dirty="0"/>
              <a:t>Комбинированные функции качества являются сочетаниями ЧФ и ОФ.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340314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Поисковая регулировка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При </a:t>
            </a:r>
            <a:r>
              <a:rPr lang="ru-RU" i="1" dirty="0"/>
              <a:t>поисковой регулировке </a:t>
            </a:r>
            <a:r>
              <a:rPr lang="ru-RU" dirty="0"/>
              <a:t>изменение варьируемых параметров настраиваемой системы производится в результате поиска условий экстремума оптимизируемой функции качества.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/>
              <a:t>пробных изменений параметров системы и последующего анализа результатов этих изменений необходимо вводить пробные (тестовые) сигналы.</a:t>
            </a:r>
          </a:p>
        </p:txBody>
      </p:sp>
    </p:spTree>
    <p:extLst>
      <p:ext uri="{BB962C8B-B14F-4D97-AF65-F5344CB8AC3E}">
        <p14:creationId xmlns="" xmlns:p14="http://schemas.microsoft.com/office/powerpoint/2010/main" val="3966418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Варианты поисковой регулировки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Поисковые системы регулировки </a:t>
            </a:r>
            <a:r>
              <a:rPr lang="ru-RU" i="1" dirty="0"/>
              <a:t>по способу поиска экстремума оптимизируемой функции качества </a:t>
            </a:r>
            <a:r>
              <a:rPr lang="ru-RU" dirty="0"/>
              <a:t>можно разделить:</a:t>
            </a:r>
          </a:p>
          <a:p>
            <a:r>
              <a:rPr lang="ru-RU" dirty="0"/>
              <a:t>- на системы с </a:t>
            </a:r>
            <a:r>
              <a:rPr lang="ru-RU" i="1" dirty="0"/>
              <a:t>независимым поиском</a:t>
            </a:r>
            <a:r>
              <a:rPr lang="ru-RU" dirty="0"/>
              <a:t>, когда абсолютные значения скоростей изменения варьируемых параметров не зависят от отклонения текущего значения функции качества от экстремального значения;</a:t>
            </a:r>
          </a:p>
          <a:p>
            <a:r>
              <a:rPr lang="ru-RU" dirty="0"/>
              <a:t>- на системы с </a:t>
            </a:r>
            <a:r>
              <a:rPr lang="ru-RU" i="1" dirty="0"/>
              <a:t>зависимым поиском</a:t>
            </a:r>
            <a:r>
              <a:rPr lang="ru-RU" dirty="0"/>
              <a:t>, когда скорости изменения варьируемых параметров являются функциями отклонений текущего значения оптимизируемых функций качества от экстремального значения.</a:t>
            </a:r>
          </a:p>
        </p:txBody>
      </p:sp>
    </p:spTree>
    <p:extLst>
      <p:ext uri="{BB962C8B-B14F-4D97-AF65-F5344CB8AC3E}">
        <p14:creationId xmlns="" xmlns:p14="http://schemas.microsoft.com/office/powerpoint/2010/main" val="3528163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Классификация по организации движения и экстремуму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По организации движения и экстремуму поисковые системы регулировки делят на системы с разнесенными пробными  шагами и системы с совмещенными шагами.</a:t>
            </a:r>
          </a:p>
          <a:p>
            <a:r>
              <a:rPr lang="ru-RU" dirty="0"/>
              <a:t> </a:t>
            </a:r>
            <a:r>
              <a:rPr lang="ru-RU" i="1" dirty="0"/>
              <a:t>В первом случае </a:t>
            </a:r>
            <a:r>
              <a:rPr lang="ru-RU" dirty="0"/>
              <a:t>при пробном шаге определяются направления изменения варьируемых параметров для обеспечения экстремума оптимизируемой функции качества, а при рабочем шаге производится изменение варьируемых параметров. </a:t>
            </a:r>
          </a:p>
          <a:p>
            <a:r>
              <a:rPr lang="ru-RU" i="1" dirty="0"/>
              <a:t>Во втором случае </a:t>
            </a:r>
            <a:r>
              <a:rPr lang="ru-RU" dirty="0"/>
              <a:t>– изменяются варьируемые параметры с одновременной оценкой влияния этих изменений на оптимизируемою функцию качества.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95596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Аналитическая регулировка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При аналитической регулировке изменение варьируемых параметров настраиваемой системы производится на основе аналитического определения условий, обеспечивающих заданное значение функции качества без применения специальных поисковых сигналов.</a:t>
            </a:r>
          </a:p>
          <a:p>
            <a:r>
              <a:rPr lang="ru-RU" dirty="0"/>
              <a:t> В аналитических (</a:t>
            </a:r>
            <a:r>
              <a:rPr lang="ru-RU" dirty="0" err="1"/>
              <a:t>беспоисковых</a:t>
            </a:r>
            <a:r>
              <a:rPr lang="ru-RU" dirty="0"/>
              <a:t>) системах регулировки для получения информации о состоянии настраиваемой системы, как правило, используются стимулирующие сигналы, имитирующие реальные сигналы, поступающие в систему в процессе функционирования. В некоторых случаях используются специальные пробные сигналы. </a:t>
            </a:r>
          </a:p>
          <a:p>
            <a:r>
              <a:rPr lang="ru-RU" dirty="0"/>
              <a:t>По виду использования дополнительной информации они делятся на системы, использующие информацию о входном воздействии, частотных характеристиках, временных характеристиках, процессах в системе на границе устойчивости и комбинированную (используя сочетание указанной выше информации).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7937343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is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1052736"/>
            <a:ext cx="7349726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1259632" y="5229200"/>
          <a:ext cx="5880515" cy="746373"/>
        </p:xfrm>
        <a:graphic>
          <a:graphicData uri="http://schemas.openxmlformats.org/presentationml/2006/ole">
            <p:oleObj spid="_x0000_s1027" name="Формула" r:id="rId4" imgW="1803400" imgH="228600" progId="Equation.3">
              <p:embed/>
            </p:oleObj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1187624" y="3933056"/>
            <a:ext cx="72728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Методика выполнения НРО по измерительным приборам</a:t>
            </a:r>
            <a:endParaRPr lang="ru-RU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ris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620688"/>
            <a:ext cx="8238425" cy="2852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Прямоугольник 2"/>
          <p:cNvSpPr/>
          <p:nvPr/>
        </p:nvSpPr>
        <p:spPr>
          <a:xfrm>
            <a:off x="827584" y="3789040"/>
            <a:ext cx="72728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Методика выполнения НРО электрическим копированием</a:t>
            </a:r>
            <a:endParaRPr lang="ru-RU" dirty="0"/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971600" y="4509120"/>
          <a:ext cx="6089720" cy="674365"/>
        </p:xfrm>
        <a:graphic>
          <a:graphicData uri="http://schemas.openxmlformats.org/presentationml/2006/ole">
            <p:oleObj spid="_x0000_s40963" name="Формула" r:id="rId4" imgW="2159000" imgH="241300" progId="Equation.3">
              <p:embed/>
            </p:oleObj>
          </a:graphicData>
        </a:graphic>
      </p:graphicFrame>
      <p:sp>
        <p:nvSpPr>
          <p:cNvPr id="4096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40965" name="Object 5"/>
          <p:cNvGraphicFramePr>
            <a:graphicFrameLocks noChangeAspect="1"/>
          </p:cNvGraphicFramePr>
          <p:nvPr/>
        </p:nvGraphicFramePr>
        <p:xfrm>
          <a:off x="1691679" y="5877272"/>
          <a:ext cx="3768251" cy="492249"/>
        </p:xfrm>
        <a:graphic>
          <a:graphicData uri="http://schemas.openxmlformats.org/presentationml/2006/ole">
            <p:oleObj spid="_x0000_s40965" name="Формула" r:id="rId5" imgW="1816100" imgH="241300" progId="Equation.3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1825</Words>
  <Application>Microsoft Office PowerPoint</Application>
  <PresentationFormat>Экран (4:3)</PresentationFormat>
  <Paragraphs>131</Paragraphs>
  <Slides>28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0" baseType="lpstr">
      <vt:lpstr>Тема Office</vt:lpstr>
      <vt:lpstr>Microsoft Equation 3.0</vt:lpstr>
      <vt:lpstr> Методы наладки, регулировки и технического обслуживания ЭС в составе технологических систем  Параметры наладочно-регулировочных работ и организация технологического процесса обслуживания и ремонта ЭС.</vt:lpstr>
      <vt:lpstr>Наладочно регулировочные работы в составе технологических систем</vt:lpstr>
      <vt:lpstr>Наладка</vt:lpstr>
      <vt:lpstr>Настройка</vt:lpstr>
      <vt:lpstr>Регулировка</vt:lpstr>
      <vt:lpstr>Настройка и регулировка сложной аппаратуры</vt:lpstr>
      <vt:lpstr>Необходимость РНО</vt:lpstr>
      <vt:lpstr>Минимизация затрат труда и времени на НРО</vt:lpstr>
      <vt:lpstr>Методы выполнения наладочно-реулировочных операций и их классификация</vt:lpstr>
      <vt:lpstr>Система всеобщего обслуживания оборудования</vt:lpstr>
      <vt:lpstr>Идеи TPM</vt:lpstr>
      <vt:lpstr>Распространение системы TPM  </vt:lpstr>
      <vt:lpstr>Факторы успеха предприятия</vt:lpstr>
      <vt:lpstr>Эффект от внедрения системы ТРМ на предприятиях Японии</vt:lpstr>
      <vt:lpstr>Влияние на качество технического уровня и уровня рабочего состояния оборудования </vt:lpstr>
      <vt:lpstr>Виды деятельности</vt:lpstr>
      <vt:lpstr>Особенности выполнения НРО. </vt:lpstr>
      <vt:lpstr>Обобщенная функция качества</vt:lpstr>
      <vt:lpstr>Признаки классификации НРО</vt:lpstr>
      <vt:lpstr> Классификация НРО </vt:lpstr>
      <vt:lpstr>Частные функции качества</vt:lpstr>
      <vt:lpstr>Обобщенные функции качества</vt:lpstr>
      <vt:lpstr>Поисковая регулировка</vt:lpstr>
      <vt:lpstr>Варианты поисковой регулировки</vt:lpstr>
      <vt:lpstr>Классификация по организации движения и экстремуму</vt:lpstr>
      <vt:lpstr>Аналитическая регулировка</vt:lpstr>
      <vt:lpstr>Слайд 27</vt:lpstr>
      <vt:lpstr>Слайд 28</vt:lpstr>
    </vt:vector>
  </TitlesOfParts>
  <Company>-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-</dc:creator>
  <cp:lastModifiedBy>sobchuk</cp:lastModifiedBy>
  <cp:revision>28</cp:revision>
  <dcterms:created xsi:type="dcterms:W3CDTF">2016-11-15T11:37:55Z</dcterms:created>
  <dcterms:modified xsi:type="dcterms:W3CDTF">2024-11-15T12:59:08Z</dcterms:modified>
</cp:coreProperties>
</file>