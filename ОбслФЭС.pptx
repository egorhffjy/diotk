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304" r:id="rId3"/>
    <p:sldId id="307" r:id="rId4"/>
    <p:sldId id="305" r:id="rId5"/>
    <p:sldId id="308" r:id="rId6"/>
    <p:sldId id="309" r:id="rId7"/>
    <p:sldId id="310" r:id="rId8"/>
    <p:sldId id="306" r:id="rId9"/>
    <p:sldId id="311" r:id="rId10"/>
    <p:sldId id="312" r:id="rId11"/>
    <p:sldId id="257" r:id="rId12"/>
    <p:sldId id="258" r:id="rId13"/>
    <p:sldId id="259" r:id="rId14"/>
    <p:sldId id="260" r:id="rId15"/>
    <p:sldId id="261" r:id="rId16"/>
    <p:sldId id="262" r:id="rId17"/>
    <p:sldId id="264" r:id="rId18"/>
    <p:sldId id="265" r:id="rId19"/>
    <p:sldId id="266" r:id="rId20"/>
    <p:sldId id="270" r:id="rId21"/>
    <p:sldId id="271" r:id="rId22"/>
    <p:sldId id="268" r:id="rId23"/>
    <p:sldId id="269" r:id="rId24"/>
    <p:sldId id="272" r:id="rId25"/>
    <p:sldId id="273" r:id="rId26"/>
    <p:sldId id="274" r:id="rId27"/>
    <p:sldId id="275" r:id="rId28"/>
    <p:sldId id="276" r:id="rId29"/>
    <p:sldId id="277" r:id="rId30"/>
    <p:sldId id="278" r:id="rId31"/>
    <p:sldId id="279" r:id="rId32"/>
    <p:sldId id="280" r:id="rId33"/>
    <p:sldId id="281" r:id="rId34"/>
    <p:sldId id="267" r:id="rId35"/>
    <p:sldId id="282" r:id="rId36"/>
    <p:sldId id="283" r:id="rId37"/>
    <p:sldId id="291" r:id="rId38"/>
    <p:sldId id="292" r:id="rId39"/>
    <p:sldId id="293" r:id="rId40"/>
    <p:sldId id="294" r:id="rId41"/>
    <p:sldId id="295" r:id="rId42"/>
    <p:sldId id="296" r:id="rId43"/>
    <p:sldId id="284" r:id="rId44"/>
    <p:sldId id="297" r:id="rId45"/>
    <p:sldId id="298" r:id="rId46"/>
    <p:sldId id="299" r:id="rId47"/>
    <p:sldId id="300" r:id="rId48"/>
    <p:sldId id="301" r:id="rId49"/>
    <p:sldId id="302" r:id="rId50"/>
    <p:sldId id="285" r:id="rId51"/>
    <p:sldId id="286" r:id="rId52"/>
    <p:sldId id="287" r:id="rId53"/>
    <p:sldId id="288" r:id="rId54"/>
    <p:sldId id="289" r:id="rId55"/>
    <p:sldId id="290" r:id="rId56"/>
    <p:sldId id="303" r:id="rId57"/>
    <p:sldId id="263" r:id="rId5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797D0F-DFEF-4355-BB27-4385C20DF1AD}" type="datetimeFigureOut">
              <a:rPr lang="ru-RU" smtClean="0"/>
              <a:pPr/>
              <a:t>28.11.2025</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C0E1F5-EA28-43E2-AA8C-D84F613B07EA}" type="slidenum">
              <a:rPr lang="ru-RU" smtClean="0"/>
              <a:pPr/>
              <a:t>‹#›</a:t>
            </a:fld>
            <a:endParaRPr lang="ru-RU"/>
          </a:p>
        </p:txBody>
      </p:sp>
    </p:spTree>
    <p:extLst>
      <p:ext uri="{BB962C8B-B14F-4D97-AF65-F5344CB8AC3E}">
        <p14:creationId xmlns:p14="http://schemas.microsoft.com/office/powerpoint/2010/main" val="2554434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804680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658192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2396016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55967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291625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607897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442234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3930060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134052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2158981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A19FF06-7CB9-4953-8F50-11CF22FC7745}" type="datetimeFigureOut">
              <a:rPr lang="ru-RU" smtClean="0"/>
              <a:pPr/>
              <a:t>28.11.2025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D97E8E7-DA57-43FE-B07E-33CA6E41EE20}" type="slidenum">
              <a:rPr lang="ru-RU" smtClean="0"/>
              <a:pPr/>
              <a:t>‹#›</a:t>
            </a:fld>
            <a:endParaRPr lang="ru-RU"/>
          </a:p>
        </p:txBody>
      </p:sp>
    </p:spTree>
    <p:extLst>
      <p:ext uri="{BB962C8B-B14F-4D97-AF65-F5344CB8AC3E}">
        <p14:creationId xmlns:p14="http://schemas.microsoft.com/office/powerpoint/2010/main" val="4074595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19FF06-7CB9-4953-8F50-11CF22FC7745}" type="datetimeFigureOut">
              <a:rPr lang="ru-RU" smtClean="0"/>
              <a:pPr/>
              <a:t>28.11.2025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97E8E7-DA57-43FE-B07E-33CA6E41EE20}" type="slidenum">
              <a:rPr lang="ru-RU" smtClean="0"/>
              <a:pPr/>
              <a:t>‹#›</a:t>
            </a:fld>
            <a:endParaRPr lang="ru-RU"/>
          </a:p>
        </p:txBody>
      </p:sp>
    </p:spTree>
    <p:extLst>
      <p:ext uri="{BB962C8B-B14F-4D97-AF65-F5344CB8AC3E}">
        <p14:creationId xmlns:p14="http://schemas.microsoft.com/office/powerpoint/2010/main" val="410890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586607"/>
          </a:xfrm>
        </p:spPr>
        <p:txBody>
          <a:bodyPr>
            <a:normAutofit/>
          </a:bodyPr>
          <a:lstStyle/>
          <a:p>
            <a:r>
              <a:rPr lang="ru-RU" b="1" dirty="0"/>
              <a:t>Обслуживание ФЭС</a:t>
            </a:r>
          </a:p>
        </p:txBody>
      </p:sp>
      <p:sp>
        <p:nvSpPr>
          <p:cNvPr id="3" name="Подзаголовок 2"/>
          <p:cNvSpPr>
            <a:spLocks noGrp="1"/>
          </p:cNvSpPr>
          <p:nvPr>
            <p:ph type="subTitle" idx="1"/>
          </p:nvPr>
        </p:nvSpPr>
        <p:spPr/>
        <p:txBody>
          <a:bodyPr/>
          <a:lstStyle/>
          <a:p>
            <a:r>
              <a:rPr lang="ru-RU" dirty="0" err="1"/>
              <a:t>ДиОТК</a:t>
            </a:r>
            <a:endParaRPr lang="ru-RU" dirty="0"/>
          </a:p>
          <a:p>
            <a:r>
              <a:rPr lang="ru-RU" dirty="0"/>
              <a:t>Лекция </a:t>
            </a:r>
          </a:p>
        </p:txBody>
      </p:sp>
    </p:spTree>
    <p:extLst>
      <p:ext uri="{BB962C8B-B14F-4D97-AF65-F5344CB8AC3E}">
        <p14:creationId xmlns:p14="http://schemas.microsoft.com/office/powerpoint/2010/main" val="4292148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7CBEB522-38BD-437F-AAFE-73C5ABA37CDA}"/>
              </a:ext>
            </a:extLst>
          </p:cNvPr>
          <p:cNvPicPr>
            <a:picLocks noChangeAspect="1"/>
          </p:cNvPicPr>
          <p:nvPr/>
        </p:nvPicPr>
        <p:blipFill>
          <a:blip r:embed="rId2"/>
          <a:stretch>
            <a:fillRect/>
          </a:stretch>
        </p:blipFill>
        <p:spPr>
          <a:xfrm>
            <a:off x="0" y="1268760"/>
            <a:ext cx="9144000" cy="3322353"/>
          </a:xfrm>
          <a:prstGeom prst="rect">
            <a:avLst/>
          </a:prstGeom>
        </p:spPr>
      </p:pic>
    </p:spTree>
    <p:extLst>
      <p:ext uri="{BB962C8B-B14F-4D97-AF65-F5344CB8AC3E}">
        <p14:creationId xmlns:p14="http://schemas.microsoft.com/office/powerpoint/2010/main" val="1105026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6E5438D-044A-436D-B241-EBA0B38D3122}"/>
              </a:ext>
            </a:extLst>
          </p:cNvPr>
          <p:cNvSpPr/>
          <p:nvPr/>
        </p:nvSpPr>
        <p:spPr>
          <a:xfrm>
            <a:off x="0" y="335846"/>
            <a:ext cx="9144000" cy="6001643"/>
          </a:xfrm>
          <a:prstGeom prst="rect">
            <a:avLst/>
          </a:prstGeom>
        </p:spPr>
        <p:txBody>
          <a:bodyPr wrap="square">
            <a:spAutoFit/>
          </a:bodyPr>
          <a:lstStyle/>
          <a:p>
            <a:r>
              <a:rPr lang="ru-RU" sz="2400" b="1" i="1" dirty="0">
                <a:solidFill>
                  <a:srgbClr val="000000"/>
                </a:solidFill>
                <a:latin typeface="Times New Roman" panose="02020603050405020304" pitchFamily="18" charset="0"/>
              </a:rPr>
              <a:t>Аккумулятор </a:t>
            </a:r>
            <a:r>
              <a:rPr lang="ru-RU" sz="2400" dirty="0">
                <a:solidFill>
                  <a:srgbClr val="000000"/>
                </a:solidFill>
                <a:latin typeface="Times New Roman" panose="02020603050405020304" pitchFamily="18" charset="0"/>
              </a:rPr>
              <a:t>- это буфер для накопления электрической энергии при помощи обратимых химических процессов. Аккумуляторы можно объединять в моноблоки, называемые </a:t>
            </a:r>
            <a:r>
              <a:rPr lang="ru-RU" sz="2400" b="1" i="1" dirty="0">
                <a:solidFill>
                  <a:srgbClr val="000000"/>
                </a:solidFill>
                <a:latin typeface="Times New Roman" panose="02020603050405020304" pitchFamily="18" charset="0"/>
              </a:rPr>
              <a:t>аккумуляторными батареями</a:t>
            </a:r>
            <a:r>
              <a:rPr lang="ru-RU" sz="2400" dirty="0">
                <a:solidFill>
                  <a:srgbClr val="000000"/>
                </a:solidFill>
                <a:latin typeface="Times New Roman" panose="02020603050405020304" pitchFamily="18" charset="0"/>
              </a:rPr>
              <a:t>.</a:t>
            </a:r>
          </a:p>
          <a:p>
            <a:r>
              <a:rPr lang="ru-RU" sz="2400" dirty="0">
                <a:solidFill>
                  <a:srgbClr val="000000"/>
                </a:solidFill>
                <a:latin typeface="Times New Roman" panose="02020603050405020304" pitchFamily="18" charset="0"/>
              </a:rPr>
              <a:t>Аккумуляторы, применяемые в различных энергетических системах, различаются по номинальному напряжению; номинальной емкости; габаритам; типу электролита; ресурсу; скорости заряда; стоимости; рабочему диапазону температур и пр. (рисунок 33).</a:t>
            </a:r>
          </a:p>
          <a:p>
            <a:r>
              <a:rPr lang="ru-RU" sz="2400" dirty="0">
                <a:solidFill>
                  <a:srgbClr val="000000"/>
                </a:solidFill>
                <a:latin typeface="Times New Roman" panose="02020603050405020304" pitchFamily="18" charset="0"/>
              </a:rPr>
              <a:t>Аккумуляторы в фотоэлектрических системах обязаны удовлетворять определенным требованиям. Они должны иметь:</a:t>
            </a:r>
          </a:p>
          <a:p>
            <a:r>
              <a:rPr lang="ru-RU" sz="2400" dirty="0">
                <a:solidFill>
                  <a:srgbClr val="000000"/>
                </a:solidFill>
                <a:latin typeface="Times New Roman" panose="02020603050405020304" pitchFamily="18" charset="0"/>
              </a:rPr>
              <a:t>- большую цикличность (количество выдерживаемых циклов заряда/разряда);</a:t>
            </a:r>
          </a:p>
          <a:p>
            <a:r>
              <a:rPr lang="ru-RU" sz="2400" dirty="0">
                <a:solidFill>
                  <a:srgbClr val="000000"/>
                </a:solidFill>
                <a:latin typeface="Times New Roman" panose="02020603050405020304" pitchFamily="18" charset="0"/>
              </a:rPr>
              <a:t>- малый саморазряд;</a:t>
            </a:r>
          </a:p>
          <a:p>
            <a:r>
              <a:rPr lang="ru-RU" sz="2400" dirty="0">
                <a:solidFill>
                  <a:srgbClr val="000000"/>
                </a:solidFill>
                <a:latin typeface="Times New Roman" panose="02020603050405020304" pitchFamily="18" charset="0"/>
              </a:rPr>
              <a:t>- широкий диапазон рабочих температур</a:t>
            </a:r>
            <a:r>
              <a:rPr lang="ru-RU" sz="2400" dirty="0"/>
              <a:t> </a:t>
            </a:r>
            <a:br>
              <a:rPr lang="ru-RU" sz="2400" dirty="0"/>
            </a:br>
            <a:endParaRPr lang="ru-BY" sz="2400" dirty="0"/>
          </a:p>
        </p:txBody>
      </p:sp>
    </p:spTree>
    <p:extLst>
      <p:ext uri="{BB962C8B-B14F-4D97-AF65-F5344CB8AC3E}">
        <p14:creationId xmlns:p14="http://schemas.microsoft.com/office/powerpoint/2010/main" val="3045418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1225D2E1-446E-4D09-BE7F-8D733C686ED0}"/>
              </a:ext>
            </a:extLst>
          </p:cNvPr>
          <p:cNvPicPr>
            <a:picLocks noChangeAspect="1"/>
          </p:cNvPicPr>
          <p:nvPr/>
        </p:nvPicPr>
        <p:blipFill>
          <a:blip r:embed="rId2"/>
          <a:stretch>
            <a:fillRect/>
          </a:stretch>
        </p:blipFill>
        <p:spPr>
          <a:xfrm>
            <a:off x="0" y="908720"/>
            <a:ext cx="9144000" cy="4018582"/>
          </a:xfrm>
          <a:prstGeom prst="rect">
            <a:avLst/>
          </a:prstGeom>
        </p:spPr>
      </p:pic>
    </p:spTree>
    <p:extLst>
      <p:ext uri="{BB962C8B-B14F-4D97-AF65-F5344CB8AC3E}">
        <p14:creationId xmlns:p14="http://schemas.microsoft.com/office/powerpoint/2010/main" val="4283192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EA1B8EF-8E4F-4A50-A6FB-EE3948430239}"/>
              </a:ext>
            </a:extLst>
          </p:cNvPr>
          <p:cNvSpPr/>
          <p:nvPr/>
        </p:nvSpPr>
        <p:spPr>
          <a:xfrm>
            <a:off x="35496" y="476672"/>
            <a:ext cx="9108504" cy="6370975"/>
          </a:xfrm>
          <a:prstGeom prst="rect">
            <a:avLst/>
          </a:prstGeom>
        </p:spPr>
        <p:txBody>
          <a:bodyPr wrap="square">
            <a:spAutoFit/>
          </a:bodyPr>
          <a:lstStyle/>
          <a:p>
            <a:r>
              <a:rPr lang="ru-RU" sz="2400" b="1" i="1" dirty="0">
                <a:solidFill>
                  <a:srgbClr val="000000"/>
                </a:solidFill>
                <a:latin typeface="Times New Roman" panose="02020603050405020304" pitchFamily="18" charset="0"/>
              </a:rPr>
              <a:t>Инвертор </a:t>
            </a:r>
            <a:r>
              <a:rPr lang="ru-RU" sz="2400" dirty="0">
                <a:solidFill>
                  <a:srgbClr val="000000"/>
                </a:solidFill>
                <a:latin typeface="Times New Roman" panose="02020603050405020304" pitchFamily="18" charset="0"/>
              </a:rPr>
              <a:t>(от лат. </a:t>
            </a:r>
            <a:r>
              <a:rPr lang="ru-RU" sz="2400" i="1" dirty="0" err="1">
                <a:solidFill>
                  <a:srgbClr val="000000"/>
                </a:solidFill>
                <a:latin typeface="Times New Roman" panose="02020603050405020304" pitchFamily="18" charset="0"/>
              </a:rPr>
              <a:t>inverto</a:t>
            </a:r>
            <a:r>
              <a:rPr lang="ru-RU" sz="2400" i="1"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 переворачивать) в широком смысле имеет значение преобразователя. На рисунке 28 показаны инверторы разного конструктивного исполнения. Это прибор, который инвертирует постоянное напряжение АКБ в переменное. В составе солнечной электростанции (СЭС) он применяется, когда необходимо запитать от АКБ нагрузки переменного тока.</a:t>
            </a:r>
          </a:p>
          <a:p>
            <a:r>
              <a:rPr lang="ru-RU" sz="2400" dirty="0">
                <a:solidFill>
                  <a:srgbClr val="000000"/>
                </a:solidFill>
                <a:latin typeface="Times New Roman" panose="02020603050405020304" pitchFamily="18" charset="0"/>
              </a:rPr>
              <a:t>Инверторы бывают двух основных типов.</a:t>
            </a:r>
          </a:p>
          <a:p>
            <a:r>
              <a:rPr lang="ru-RU" sz="2400" dirty="0">
                <a:solidFill>
                  <a:srgbClr val="000000"/>
                </a:solidFill>
                <a:latin typeface="Times New Roman" panose="02020603050405020304" pitchFamily="18" charset="0"/>
              </a:rPr>
              <a:t>Первый тип - это инверторы, которые как выходной сигнал генерируют так называемую чистую синусоиду. Инверторы с чистой синусоидой дают на выходе высококачественное напряжение, поэтому подходят для всех сверхчувствительных к малейшим изменениям напряжения приборов.</a:t>
            </a:r>
          </a:p>
          <a:p>
            <a:r>
              <a:rPr lang="ru-RU" sz="2400" dirty="0">
                <a:solidFill>
                  <a:srgbClr val="000000"/>
                </a:solidFill>
                <a:latin typeface="Times New Roman" panose="02020603050405020304" pitchFamily="18" charset="0"/>
              </a:rPr>
              <a:t>Второй тип инверторов выдает сигнал в виде модифицированной синусоиды. Модифицированная синусоида (</a:t>
            </a:r>
            <a:r>
              <a:rPr lang="ru-RU" sz="2400" dirty="0" err="1">
                <a:solidFill>
                  <a:srgbClr val="000000"/>
                </a:solidFill>
                <a:latin typeface="Times New Roman" panose="02020603050405020304" pitchFamily="18" charset="0"/>
              </a:rPr>
              <a:t>квазисинусоида</a:t>
            </a:r>
            <a:r>
              <a:rPr lang="ru-RU" sz="2400" dirty="0">
                <a:solidFill>
                  <a:srgbClr val="000000"/>
                </a:solidFill>
                <a:latin typeface="Times New Roman" panose="02020603050405020304" pitchFamily="18" charset="0"/>
              </a:rPr>
              <a:t>) может по форме быть прямоугольником (меандр), трапецией, ступенчатой синусоидой и т. д.</a:t>
            </a:r>
            <a:r>
              <a:rPr lang="ru-RU" sz="2400" dirty="0"/>
              <a:t> </a:t>
            </a:r>
            <a:br>
              <a:rPr lang="ru-RU" sz="2400" dirty="0"/>
            </a:br>
            <a:endParaRPr lang="ru-BY" sz="2400" dirty="0"/>
          </a:p>
        </p:txBody>
      </p:sp>
    </p:spTree>
    <p:extLst>
      <p:ext uri="{BB962C8B-B14F-4D97-AF65-F5344CB8AC3E}">
        <p14:creationId xmlns:p14="http://schemas.microsoft.com/office/powerpoint/2010/main" val="2305671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2B811EF-AB7A-4EAA-86BC-CFCCF713D972}"/>
              </a:ext>
            </a:extLst>
          </p:cNvPr>
          <p:cNvSpPr/>
          <p:nvPr/>
        </p:nvSpPr>
        <p:spPr>
          <a:xfrm>
            <a:off x="21696" y="476672"/>
            <a:ext cx="9144000" cy="5078313"/>
          </a:xfrm>
          <a:prstGeom prst="rect">
            <a:avLst/>
          </a:prstGeom>
        </p:spPr>
        <p:txBody>
          <a:bodyPr wrap="square">
            <a:spAutoFit/>
          </a:bodyPr>
          <a:lstStyle/>
          <a:p>
            <a:r>
              <a:rPr lang="ru-RU" dirty="0">
                <a:solidFill>
                  <a:srgbClr val="000000"/>
                </a:solidFill>
                <a:latin typeface="Times New Roman" panose="02020603050405020304" pitchFamily="18" charset="0"/>
              </a:rPr>
              <a:t>Необходимо отметить наиболее важные параметры для выбора инвертора:</a:t>
            </a:r>
          </a:p>
          <a:p>
            <a:r>
              <a:rPr lang="ru-RU" dirty="0">
                <a:solidFill>
                  <a:srgbClr val="000000"/>
                </a:solidFill>
                <a:latin typeface="Times New Roman" panose="02020603050405020304" pitchFamily="18" charset="0"/>
              </a:rPr>
              <a:t>- номинальная мощность инвертора - эта характеристика определяется долговременной мощностью нагрузки;</a:t>
            </a:r>
          </a:p>
          <a:p>
            <a:r>
              <a:rPr lang="ru-RU" dirty="0">
                <a:solidFill>
                  <a:srgbClr val="000000"/>
                </a:solidFill>
                <a:latin typeface="Times New Roman" panose="02020603050405020304" pitchFamily="18" charset="0"/>
              </a:rPr>
              <a:t>- пиковая мощность инвертора - этот параметр должен превышать максимальную нагрузку с учетом пусковых мощностей приборов;</a:t>
            </a:r>
          </a:p>
          <a:p>
            <a:r>
              <a:rPr lang="ru-RU" dirty="0">
                <a:solidFill>
                  <a:srgbClr val="000000"/>
                </a:solidFill>
                <a:latin typeface="Times New Roman" panose="02020603050405020304" pitchFamily="18" charset="0"/>
              </a:rPr>
              <a:t>- по возможности необходимо выбирать инвертор с чистым синусом;</a:t>
            </a:r>
          </a:p>
          <a:p>
            <a:r>
              <a:rPr lang="ru-RU" dirty="0">
                <a:solidFill>
                  <a:srgbClr val="000000"/>
                </a:solidFill>
                <a:latin typeface="Times New Roman" panose="02020603050405020304" pitchFamily="18" charset="0"/>
              </a:rPr>
              <a:t>- зарядное устройство для блоков бесперебойного питания (ББП) должно иметь</a:t>
            </a:r>
            <a:endParaRPr lang="ru-RU" dirty="0"/>
          </a:p>
          <a:p>
            <a:r>
              <a:rPr lang="ru-RU" dirty="0">
                <a:solidFill>
                  <a:srgbClr val="000000"/>
                </a:solidFill>
                <a:latin typeface="Times New Roman" panose="02020603050405020304" pitchFamily="18" charset="0"/>
              </a:rPr>
              <a:t>достаточную мощность для заряда аккумуляторного блока за приемлемое время, а также быть достаточно интеллектуальным, чтобы правильно заряжать данный тип АКБ;</a:t>
            </a:r>
          </a:p>
          <a:p>
            <a:r>
              <a:rPr lang="ru-RU" dirty="0">
                <a:solidFill>
                  <a:srgbClr val="000000"/>
                </a:solidFill>
                <a:latin typeface="Times New Roman" panose="02020603050405020304" pitchFamily="18" charset="0"/>
              </a:rPr>
              <a:t>- если это ББП, то должна быть настройка напряжения «отсечки», т. е. низкого уровня напряжения АКБ, при котором прекращается генерация, во избежание глубокого разряда АКБ;</a:t>
            </a:r>
          </a:p>
          <a:p>
            <a:r>
              <a:rPr lang="ru-RU" dirty="0">
                <a:solidFill>
                  <a:srgbClr val="000000"/>
                </a:solidFill>
                <a:latin typeface="Times New Roman" panose="02020603050405020304" pitchFamily="18" charset="0"/>
              </a:rPr>
              <a:t>- зарядное устройство должно иметь выносной датчик температуры для температурной компенсации зарядных напряжений заряда в зависимости от температуры АКБ;</a:t>
            </a:r>
          </a:p>
          <a:p>
            <a:r>
              <a:rPr lang="ru-RU" dirty="0">
                <a:solidFill>
                  <a:srgbClr val="000000"/>
                </a:solidFill>
                <a:latin typeface="Times New Roman" panose="02020603050405020304" pitchFamily="18" charset="0"/>
              </a:rPr>
              <a:t>- если система автономная, то желательно наличие у инвертора малого потребления на холостом ходу, а также спящего режима, который позволяет снижать потребление и увеличивать эффективность системы</a:t>
            </a:r>
            <a:r>
              <a:rPr lang="ru-RU" dirty="0"/>
              <a:t> </a:t>
            </a:r>
            <a:br>
              <a:rPr lang="ru-RU" dirty="0"/>
            </a:br>
            <a:endParaRPr lang="ru-BY" dirty="0"/>
          </a:p>
        </p:txBody>
      </p:sp>
    </p:spTree>
    <p:extLst>
      <p:ext uri="{BB962C8B-B14F-4D97-AF65-F5344CB8AC3E}">
        <p14:creationId xmlns:p14="http://schemas.microsoft.com/office/powerpoint/2010/main" val="18404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25FE76FF-74E1-4FA1-AE6F-E21810FAA580}"/>
              </a:ext>
            </a:extLst>
          </p:cNvPr>
          <p:cNvSpPr/>
          <p:nvPr/>
        </p:nvSpPr>
        <p:spPr>
          <a:xfrm>
            <a:off x="35496" y="2060848"/>
            <a:ext cx="9108504" cy="4247317"/>
          </a:xfrm>
          <a:prstGeom prst="rect">
            <a:avLst/>
          </a:prstGeom>
        </p:spPr>
        <p:txBody>
          <a:bodyPr wrap="square">
            <a:spAutoFit/>
          </a:bodyPr>
          <a:lstStyle/>
          <a:p>
            <a:pPr marR="1060" algn="just"/>
            <a:r>
              <a:rPr lang="ru-RU" dirty="0">
                <a:latin typeface="Times New Roman" panose="02020603050405020304" pitchFamily="18" charset="0"/>
              </a:rPr>
              <a:t>Следует отметить перечень основных возможностей, которыми отличаются современные инверторы:</a:t>
            </a:r>
          </a:p>
          <a:p>
            <a:pPr marR="1000" algn="just"/>
            <a:r>
              <a:rPr lang="ru-RU" dirty="0">
                <a:latin typeface="Times New Roman" panose="02020603050405020304" pitchFamily="18" charset="0"/>
              </a:rPr>
              <a:t>возможность настраивания зарядных напряжений каждой стадии, продолжительности стадий заряда, внесение температурной компенсации в эти напряжения;</a:t>
            </a:r>
          </a:p>
          <a:p>
            <a:pPr marR="1070" algn="just"/>
            <a:r>
              <a:rPr lang="ru-RU" dirty="0">
                <a:latin typeface="Times New Roman" panose="02020603050405020304" pitchFamily="18" charset="0"/>
              </a:rPr>
              <a:t>возможность задания предельных параметров входного переменного напряжения (частоты, напряжения). Если внешнее напряжение не выходит за эти границы, то ББП транслирует внешнее напряжение сети к нагрузкам;</a:t>
            </a:r>
          </a:p>
          <a:p>
            <a:pPr marR="1020" algn="just"/>
            <a:r>
              <a:rPr lang="ru-RU" dirty="0">
                <a:latin typeface="Times New Roman" panose="02020603050405020304" pitchFamily="18" charset="0"/>
              </a:rPr>
              <a:t>наличие вспомогательного выхода AUX (от англ. </a:t>
            </a:r>
            <a:r>
              <a:rPr lang="ru-RU" i="1" dirty="0" err="1">
                <a:latin typeface="Times New Roman" panose="02020603050405020304" pitchFamily="18" charset="0"/>
              </a:rPr>
              <a:t>auxiliary</a:t>
            </a:r>
            <a:r>
              <a:rPr lang="ru-RU" i="1" dirty="0">
                <a:latin typeface="Times New Roman" panose="02020603050405020304" pitchFamily="18" charset="0"/>
              </a:rPr>
              <a:t> </a:t>
            </a:r>
            <a:r>
              <a:rPr lang="ru-RU" dirty="0">
                <a:latin typeface="Times New Roman" panose="02020603050405020304" pitchFamily="18" charset="0"/>
              </a:rPr>
              <a:t>- вспомогательный). Этот выход программируется для срабатывания по определенным событиям и позволяет управлять многими внешними устройствами;</a:t>
            </a:r>
          </a:p>
          <a:p>
            <a:pPr marR="1050" algn="just"/>
            <a:r>
              <a:rPr lang="ru-RU" dirty="0">
                <a:latin typeface="Times New Roman" panose="02020603050405020304" pitchFamily="18" charset="0"/>
              </a:rPr>
              <a:t>возможность использовать энергию альтернативных источников питания приоритетно;</a:t>
            </a:r>
          </a:p>
          <a:p>
            <a:pPr marR="1100" algn="just"/>
            <a:r>
              <a:rPr lang="ru-RU" dirty="0">
                <a:latin typeface="Times New Roman" panose="02020603050405020304" pitchFamily="18" charset="0"/>
              </a:rPr>
              <a:t>возможность масштабирования, т. е. наращивания мощности системы за счет параллельного включения инверторов;</a:t>
            </a:r>
          </a:p>
          <a:p>
            <a:pPr algn="just"/>
            <a:r>
              <a:rPr lang="ru-RU" dirty="0">
                <a:latin typeface="Times New Roman" panose="02020603050405020304" pitchFamily="18" charset="0"/>
              </a:rPr>
              <a:t>возможность конфигурирования инверторов в трехфазную систему;</a:t>
            </a:r>
          </a:p>
          <a:p>
            <a:pPr algn="just"/>
            <a:r>
              <a:rPr lang="ru-RU" dirty="0">
                <a:latin typeface="Times New Roman" panose="02020603050405020304" pitchFamily="18" charset="0"/>
              </a:rPr>
              <a:t>наличие большого перечня защитных функций.</a:t>
            </a:r>
          </a:p>
        </p:txBody>
      </p:sp>
    </p:spTree>
    <p:extLst>
      <p:ext uri="{BB962C8B-B14F-4D97-AF65-F5344CB8AC3E}">
        <p14:creationId xmlns:p14="http://schemas.microsoft.com/office/powerpoint/2010/main" val="3980646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6076D978-6B6D-4457-BC37-DB9334DEAA28}"/>
              </a:ext>
            </a:extLst>
          </p:cNvPr>
          <p:cNvPicPr>
            <a:picLocks noChangeAspect="1"/>
          </p:cNvPicPr>
          <p:nvPr/>
        </p:nvPicPr>
        <p:blipFill>
          <a:blip r:embed="rId2"/>
          <a:stretch>
            <a:fillRect/>
          </a:stretch>
        </p:blipFill>
        <p:spPr>
          <a:xfrm>
            <a:off x="0" y="1110559"/>
            <a:ext cx="9144000" cy="4636882"/>
          </a:xfrm>
          <a:prstGeom prst="rect">
            <a:avLst/>
          </a:prstGeom>
        </p:spPr>
      </p:pic>
    </p:spTree>
    <p:extLst>
      <p:ext uri="{BB962C8B-B14F-4D97-AF65-F5344CB8AC3E}">
        <p14:creationId xmlns:p14="http://schemas.microsoft.com/office/powerpoint/2010/main" val="3438233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279C6C0-9788-46C2-B4E1-0B77DA31FBAA}"/>
              </a:ext>
            </a:extLst>
          </p:cNvPr>
          <p:cNvSpPr/>
          <p:nvPr/>
        </p:nvSpPr>
        <p:spPr>
          <a:xfrm>
            <a:off x="0" y="116632"/>
            <a:ext cx="9144000" cy="6370975"/>
          </a:xfrm>
          <a:prstGeom prst="rect">
            <a:avLst/>
          </a:prstGeom>
        </p:spPr>
        <p:txBody>
          <a:bodyPr wrap="square">
            <a:spAutoFit/>
          </a:bodyPr>
          <a:lstStyle/>
          <a:p>
            <a:r>
              <a:rPr lang="ru-RU" sz="2400" dirty="0">
                <a:solidFill>
                  <a:srgbClr val="000000"/>
                </a:solidFill>
                <a:latin typeface="Times New Roman" panose="02020603050405020304" pitchFamily="18" charset="0"/>
              </a:rPr>
              <a:t>Для наружной прокладки применяется специальный «солнечный» кабель для солнечных батарей. «Солнечный» кабель обладает всеми свойствами, необходимыми для монтажа. А именно - это одножильный многопроволочный провод в специальной двухслойной изоляции, которая защищает его от всех типов воздействия окружающей среды (дождь, снег, ультрафиолетовое излучение, температурные перепады). Наружная изоляция чрезвычайно устойчива к воздействию температуры, ультрафиолета и даже грызунов. Кабель не нуждается в дополнительной защите в виде гофры или кабель-канала. Применение этого кабеля позволит избежать возможных проблем при эксплуатации солнечных батарей. Для облегчения монтажа при сборке фотоэлектрической системы существуют специальные герметичные коннекторы. Для того чтобы </a:t>
            </a:r>
            <a:r>
              <a:rPr lang="ru-RU" sz="2400" dirty="0" err="1">
                <a:solidFill>
                  <a:srgbClr val="000000"/>
                </a:solidFill>
                <a:latin typeface="Times New Roman" panose="02020603050405020304" pitchFamily="18" charset="0"/>
              </a:rPr>
              <a:t>запараллелить</a:t>
            </a:r>
            <a:r>
              <a:rPr lang="ru-RU" sz="2400" dirty="0">
                <a:solidFill>
                  <a:srgbClr val="000000"/>
                </a:solidFill>
                <a:latin typeface="Times New Roman" panose="02020603050405020304" pitchFamily="18" charset="0"/>
              </a:rPr>
              <a:t> большее количество модулей при помощи специальных коннекторов, изготавливаются герметичные соединительные коробки.</a:t>
            </a:r>
            <a:r>
              <a:rPr lang="ru-RU" sz="2400" dirty="0"/>
              <a:t> </a:t>
            </a:r>
            <a:br>
              <a:rPr lang="ru-RU" sz="2400" dirty="0"/>
            </a:br>
            <a:endParaRPr lang="ru-BY" sz="2400" dirty="0"/>
          </a:p>
        </p:txBody>
      </p:sp>
    </p:spTree>
    <p:extLst>
      <p:ext uri="{BB962C8B-B14F-4D97-AF65-F5344CB8AC3E}">
        <p14:creationId xmlns:p14="http://schemas.microsoft.com/office/powerpoint/2010/main" val="705237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B6639C72-0F27-4DB6-AF03-1E3FA974011B}"/>
              </a:ext>
            </a:extLst>
          </p:cNvPr>
          <p:cNvPicPr>
            <a:picLocks noChangeAspect="1"/>
          </p:cNvPicPr>
          <p:nvPr/>
        </p:nvPicPr>
        <p:blipFill>
          <a:blip r:embed="rId2"/>
          <a:stretch>
            <a:fillRect/>
          </a:stretch>
        </p:blipFill>
        <p:spPr>
          <a:xfrm>
            <a:off x="0" y="2098572"/>
            <a:ext cx="9144000" cy="2660855"/>
          </a:xfrm>
          <a:prstGeom prst="rect">
            <a:avLst/>
          </a:prstGeom>
        </p:spPr>
      </p:pic>
    </p:spTree>
    <p:extLst>
      <p:ext uri="{BB962C8B-B14F-4D97-AF65-F5344CB8AC3E}">
        <p14:creationId xmlns:p14="http://schemas.microsoft.com/office/powerpoint/2010/main" val="2021867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124744"/>
            <a:ext cx="9144000" cy="4524315"/>
          </a:xfrm>
          <a:prstGeom prst="rect">
            <a:avLst/>
          </a:prstGeom>
        </p:spPr>
        <p:txBody>
          <a:bodyPr wrap="square">
            <a:spAutoFit/>
          </a:bodyPr>
          <a:lstStyle/>
          <a:p>
            <a:r>
              <a:rPr lang="ru-RU" b="1" i="1" dirty="0"/>
              <a:t>Какое обслуживание требуется солнечным панелям? </a:t>
            </a:r>
          </a:p>
          <a:p>
            <a:r>
              <a:rPr lang="ru-RU" dirty="0"/>
              <a:t>Солнечные панели не имеют движущихся частей и не требуют особого ухода. Однако регулярная чистка и осмотр помогают обеспечить максимальное производство электроэнергии и устранить потенциальные опасности. </a:t>
            </a:r>
          </a:p>
          <a:p>
            <a:r>
              <a:rPr lang="ru-RU" dirty="0"/>
              <a:t>Очистка панелей от пыли, птичьего помета и прочего мусора, который скапливается на поверхности, необходима для обеспечения максимального срока службы и производительности фотоэлектрической системы. Для оптимальной работы фотоэлектрическая часть солнечной панели должна быть очищена. Грязь и мусор создают «барьер» между закаленным стеклом или защитной поверхностью панели и расположенными под ней солнечными элементами, препятствуя максимальному получению солнечного света. </a:t>
            </a:r>
          </a:p>
          <a:p>
            <a:r>
              <a:rPr lang="ru-RU" dirty="0"/>
              <a:t>Скопление мусора снижает эффективность работы и может привести к образованию горячих точек, которые приводят к появлению микротрещин, что в итоге может потребовать ремонта или даже полной замены солнечной панели. </a:t>
            </a:r>
          </a:p>
          <a:p>
            <a:r>
              <a:rPr lang="ru-RU" dirty="0"/>
              <a:t>Также настоятельно рекомендуется проводить плановые осмотры на предмет повреждений, вызванных вредителями и погодными явлениями</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476672"/>
            <a:ext cx="9144000"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2400" b="1" i="0" u="none" strike="noStrike" cap="none" normalizeH="0" baseline="0" dirty="0">
                <a:ln>
                  <a:noFill/>
                </a:ln>
                <a:solidFill>
                  <a:schemeClr val="tx1"/>
                </a:solidFill>
                <a:effectLst/>
                <a:latin typeface="Arial" pitchFamily="34" charset="0"/>
                <a:ea typeface="Times New Roman" pitchFamily="18" charset="0"/>
              </a:rPr>
              <a:t>как часто солнечные панели нуждаются в обслуживании? </a:t>
            </a:r>
            <a:endParaRPr kumimoji="0" lang="ru-RU" sz="2400" b="0" i="0" u="none" strike="noStrike" cap="none" normalizeH="0" baseline="0" dirty="0">
              <a:ln>
                <a:noFill/>
              </a:ln>
              <a:solidFill>
                <a:schemeClr val="tx1"/>
              </a:solidFill>
              <a:effectLst/>
              <a:latin typeface="Arial" pitchFamily="34" charset="0"/>
              <a:ea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Рекомендуется чистить и осматривать фотоэлектрические модули каждые шесть месяцев, особенно если плоская крыша, где мусор скапливается быстрее, чем на крышах с крутым уклоном. Если заметили спад в работе системы - например, с помощью приложения </a:t>
            </a:r>
            <a:r>
              <a:rPr kumimoji="0" lang="ru-RU" sz="2400" b="0" i="0" u="none" strike="noStrike" cap="none" normalizeH="0" baseline="0" dirty="0" err="1">
                <a:ln>
                  <a:noFill/>
                </a:ln>
                <a:solidFill>
                  <a:schemeClr val="tx1"/>
                </a:solidFill>
                <a:effectLst/>
                <a:latin typeface="Arial" pitchFamily="34" charset="0"/>
                <a:ea typeface="Times New Roman" pitchFamily="18" charset="0"/>
              </a:rPr>
              <a:t>EcoFlow</a:t>
            </a:r>
            <a:r>
              <a:rPr kumimoji="0" lang="ru-RU" sz="2400" b="0" i="0" u="none" strike="noStrike" cap="none" normalizeH="0" baseline="0" dirty="0">
                <a:ln>
                  <a:noFill/>
                </a:ln>
                <a:solidFill>
                  <a:schemeClr val="tx1"/>
                </a:solidFill>
                <a:effectLst/>
                <a:latin typeface="Arial" pitchFamily="34" charset="0"/>
                <a:ea typeface="Times New Roman" pitchFamily="18" charset="0"/>
              </a:rPr>
              <a:t>, — это может свидетельствовать о необходимости технического обслуживания.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Другим основным фактором, влияющим на частоту отчистки, является климат в регионе. Если панели расположены на крышах с крутым уклоном, и вы живете в районе с большим количеством осадков, возможно, не придется чистить их так часто. Однако в засушливом климате или в местах с длительными засухами, где дождей недостаточно для естественной очистки, чистка может потребоваться от двух до четырех раз в год. </a:t>
            </a:r>
            <a:endParaRPr kumimoji="0" lang="ru-RU" sz="24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0" y="620688"/>
            <a:ext cx="914400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2400" b="1" i="0" u="none" strike="noStrike" cap="none" normalizeH="0" baseline="0" dirty="0">
                <a:ln>
                  <a:noFill/>
                </a:ln>
                <a:solidFill>
                  <a:schemeClr val="tx1"/>
                </a:solidFill>
                <a:effectLst/>
                <a:latin typeface="Arial" pitchFamily="34" charset="0"/>
                <a:ea typeface="Times New Roman" pitchFamily="18" charset="0"/>
              </a:rPr>
              <a:t>Как правильно ухаживать за солнечными панелями? </a:t>
            </a:r>
            <a:endParaRPr kumimoji="0" lang="ru-RU" sz="2400" b="0" i="0" u="none" strike="noStrike" cap="none" normalizeH="0" baseline="0" dirty="0">
              <a:ln>
                <a:noFill/>
              </a:ln>
              <a:solidFill>
                <a:schemeClr val="tx1"/>
              </a:solidFill>
              <a:effectLst/>
              <a:latin typeface="Arial" pitchFamily="34" charset="0"/>
              <a:ea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Прежде всего, в целях безопасности стоит обесточить солнечную систему перед очисткой.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Можно сделать все своими руками и помыть солнечные панели теплой водой из шланга. Не используйте жесткую водопроводную воду, так как она оставляет осадок на фотоэлектрических модулях, снижая их эффективность. При использовании мыла или других чистящих средств также остаются следы, которые снижают эффективность и могут повредить фотоэлектрические модули. Обычно достаточно использовать чистую теплую воду.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Для удаления устойчивых загрязнений можно использовать неабразивную ткань из </a:t>
            </a:r>
            <a:r>
              <a:rPr kumimoji="0" lang="ru-RU" sz="2400" b="0" i="0" u="none" strike="noStrike" cap="none" normalizeH="0" baseline="0" dirty="0" err="1">
                <a:ln>
                  <a:noFill/>
                </a:ln>
                <a:solidFill>
                  <a:schemeClr val="tx1"/>
                </a:solidFill>
                <a:effectLst/>
                <a:latin typeface="Arial" pitchFamily="34" charset="0"/>
                <a:ea typeface="Times New Roman" pitchFamily="18" charset="0"/>
              </a:rPr>
              <a:t>микрофибры</a:t>
            </a:r>
            <a:r>
              <a:rPr kumimoji="0" lang="ru-RU" sz="2400" b="0" i="0" u="none" strike="noStrike" cap="none" normalizeH="0" baseline="0" dirty="0">
                <a:ln>
                  <a:noFill/>
                </a:ln>
                <a:solidFill>
                  <a:schemeClr val="tx1"/>
                </a:solidFill>
                <a:effectLst/>
                <a:latin typeface="Arial" pitchFamily="34" charset="0"/>
                <a:ea typeface="Times New Roman" pitchFamily="18" charset="0"/>
              </a:rPr>
              <a:t>. Ни в коем случае нельзя мыть под высоким давлением: слишком сильное воздействие может повредить фотоэлектрические элементы</a:t>
            </a:r>
            <a:r>
              <a:rPr kumimoji="0" lang="ru-RU" sz="1200" b="0" i="0" u="none" strike="noStrike" cap="none" normalizeH="0" baseline="0" dirty="0">
                <a:ln>
                  <a:noFill/>
                </a:ln>
                <a:solidFill>
                  <a:schemeClr val="tx1"/>
                </a:solidFill>
                <a:effectLst/>
                <a:latin typeface="Arial" pitchFamily="34" charset="0"/>
                <a:ea typeface="Times New Roman" pitchFamily="18" charset="0"/>
              </a:rPr>
              <a:t>. </a:t>
            </a:r>
            <a:endParaRPr kumimoji="0" lang="ru-RU" sz="18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404664"/>
            <a:ext cx="9144000" cy="5324535"/>
          </a:xfrm>
          <a:prstGeom prst="rect">
            <a:avLst/>
          </a:prstGeom>
        </p:spPr>
        <p:txBody>
          <a:bodyPr wrap="square">
            <a:spAutoFit/>
          </a:bodyPr>
          <a:lstStyle/>
          <a:p>
            <a:r>
              <a:rPr lang="ru-RU" sz="2000" dirty="0"/>
              <a:t>Теплой водой или специально предназначенными для этого щетками можно справиться с налипшим снегом и льдом, который не сходит сам. Никогда не используйте горячую воду, так как резкий перепад температур может повредить модули. По той же причине не следует использовать холодную воду на нагретых фотоэлектрических модулях. </a:t>
            </a:r>
          </a:p>
          <a:p>
            <a:r>
              <a:rPr lang="ru-RU" sz="2000" dirty="0"/>
              <a:t>Птицы, грызуны и другие вредители иногда строят гнезда под модулями или вокруг них. Материалы их гнезд, помет и другой мусор могут вызвать коррозию или повышение температуры и потенциально повредить фотоэлектрические модули. Чтобы справиться с вредителями, осматривайте модули во время их очистки, убирайте гнезда и удаляйте весь мусор. Если животные вернутся, подумайте об установке проволочных ограждений, чтобы они не могли забраться под массив. </a:t>
            </a:r>
          </a:p>
          <a:p>
            <a:r>
              <a:rPr lang="ru-RU" sz="2000" dirty="0"/>
              <a:t>Регулярно проверяйте проводку, чтобы убедиться, что ни одно из соединений не ослабло из-за погодных условий или вредителей. Грызуны иногда прогрызают провода, что приводит прекращению подачи электроэнергии. Если обнаружили какие-либо повреждения электропроводки, рекомендуется нанять специалиста для их устранения.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0" y="55119"/>
            <a:ext cx="9144000"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2400" b="1" i="0" u="none" strike="noStrike" cap="none" normalizeH="0" baseline="0" dirty="0">
                <a:ln>
                  <a:noFill/>
                </a:ln>
                <a:solidFill>
                  <a:schemeClr val="tx1"/>
                </a:solidFill>
                <a:effectLst/>
                <a:latin typeface="Arial" pitchFamily="34" charset="0"/>
                <a:ea typeface="Times New Roman" pitchFamily="18" charset="0"/>
              </a:rPr>
              <a:t>Могут ли экстремальные погодные условия повлиять на обслуживание солнечных панелей? </a:t>
            </a:r>
            <a:endParaRPr kumimoji="0" lang="ru-RU" sz="2400" b="0" i="0" u="none" strike="noStrike" cap="none" normalizeH="0" baseline="0" dirty="0">
              <a:ln>
                <a:noFill/>
              </a:ln>
              <a:solidFill>
                <a:schemeClr val="tx1"/>
              </a:solidFill>
              <a:effectLst/>
              <a:latin typeface="Arial" pitchFamily="34" charset="0"/>
              <a:ea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Хотя высококачественные солнечные панели разработаны таким образом, чтобы противостоять экстремальным погодным явлениям, все же возможны повреждения, вследствие чего обслуживание фотоэлектрических панелей может потребоваться раньше, чем ожидалось.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К сожалению, экстремальные погодные условия становятся все более частым явлением, поэтому очень важно понимать потенциальные угрозы. Сильный ветер может ослабить монтажные кронштейны и кабельные соединения, что приведет к повреждению или снижению производительности. Шторм также может занести на панели крупный мусор, листья и ветки, которые следует немедленно убрать. </a:t>
            </a:r>
            <a:endParaRPr kumimoji="0" lang="ru-RU" sz="24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476672"/>
            <a:ext cx="9144000" cy="5016758"/>
          </a:xfrm>
          <a:prstGeom prst="rect">
            <a:avLst/>
          </a:prstGeom>
        </p:spPr>
        <p:txBody>
          <a:bodyPr wrap="square">
            <a:spAutoFit/>
          </a:bodyPr>
          <a:lstStyle/>
          <a:p>
            <a:r>
              <a:rPr lang="ru-RU" sz="2000" dirty="0"/>
              <a:t>Хотя в большинстве случаев снег и лед тают, метели могут вызвать образование наледи, требующей ручной уборки с помощью специальных щеток для снега. Если частые снегопады, необходимо </a:t>
            </a:r>
            <a:r>
              <a:rPr lang="ru-RU" sz="2000" dirty="0" err="1"/>
              <a:t>подумайть</a:t>
            </a:r>
            <a:r>
              <a:rPr lang="ru-RU" sz="2000" dirty="0"/>
              <a:t> об установке фотоэлектрических панелей под большим наклоном, чтобы снег легче соскальзывал. Установка обогревателей или снегозащитных ограждений также поможет предотвратить скопление снега в условиях холодного климата. </a:t>
            </a:r>
          </a:p>
          <a:p>
            <a:r>
              <a:rPr lang="ru-RU" sz="2000" dirty="0"/>
              <a:t>Несмотря на то, что солнечные модули защищены от града, если живете в районе, где часто выпадает град, подумайте об установке сетчатых защитных ограждений, чтобы обеспечить дополнительный уровень защиты. Экстремальная жара снижает эффективность и также может привести к образованию микротрещин, повреждающих модули. К счастью, есть способы смягчить влияние температуры. К ним относятся установка оборудования, обеспечивающего максимальную эффективность при минимальном нагреве, регулярное техническое обслуживание и использование систем охлаждения. </a:t>
            </a:r>
          </a:p>
          <a:p>
            <a:r>
              <a:rPr lang="ru-RU" sz="2000" dirty="0"/>
              <a:t>Если сталкиваетесь с экстремальными погодными условиями, следует чаще проверять модули на наличие проблем и немедленно их устранять.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323528" y="188640"/>
            <a:ext cx="8123547" cy="4032447"/>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59306"/>
            <a:ext cx="9144000" cy="7017306"/>
          </a:xfrm>
          <a:prstGeom prst="rect">
            <a:avLst/>
          </a:prstGeom>
        </p:spPr>
        <p:txBody>
          <a:bodyPr wrap="square">
            <a:spAutoFit/>
          </a:bodyPr>
          <a:lstStyle/>
          <a:p>
            <a:r>
              <a:rPr lang="ru-RU" dirty="0"/>
              <a:t>Настоящий стандарт распространяется на фотоэлектрические автономные системы и уста­</a:t>
            </a:r>
          </a:p>
          <a:p>
            <a:r>
              <a:rPr lang="ru-RU" dirty="0" err="1"/>
              <a:t>навливает</a:t>
            </a:r>
            <a:r>
              <a:rPr lang="ru-RU" dirty="0"/>
              <a:t> требования к комплектации и компонентам, методы и порядок испытаний, применяемые к автономным фотоэлектрическим системам. Стандарт относится к системам, состоящим из одного или более фотоэлектрических модулей, несущей конструкции, аккумуляторной(</a:t>
            </a:r>
            <a:r>
              <a:rPr lang="ru-RU" dirty="0" err="1"/>
              <a:t>ых</a:t>
            </a:r>
            <a:r>
              <a:rPr lang="ru-RU" dirty="0"/>
              <a:t>) батареи(</a:t>
            </a:r>
            <a:r>
              <a:rPr lang="ru-RU" dirty="0" err="1"/>
              <a:t>й</a:t>
            </a:r>
            <a:r>
              <a:rPr lang="ru-RU" dirty="0"/>
              <a:t>), зарядного устройства и типовых нагрузок постоянного тока таких, как светильники, радиоприемники, телевизоры и холодильники. Нагрузки переменного тока с принадлежащими им преобразователями рассматриваются в качестве нагрузок постоянного тока. С точки зрения с точки зрения проверки работоспособности автономной фотоэлектрической системы и ее аттестации заданные изготовителем нагрузки являются составной частью системы.</a:t>
            </a:r>
          </a:p>
          <a:p>
            <a:r>
              <a:rPr lang="ru-RU" dirty="0"/>
              <a:t>Основным назначением установленных в настоящем стандарте методов испытаний является оценка работоспособности автономной фотоэлектрической системы в целом. Несмотря на то что компоненты системы, возможно, удовлетворяют стандартам на эти компоненты по безопасности и функционированию в соответствующих условиях окружающей среды, для обеспечения надлежащей работы компонентов в комплексе, с характеристиками системы, заявленными изготовителем, требуется дополнительная аттестация полностью собранного изделия. Проверка работоспособности состоит из проверки возможности нормального функционирования, проверки автономного режима и </a:t>
            </a:r>
          </a:p>
          <a:p>
            <a:r>
              <a:rPr lang="ru-RU" dirty="0"/>
              <a:t>способности к восстановлению после периодов глубокого разряда батареи, обеспечивая, таким образом, известную уверенность в том, что система преждевременно не выйдет из строя. Отдельные подсистемы и компоненты также могут быть рассмотрены, но только с точки зрения оценки работоспособности всей системы.</a:t>
            </a:r>
          </a:p>
          <a:p>
            <a:r>
              <a:rPr lang="ru-RU" dirty="0"/>
              <a:t>Результаты устанавливаемых испытаний применимы только к тем компонентам, с которыми они проводились. При любых изменениях компонентов или характеристик компонентов требуется переаттестация.</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cstate="print"/>
          <a:srcRect/>
          <a:stretch>
            <a:fillRect/>
          </a:stretch>
        </p:blipFill>
        <p:spPr bwMode="auto">
          <a:xfrm>
            <a:off x="957824" y="764704"/>
            <a:ext cx="7502608" cy="5530769"/>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693866"/>
          </a:xfrm>
          <a:prstGeom prst="rect">
            <a:avLst/>
          </a:prstGeom>
        </p:spPr>
        <p:txBody>
          <a:bodyPr wrap="square">
            <a:spAutoFit/>
          </a:bodyPr>
          <a:lstStyle/>
          <a:p>
            <a:r>
              <a:rPr lang="ru-RU" sz="2800" b="1" dirty="0"/>
              <a:t>9 Руководство по эксплуатации</a:t>
            </a:r>
          </a:p>
          <a:p>
            <a:r>
              <a:rPr lang="ru-RU" sz="2800" dirty="0"/>
              <a:t>Руководство по эксплуатации должно быть написано на русском языке и включать в себя:</a:t>
            </a:r>
          </a:p>
          <a:p>
            <a:r>
              <a:rPr lang="ru-RU" sz="2800" dirty="0"/>
              <a:t>- рекомендации по правилам </a:t>
            </a:r>
            <a:r>
              <a:rPr lang="ru-RU" sz="2800" dirty="0" err="1"/>
              <a:t>электробезопасности</a:t>
            </a:r>
            <a:r>
              <a:rPr lang="ru-RU" sz="2800" dirty="0"/>
              <a:t>;</a:t>
            </a:r>
          </a:p>
          <a:p>
            <a:r>
              <a:rPr lang="ru-RU" sz="2800" dirty="0"/>
              <a:t>- требования к безопасной эксплуатации АБ;</a:t>
            </a:r>
          </a:p>
          <a:p>
            <a:pPr>
              <a:buFontTx/>
              <a:buChar char="-"/>
            </a:pPr>
            <a:r>
              <a:rPr lang="ru-RU" sz="2800" dirty="0"/>
              <a:t>требования по техническому обслуживанию АБ</a:t>
            </a:r>
          </a:p>
          <a:p>
            <a:pPr>
              <a:buFontTx/>
              <a:buChar char="-"/>
            </a:pPr>
            <a:r>
              <a:rPr lang="ru-RU" sz="2800" dirty="0"/>
              <a:t>- требования по замене АБ;</a:t>
            </a:r>
          </a:p>
          <a:p>
            <a:pPr>
              <a:buFontTx/>
              <a:buChar char="-"/>
            </a:pPr>
            <a:r>
              <a:rPr lang="ru-RU" sz="2800" dirty="0"/>
              <a:t>- инструкцию по обязательному использованию распределительного щита при подключении до­</a:t>
            </a:r>
          </a:p>
          <a:p>
            <a:pPr>
              <a:buFontTx/>
              <a:buChar char="-"/>
            </a:pPr>
            <a:r>
              <a:rPr lang="ru-RU" sz="2800" dirty="0" err="1"/>
              <a:t>полнительных</a:t>
            </a:r>
            <a:r>
              <a:rPr lang="ru-RU" sz="2800" dirty="0"/>
              <a:t> цепей с исключением прямого подключения к АБ;</a:t>
            </a:r>
          </a:p>
          <a:p>
            <a:pPr>
              <a:buFontTx/>
              <a:buChar char="-"/>
            </a:pPr>
            <a:r>
              <a:rPr lang="ru-RU" sz="2800" dirty="0"/>
              <a:t>- описание всего оборудования с диалоговыми возможностями;</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632311"/>
          </a:xfrm>
          <a:prstGeom prst="rect">
            <a:avLst/>
          </a:prstGeom>
        </p:spPr>
        <p:txBody>
          <a:bodyPr wrap="square">
            <a:spAutoFit/>
          </a:bodyPr>
          <a:lstStyle/>
          <a:p>
            <a:r>
              <a:rPr lang="ru-RU" sz="2000" dirty="0"/>
              <a:t>- порядок нормального функционирования системы, включая перечень ограничений на нагрузку и другие вопросы нагрузок. Этот порядок должен включать в себя указания по режимам функционирования, включая меры по снижению нагрузки в периоды плохой погоды и/или событий, приводящих к отключению низковольтных цепей. Также должны быть приведены порядок действий в случаях отказов системы и описания процедур по проверке того, что фотоэлектрические батареи не затенены, и способов предотвращения затенения;</a:t>
            </a:r>
          </a:p>
          <a:p>
            <a:r>
              <a:rPr lang="ru-RU" sz="2000" dirty="0"/>
              <a:t>- список приспособлений и материалов, используемых при обслуживании;</a:t>
            </a:r>
          </a:p>
          <a:p>
            <a:r>
              <a:rPr lang="ru-RU" sz="2000" dirty="0"/>
              <a:t>- порядок аварийного отключения;</a:t>
            </a:r>
          </a:p>
          <a:p>
            <a:r>
              <a:rPr lang="ru-RU" sz="2000" dirty="0"/>
              <a:t>- монтажные и эксплуатационные инструкции для зарядного устройства (рабочие температуры, </a:t>
            </a:r>
          </a:p>
          <a:p>
            <a:r>
              <a:rPr lang="ru-RU" sz="2000" dirty="0"/>
              <a:t>пороговые значения параметров);</a:t>
            </a:r>
          </a:p>
          <a:p>
            <a:r>
              <a:rPr lang="ru-RU" sz="2000" dirty="0"/>
              <a:t>- функциональная блок-схема.</a:t>
            </a:r>
          </a:p>
          <a:p>
            <a:r>
              <a:rPr lang="ru-RU" sz="2000" dirty="0"/>
              <a:t>Должны быть определены характеристики системы в отношении:</a:t>
            </a:r>
          </a:p>
          <a:p>
            <a:r>
              <a:rPr lang="ru-RU" sz="2000" dirty="0"/>
              <a:t>- номинального электропотребления;</a:t>
            </a:r>
          </a:p>
          <a:p>
            <a:r>
              <a:rPr lang="ru-RU" sz="2000" dirty="0"/>
              <a:t>- автономных режимов работы;</a:t>
            </a:r>
          </a:p>
          <a:p>
            <a:r>
              <a:rPr lang="ru-RU" sz="2000" dirty="0"/>
              <a:t>- времени подключения полезной нагрузки;</a:t>
            </a:r>
          </a:p>
          <a:p>
            <a:r>
              <a:rPr lang="ru-RU" sz="2000" dirty="0"/>
              <a:t>- условий испытаний.</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6555641"/>
          </a:xfrm>
          <a:prstGeom prst="rect">
            <a:avLst/>
          </a:prstGeom>
        </p:spPr>
        <p:txBody>
          <a:bodyPr wrap="square">
            <a:spAutoFit/>
          </a:bodyPr>
          <a:lstStyle/>
          <a:p>
            <a:r>
              <a:rPr lang="ru-RU" sz="2800" b="1" dirty="0"/>
              <a:t>10 Техническое руководство</a:t>
            </a:r>
          </a:p>
          <a:p>
            <a:r>
              <a:rPr lang="ru-RU" sz="2800" dirty="0"/>
              <a:t>Техническое руководство должно быть написано на русском языке и включать в себя:</a:t>
            </a:r>
          </a:p>
          <a:p>
            <a:r>
              <a:rPr lang="ru-RU" sz="2800" dirty="0"/>
              <a:t>- копию руководства по эксплуатации;</a:t>
            </a:r>
          </a:p>
          <a:p>
            <a:r>
              <a:rPr lang="ru-RU" sz="2800" dirty="0"/>
              <a:t>- полный перечень компонентов системы и запасных частей с соответствующей документацией </a:t>
            </a:r>
          </a:p>
          <a:p>
            <a:r>
              <a:rPr lang="ru-RU" sz="2800" dirty="0"/>
              <a:t>изготовителей, сертификатами и гарантийными свидетельствами;</a:t>
            </a:r>
          </a:p>
          <a:p>
            <a:r>
              <a:rPr lang="ru-RU" sz="2800" dirty="0"/>
              <a:t>- полный комплект чертежей и диаграмм, представляющий окончательный вариант конструкции системы (электрические схемы, спецификации и чертежи монтажных конструкций и т. д.);</a:t>
            </a:r>
          </a:p>
          <a:p>
            <a:r>
              <a:rPr lang="ru-RU" sz="2800" dirty="0"/>
              <a:t>- описание необходимых для монтажа инструмента и оборудования;</a:t>
            </a:r>
          </a:p>
          <a:p>
            <a:r>
              <a:rPr lang="ru-RU" sz="2800" dirty="0"/>
              <a:t>- инструкции по монтажу;</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6555641"/>
          </a:xfrm>
          <a:prstGeom prst="rect">
            <a:avLst/>
          </a:prstGeom>
        </p:spPr>
        <p:txBody>
          <a:bodyPr wrap="square">
            <a:spAutoFit/>
          </a:bodyPr>
          <a:lstStyle/>
          <a:p>
            <a:r>
              <a:rPr lang="ru-RU" sz="2000" dirty="0"/>
              <a:t>- порядок приемочных испытаний по завершении монтажа, включая все соответствующие места проверок и испытательные процедуры, содержащий:</a:t>
            </a:r>
          </a:p>
          <a:p>
            <a:r>
              <a:rPr lang="ru-RU" sz="2000" dirty="0"/>
              <a:t>- порядок проверки пороговых напряжений зарядного устройства, если это необходимо,</a:t>
            </a:r>
          </a:p>
          <a:p>
            <a:r>
              <a:rPr lang="ru-RU" sz="2000" dirty="0"/>
              <a:t>- порядок измерения тока от фотоэлектрической батареи в режиме зарядки,</a:t>
            </a:r>
          </a:p>
          <a:p>
            <a:r>
              <a:rPr lang="ru-RU" sz="2000" dirty="0"/>
              <a:t>- порядок проверок нормального функционирования нагрузки,</a:t>
            </a:r>
          </a:p>
          <a:p>
            <a:r>
              <a:rPr lang="ru-RU" sz="2000" dirty="0"/>
              <a:t>- порядок перезарядки АБ,</a:t>
            </a:r>
          </a:p>
          <a:p>
            <a:r>
              <a:rPr lang="ru-RU" sz="2000" dirty="0"/>
              <a:t>- порядок измерения падений напряжения для удовлетворения требований к </a:t>
            </a:r>
            <a:r>
              <a:rPr lang="en-US" sz="2000" dirty="0"/>
              <a:t> </a:t>
            </a:r>
            <a:r>
              <a:rPr lang="ru-RU" sz="2000" dirty="0"/>
              <a:t>максимально допустимому падению напряжения;</a:t>
            </a:r>
          </a:p>
          <a:p>
            <a:r>
              <a:rPr lang="ru-RU" sz="2000" dirty="0"/>
              <a:t>- рекомендуемый график обслуживания и инструкции по обслуживанию;</a:t>
            </a:r>
          </a:p>
          <a:p>
            <a:pPr>
              <a:buFontTx/>
              <a:buChar char="-"/>
            </a:pPr>
            <a:r>
              <a:rPr lang="ru-RU" sz="2000" dirty="0"/>
              <a:t>руководство по выявлению причин отказов, распространяющееся на все компоненты системы. </a:t>
            </a:r>
          </a:p>
          <a:p>
            <a:r>
              <a:rPr lang="ru-RU" sz="2000" dirty="0"/>
              <a:t>В него должны быть включены процедуры диагностики и ремонта, которые могут быть выполнены поставщиком;</a:t>
            </a:r>
          </a:p>
          <a:p>
            <a:r>
              <a:rPr lang="ru-RU" sz="2000" dirty="0"/>
              <a:t>- функциональную блок-схему;</a:t>
            </a:r>
          </a:p>
          <a:p>
            <a:r>
              <a:rPr lang="ru-RU" sz="2000" dirty="0"/>
              <a:t>- порядок аварийного отключения.</a:t>
            </a:r>
          </a:p>
          <a:p>
            <a:r>
              <a:rPr lang="ru-RU" sz="2000" dirty="0"/>
              <a:t>- инструкции по защитному заземлению и </a:t>
            </a:r>
            <a:r>
              <a:rPr lang="ru-RU" sz="2000" dirty="0" err="1"/>
              <a:t>молниезащите</a:t>
            </a:r>
            <a:r>
              <a:rPr lang="ru-RU" sz="2000" dirty="0"/>
              <a:t> (при необходимости).</a:t>
            </a:r>
          </a:p>
          <a:p>
            <a:r>
              <a:rPr lang="ru-RU" sz="2000" dirty="0"/>
              <a:t>Вся необходимая информация по установке, функционированию и обслуживанию должна быть непосредственно включена в техническое руководство без ссылок на спецификации изделий или инструкции изготовителей отдельных компонентов, даже если они включены в поставку.</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F41EDCB-C4AD-432D-A196-9BA25431D66B}"/>
              </a:ext>
            </a:extLst>
          </p:cNvPr>
          <p:cNvSpPr/>
          <p:nvPr/>
        </p:nvSpPr>
        <p:spPr>
          <a:xfrm>
            <a:off x="20711" y="260648"/>
            <a:ext cx="9144000" cy="6001643"/>
          </a:xfrm>
          <a:prstGeom prst="rect">
            <a:avLst/>
          </a:prstGeom>
        </p:spPr>
        <p:txBody>
          <a:bodyPr wrap="square">
            <a:spAutoFit/>
          </a:bodyPr>
          <a:lstStyle/>
          <a:p>
            <a:r>
              <a:rPr lang="ru-RU" sz="2400" b="1" dirty="0">
                <a:solidFill>
                  <a:srgbClr val="000000"/>
                </a:solidFill>
                <a:latin typeface="Times New Roman" panose="02020603050405020304" pitchFamily="18" charset="0"/>
                <a:cs typeface="Times New Roman" panose="02020603050405020304" pitchFamily="18" charset="0"/>
              </a:rPr>
              <a:t>11 Основные неисправности</a:t>
            </a:r>
          </a:p>
          <a:p>
            <a:r>
              <a:rPr lang="ru-RU" sz="2400" dirty="0">
                <a:solidFill>
                  <a:srgbClr val="000000"/>
                </a:solidFill>
                <a:latin typeface="Times New Roman" panose="02020603050405020304" pitchFamily="18" charset="0"/>
                <a:cs typeface="Times New Roman" panose="02020603050405020304" pitchFamily="18" charset="0"/>
              </a:rPr>
              <a:t>При испытаниях системы основными неисправностями считаются следующие:</a:t>
            </a:r>
          </a:p>
          <a:p>
            <a:r>
              <a:rPr lang="ru-RU" sz="2400" dirty="0">
                <a:solidFill>
                  <a:srgbClr val="000000"/>
                </a:solidFill>
                <a:latin typeface="Times New Roman" panose="02020603050405020304" pitchFamily="18" charset="0"/>
                <a:cs typeface="Times New Roman" panose="02020603050405020304" pitchFamily="18" charset="0"/>
              </a:rPr>
              <a:t>- отказ любого компонента системы, включая нагрузку;</a:t>
            </a:r>
          </a:p>
          <a:p>
            <a:r>
              <a:rPr lang="ru-RU" sz="2400" dirty="0">
                <a:solidFill>
                  <a:srgbClr val="000000"/>
                </a:solidFill>
                <a:latin typeface="Times New Roman" panose="02020603050405020304" pitchFamily="18" charset="0"/>
                <a:cs typeface="Times New Roman" panose="02020603050405020304" pitchFamily="18" charset="0"/>
              </a:rPr>
              <a:t>- сломанная, треснутая, гнутая, смещенная или поврежденная внешняя поверхность любого компонента системы (фотоэлектрического модуля, АБ, зарядного устройства, других компонентов системы);</a:t>
            </a:r>
          </a:p>
          <a:p>
            <a:pPr marL="285750" indent="-285750">
              <a:buFontTx/>
              <a:buChar char="-"/>
            </a:pPr>
            <a:r>
              <a:rPr lang="ru-RU" sz="2400" dirty="0">
                <a:solidFill>
                  <a:srgbClr val="000000"/>
                </a:solidFill>
                <a:latin typeface="Times New Roman" panose="02020603050405020304" pitchFamily="18" charset="0"/>
                <a:cs typeface="Times New Roman" panose="02020603050405020304" pitchFamily="18" charset="0"/>
              </a:rPr>
              <a:t>потемнение цвета какой-либо печатной платы;</a:t>
            </a:r>
            <a:r>
              <a:rPr lang="ru-RU" sz="2400" dirty="0">
                <a:latin typeface="Times New Roman" panose="02020603050405020304" pitchFamily="18" charset="0"/>
                <a:cs typeface="Times New Roman" panose="02020603050405020304" pitchFamily="18" charset="0"/>
              </a:rPr>
              <a:t> </a:t>
            </a:r>
          </a:p>
          <a:p>
            <a:r>
              <a:rPr lang="ru-RU" sz="2400" dirty="0">
                <a:latin typeface="Times New Roman" panose="02020603050405020304" pitchFamily="18" charset="0"/>
                <a:cs typeface="Times New Roman" panose="02020603050405020304" pitchFamily="18" charset="0"/>
              </a:rPr>
              <a:t>- утрата механической целостности до степени, когда это влияет на возможность установки или функционирования системы;</a:t>
            </a:r>
          </a:p>
          <a:p>
            <a:r>
              <a:rPr lang="ru-RU" sz="2400" dirty="0">
                <a:latin typeface="Times New Roman" panose="02020603050405020304" pitchFamily="18" charset="0"/>
                <a:cs typeface="Times New Roman" panose="02020603050405020304" pitchFamily="18" charset="0"/>
              </a:rPr>
              <a:t>- повреждения изоляции проводов;</a:t>
            </a:r>
          </a:p>
          <a:p>
            <a:r>
              <a:rPr lang="ru-RU" sz="2400" dirty="0">
                <a:latin typeface="Times New Roman" panose="02020603050405020304" pitchFamily="18" charset="0"/>
                <a:cs typeface="Times New Roman" panose="02020603050405020304" pitchFamily="18" charset="0"/>
              </a:rPr>
              <a:t>- утечка электролита из батареи;</a:t>
            </a:r>
          </a:p>
          <a:p>
            <a:r>
              <a:rPr lang="ru-RU" sz="2400" dirty="0">
                <a:latin typeface="Times New Roman" panose="02020603050405020304" pitchFamily="18" charset="0"/>
                <a:cs typeface="Times New Roman" panose="02020603050405020304" pitchFamily="18" charset="0"/>
              </a:rPr>
              <a:t>- признаки перегрева или коррозии. </a:t>
            </a:r>
            <a:br>
              <a:rPr lang="ru-RU" sz="2400" dirty="0">
                <a:latin typeface="Times New Roman" panose="02020603050405020304" pitchFamily="18" charset="0"/>
                <a:cs typeface="Times New Roman" panose="02020603050405020304" pitchFamily="18" charset="0"/>
              </a:rPr>
            </a:br>
            <a:br>
              <a:rPr lang="ru-RU" sz="2400" dirty="0">
                <a:latin typeface="Times New Roman" panose="02020603050405020304" pitchFamily="18" charset="0"/>
                <a:cs typeface="Times New Roman" panose="02020603050405020304" pitchFamily="18" charset="0"/>
              </a:rPr>
            </a:br>
            <a:endParaRPr lang="x-non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6165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E974D21-3B1F-411A-A71F-1E6E4831EAD7}"/>
              </a:ext>
            </a:extLst>
          </p:cNvPr>
          <p:cNvSpPr/>
          <p:nvPr/>
        </p:nvSpPr>
        <p:spPr>
          <a:xfrm>
            <a:off x="0" y="0"/>
            <a:ext cx="9144000" cy="6740307"/>
          </a:xfrm>
          <a:prstGeom prst="rect">
            <a:avLst/>
          </a:prstGeom>
        </p:spPr>
        <p:txBody>
          <a:bodyPr wrap="square">
            <a:spAutoFit/>
          </a:bodyPr>
          <a:lstStyle/>
          <a:p>
            <a:r>
              <a:rPr lang="ru-RU" sz="2400" b="1" dirty="0">
                <a:solidFill>
                  <a:srgbClr val="000000"/>
                </a:solidFill>
                <a:latin typeface="Times New Roman" panose="02020603050405020304" pitchFamily="18" charset="0"/>
                <a:cs typeface="Times New Roman" panose="02020603050405020304" pitchFamily="18" charset="0"/>
              </a:rPr>
              <a:t>12 Нагрузка</a:t>
            </a:r>
          </a:p>
          <a:p>
            <a:r>
              <a:rPr lang="ru-RU" sz="2400" dirty="0">
                <a:solidFill>
                  <a:srgbClr val="000000"/>
                </a:solidFill>
                <a:latin typeface="Times New Roman" panose="02020603050405020304" pitchFamily="18" charset="0"/>
                <a:cs typeface="Times New Roman" panose="02020603050405020304" pitchFamily="18" charset="0"/>
              </a:rPr>
              <a:t>Изготовитель осуществляет поставку системы для испытаний вместе с теми нагрузками, для которых предназначена система. В случае нескольких нагрузок изготовитель должен определить порядок переключений, если это требуется. Требуемый порядок переключений должен быть указан на видимой маркировке коммутационной панели или в другом месте, где она должна быть ясно видна обслуживающему персоналу. При всех испытаниях все нагрузки должны быть включены одновременно.</a:t>
            </a:r>
          </a:p>
          <a:p>
            <a:r>
              <a:rPr lang="ru-RU" sz="2400" dirty="0">
                <a:solidFill>
                  <a:srgbClr val="000000"/>
                </a:solidFill>
                <a:latin typeface="Times New Roman" panose="02020603050405020304" pitchFamily="18" charset="0"/>
                <a:cs typeface="Times New Roman" panose="02020603050405020304" pitchFamily="18" charset="0"/>
              </a:rPr>
              <a:t>Изготовителем указывается число часов в день, в течение которого система может осуществлять питание нагрузки (суточной график нагрузки) в условиях испытаний, установленных настоящим стандартом. Указанное число часов определяется для условий эксплуатации (местности) с приходом солнечной радиации класса II, установленного в приложении А.</a:t>
            </a:r>
          </a:p>
          <a:p>
            <a:r>
              <a:rPr lang="ru-RU" sz="2400" dirty="0">
                <a:solidFill>
                  <a:srgbClr val="000000"/>
                </a:solidFill>
                <a:latin typeface="Times New Roman" panose="02020603050405020304" pitchFamily="18" charset="0"/>
                <a:cs typeface="Times New Roman" panose="02020603050405020304" pitchFamily="18" charset="0"/>
              </a:rPr>
              <a:t>Для испытаний при подключенной фотоэлектрической батареи нагрузка никогда не подключается в дневное время или при энергетической освещенности выше 50 Вт/м5.</a:t>
            </a:r>
            <a:r>
              <a:rPr lang="ru-RU" sz="2400" dirty="0">
                <a:latin typeface="Times New Roman" panose="02020603050405020304" pitchFamily="18" charset="0"/>
                <a:cs typeface="Times New Roman" panose="02020603050405020304" pitchFamily="18" charset="0"/>
              </a:rPr>
              <a:t> </a:t>
            </a:r>
            <a:endParaRPr lang="x-non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4450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DA09E129-9AF2-41F9-BF4A-BCA0594FE7BD}"/>
              </a:ext>
            </a:extLst>
          </p:cNvPr>
          <p:cNvSpPr/>
          <p:nvPr/>
        </p:nvSpPr>
        <p:spPr>
          <a:xfrm>
            <a:off x="0" y="116632"/>
            <a:ext cx="9144000" cy="5663089"/>
          </a:xfrm>
          <a:prstGeom prst="rect">
            <a:avLst/>
          </a:prstGeom>
        </p:spPr>
        <p:txBody>
          <a:bodyPr wrap="square">
            <a:spAutoFit/>
          </a:bodyPr>
          <a:lstStyle/>
          <a:p>
            <a:r>
              <a:rPr lang="ru-RU" sz="2800" b="1" dirty="0">
                <a:solidFill>
                  <a:srgbClr val="000000"/>
                </a:solidFill>
                <a:latin typeface="Times New Roman" panose="02020603050405020304" pitchFamily="18" charset="0"/>
                <a:cs typeface="Times New Roman" panose="02020603050405020304" pitchFamily="18" charset="0"/>
              </a:rPr>
              <a:t>13 Общая последовательность испытаний на работоспособность</a:t>
            </a:r>
          </a:p>
          <a:p>
            <a:r>
              <a:rPr lang="ru-RU" b="1" dirty="0">
                <a:solidFill>
                  <a:srgbClr val="000000"/>
                </a:solidFill>
                <a:latin typeface="Times New Roman" panose="02020603050405020304" pitchFamily="18" charset="0"/>
                <a:cs typeface="Times New Roman" panose="02020603050405020304" pitchFamily="18" charset="0"/>
              </a:rPr>
              <a:t>13.1 Испытательное оборудование</a:t>
            </a:r>
          </a:p>
          <a:p>
            <a:r>
              <a:rPr lang="ru-RU" dirty="0">
                <a:solidFill>
                  <a:srgbClr val="000000"/>
                </a:solidFill>
                <a:latin typeface="Times New Roman" panose="02020603050405020304" pitchFamily="18" charset="0"/>
                <a:cs typeface="Times New Roman" panose="02020603050405020304" pitchFamily="18" charset="0"/>
              </a:rPr>
              <a:t>Оборудование и приборное оснащение для испытаний системы приведено в соответствии с приложением В.</a:t>
            </a:r>
          </a:p>
          <a:p>
            <a:r>
              <a:rPr lang="ru-RU" b="1" dirty="0">
                <a:solidFill>
                  <a:srgbClr val="000000"/>
                </a:solidFill>
                <a:latin typeface="Times New Roman" panose="02020603050405020304" pitchFamily="18" charset="0"/>
                <a:cs typeface="Times New Roman" panose="02020603050405020304" pitchFamily="18" charset="0"/>
              </a:rPr>
              <a:t>13.2 Документация</a:t>
            </a:r>
          </a:p>
          <a:p>
            <a:r>
              <a:rPr lang="ru-RU" dirty="0">
                <a:solidFill>
                  <a:srgbClr val="000000"/>
                </a:solidFill>
                <a:latin typeface="Times New Roman" panose="02020603050405020304" pitchFamily="18" charset="0"/>
                <a:cs typeface="Times New Roman" panose="02020603050405020304" pitchFamily="18" charset="0"/>
              </a:rPr>
              <a:t>В дополнение к регистрации всех результатов испытаний, необходимых для проверки работоспособности системы, проводящий испытания персонал должен сохранять необходимые текущие данные испытаний, расчеты и комментарии. Для будущего использования необходимо сохранить электронную копию данных о системе.</a:t>
            </a:r>
          </a:p>
          <a:p>
            <a:r>
              <a:rPr lang="ru-RU" b="1" dirty="0">
                <a:solidFill>
                  <a:srgbClr val="000000"/>
                </a:solidFill>
                <a:latin typeface="Times New Roman" panose="02020603050405020304" pitchFamily="18" charset="0"/>
                <a:cs typeface="Times New Roman" panose="02020603050405020304" pitchFamily="18" charset="0"/>
              </a:rPr>
              <a:t>13.3 Комплектация</a:t>
            </a:r>
          </a:p>
          <a:p>
            <a:r>
              <a:rPr lang="ru-RU" dirty="0">
                <a:solidFill>
                  <a:srgbClr val="000000"/>
                </a:solidFill>
                <a:latin typeface="Times New Roman" panose="02020603050405020304" pitchFamily="18" charset="0"/>
                <a:cs typeface="Times New Roman" panose="02020603050405020304" pitchFamily="18" charset="0"/>
              </a:rPr>
              <a:t>Необходимо убедиться в наличии всех частей, указанных в перечне комплектации системы. Отмечают все отсутствующие части, которые должны быть в наличии, и заносят информацию в протокол. Если отсутствуют важные части, т. е. части, без которых система не может пройти процедуру испытаний, система считается не прошедшей испытания, и она должна быть возвращена изготовителю или (в случае систем, изготовленных по индивидуальному проекту) испытания должны быть отложены до полного укомплектования системы.</a:t>
            </a:r>
            <a:r>
              <a:rPr lang="ru-RU" dirty="0">
                <a:latin typeface="Times New Roman" panose="02020603050405020304" pitchFamily="18" charset="0"/>
                <a:cs typeface="Times New Roman" panose="02020603050405020304" pitchFamily="18" charset="0"/>
              </a:rPr>
              <a:t> </a:t>
            </a:r>
            <a:br>
              <a:rPr lang="ru-RU" dirty="0">
                <a:latin typeface="Times New Roman" panose="02020603050405020304" pitchFamily="18" charset="0"/>
                <a:cs typeface="Times New Roman" panose="02020603050405020304" pitchFamily="18" charset="0"/>
              </a:rPr>
            </a:b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7390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40A64AB-1762-4306-B268-2D8FE2A265DA}"/>
              </a:ext>
            </a:extLst>
          </p:cNvPr>
          <p:cNvSpPr/>
          <p:nvPr/>
        </p:nvSpPr>
        <p:spPr>
          <a:xfrm>
            <a:off x="0" y="620688"/>
            <a:ext cx="9144000" cy="6186309"/>
          </a:xfrm>
          <a:prstGeom prst="rect">
            <a:avLst/>
          </a:prstGeom>
        </p:spPr>
        <p:txBody>
          <a:bodyPr wrap="square">
            <a:spAutoFit/>
          </a:bodyPr>
          <a:lstStyle/>
          <a:p>
            <a:r>
              <a:rPr lang="ru-RU" b="1" dirty="0">
                <a:solidFill>
                  <a:srgbClr val="000000"/>
                </a:solidFill>
                <a:latin typeface="Times New Roman" panose="02020603050405020304" pitchFamily="18" charset="0"/>
                <a:cs typeface="Times New Roman" panose="02020603050405020304" pitchFamily="18" charset="0"/>
              </a:rPr>
              <a:t>13.4 Монтаж</a:t>
            </a:r>
          </a:p>
          <a:p>
            <a:r>
              <a:rPr lang="ru-RU" b="1" dirty="0">
                <a:solidFill>
                  <a:srgbClr val="000000"/>
                </a:solidFill>
                <a:latin typeface="Times New Roman" panose="02020603050405020304" pitchFamily="18" charset="0"/>
                <a:cs typeface="Times New Roman" panose="02020603050405020304" pitchFamily="18" charset="0"/>
              </a:rPr>
              <a:t>13.4.1 Общие положения</a:t>
            </a:r>
          </a:p>
          <a:p>
            <a:r>
              <a:rPr lang="ru-RU" dirty="0">
                <a:solidFill>
                  <a:srgbClr val="000000"/>
                </a:solidFill>
                <a:latin typeface="Times New Roman" panose="02020603050405020304" pitchFamily="18" charset="0"/>
                <a:cs typeface="Times New Roman" panose="02020603050405020304" pitchFamily="18" charset="0"/>
              </a:rPr>
              <a:t>Систему монтируют в соответствии с инструкциями производителя.</a:t>
            </a:r>
          </a:p>
          <a:p>
            <a:r>
              <a:rPr lang="ru-RU" dirty="0">
                <a:solidFill>
                  <a:srgbClr val="000000"/>
                </a:solidFill>
                <a:latin typeface="Times New Roman" panose="02020603050405020304" pitchFamily="18" charset="0"/>
                <a:cs typeface="Times New Roman" panose="02020603050405020304" pitchFamily="18" charset="0"/>
              </a:rPr>
              <a:t>При проведении испытаний вне помещения необходимо обеспечить прямую видимость Солнца, т. е. во время испытаний фотоэлектрическая батарея не должна быть затенена какими-либо предметами, зданиями или растительностью.</a:t>
            </a:r>
          </a:p>
          <a:p>
            <a:r>
              <a:rPr lang="ru-RU" dirty="0">
                <a:solidFill>
                  <a:srgbClr val="000000"/>
                </a:solidFill>
                <a:latin typeface="Times New Roman" panose="02020603050405020304" pitchFamily="18" charset="0"/>
                <a:cs typeface="Times New Roman" panose="02020603050405020304" pitchFamily="18" charset="0"/>
              </a:rPr>
              <a:t>При испытаниях в помещении применяют имитатор солнечного излучения класса С, а для имитации модулей допускается применение электронного источника питания.</a:t>
            </a:r>
          </a:p>
          <a:p>
            <a:r>
              <a:rPr lang="ru-RU" dirty="0">
                <a:solidFill>
                  <a:srgbClr val="000000"/>
                </a:solidFill>
                <a:latin typeface="Times New Roman" panose="02020603050405020304" pitchFamily="18" charset="0"/>
                <a:cs typeface="Times New Roman" panose="02020603050405020304" pitchFamily="18" charset="0"/>
              </a:rPr>
              <a:t>В зависимости от компоновки фотоэлектрической системы может быть целесообразно установить систему сбора данных в процессе монтажа испытуемой системы. В этом случае проводят монтаж системы сбора данных по 13.4.3 одновременно с монтажом испытуемой системы.</a:t>
            </a:r>
          </a:p>
          <a:p>
            <a:r>
              <a:rPr lang="ru-RU" dirty="0">
                <a:solidFill>
                  <a:srgbClr val="000000"/>
                </a:solidFill>
                <a:latin typeface="Times New Roman" panose="02020603050405020304" pitchFamily="18" charset="0"/>
                <a:cs typeface="Times New Roman" panose="02020603050405020304" pitchFamily="18" charset="0"/>
              </a:rPr>
              <a:t>Проводящий испытания персонал не должен ничего изменять или добавлять к системе, монтаж и испытания системы должны быть проведены</a:t>
            </a:r>
          </a:p>
          <a:p>
            <a:r>
              <a:rPr lang="ru-RU" dirty="0">
                <a:solidFill>
                  <a:srgbClr val="000000"/>
                </a:solidFill>
                <a:latin typeface="Times New Roman" panose="02020603050405020304" pitchFamily="18" charset="0"/>
                <a:cs typeface="Times New Roman" panose="02020603050405020304" pitchFamily="18" charset="0"/>
              </a:rPr>
              <a:t>в том виде, в каком система была поставлена и требования к испытаниям определены в документации.</a:t>
            </a:r>
            <a:r>
              <a:rPr lang="ru-RU" dirty="0">
                <a:latin typeface="Times New Roman" panose="02020603050405020304" pitchFamily="18" charset="0"/>
                <a:cs typeface="Times New Roman" panose="02020603050405020304" pitchFamily="18" charset="0"/>
              </a:rPr>
              <a:t> </a:t>
            </a:r>
          </a:p>
          <a:p>
            <a:r>
              <a:rPr lang="ru-RU" dirty="0">
                <a:latin typeface="Times New Roman" panose="02020603050405020304" pitchFamily="18" charset="0"/>
                <a:cs typeface="Times New Roman" panose="02020603050405020304" pitchFamily="18" charset="0"/>
              </a:rPr>
              <a:t>Если с системой были получены готовые кабели, проводящий испытания персонал должен использовать полученные с системой кабели полной длины.</a:t>
            </a:r>
          </a:p>
          <a:p>
            <a:r>
              <a:rPr lang="ru-RU" dirty="0">
                <a:latin typeface="Times New Roman" panose="02020603050405020304" pitchFamily="18" charset="0"/>
                <a:cs typeface="Times New Roman" panose="02020603050405020304" pitchFamily="18" charset="0"/>
              </a:rPr>
              <a:t>П р и м е ч а н и е - При монтаже зарядного устройства требуется осторожность, так как для некоторых типов устройств во избежание повреждений требуется проводить подключение в определенном порядке. Следуют инструкциям изготовителя. </a:t>
            </a:r>
            <a:br>
              <a:rPr lang="ru-RU" dirty="0">
                <a:latin typeface="Times New Roman" panose="02020603050405020304" pitchFamily="18" charset="0"/>
                <a:cs typeface="Times New Roman" panose="02020603050405020304" pitchFamily="18" charset="0"/>
              </a:rPr>
            </a:b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5870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0352172-AFAA-4E57-9C57-C77AE617C88F}"/>
              </a:ext>
            </a:extLst>
          </p:cNvPr>
          <p:cNvSpPr/>
          <p:nvPr/>
        </p:nvSpPr>
        <p:spPr>
          <a:xfrm>
            <a:off x="0" y="0"/>
            <a:ext cx="9144000" cy="6740307"/>
          </a:xfrm>
          <a:prstGeom prst="rect">
            <a:avLst/>
          </a:prstGeom>
        </p:spPr>
        <p:txBody>
          <a:bodyPr wrap="square">
            <a:spAutoFit/>
          </a:bodyPr>
          <a:lstStyle/>
          <a:p>
            <a:r>
              <a:rPr lang="ru-RU" sz="2400" b="1" dirty="0">
                <a:solidFill>
                  <a:srgbClr val="000000"/>
                </a:solidFill>
                <a:latin typeface="Times New Roman" panose="02020603050405020304" pitchFamily="18" charset="0"/>
                <a:cs typeface="Times New Roman" panose="02020603050405020304" pitchFamily="18" charset="0"/>
              </a:rPr>
              <a:t>13.4.2 Подготовка системы</a:t>
            </a:r>
          </a:p>
          <a:p>
            <a:r>
              <a:rPr lang="ru-RU" sz="2400" dirty="0">
                <a:solidFill>
                  <a:srgbClr val="000000"/>
                </a:solidFill>
                <a:latin typeface="Times New Roman" panose="02020603050405020304" pitchFamily="18" charset="0"/>
                <a:cs typeface="Times New Roman" panose="02020603050405020304" pitchFamily="18" charset="0"/>
              </a:rPr>
              <a:t>При добавлении электролита (если это необходимо) и подготовке АБ для функционирования в составе системы следуют инструкциям изготовителя. Если подготовка АБ не оговорена в системной документации, систему необходимо подвергнуть следующей процедуре: - при испытаниях вне помещения - выполнить по меньшей мере пять циклов заряда-разряда от ОВН до ОНИ или - при испытаниях в помещении - выполнить по меньшей мере пять циклов заряда-разряда при условиях С10.</a:t>
            </a:r>
          </a:p>
          <a:p>
            <a:r>
              <a:rPr lang="ru-RU" sz="2400" dirty="0">
                <a:solidFill>
                  <a:srgbClr val="000000"/>
                </a:solidFill>
                <a:latin typeface="Times New Roman" panose="02020603050405020304" pitchFamily="18" charset="0"/>
                <a:cs typeface="Times New Roman" panose="02020603050405020304" pitchFamily="18" charset="0"/>
              </a:rPr>
              <a:t>Некоторым усовершенствованным зарядным устройствам требуется несколько дней (циклов) для определения оптимального режима, соответствующего конструкции системы. Изготовитель должен предупредить о такой ситуации, и проверка функционирования системы должна проводиться после выполнения необходимого числа циклов заряда-разряда. Фотоэлектрические модули, на работоспособность которых световое старение оказывает </a:t>
            </a:r>
            <a:r>
              <a:rPr lang="ru-RU" sz="2400" dirty="0" err="1">
                <a:solidFill>
                  <a:srgbClr val="000000"/>
                </a:solidFill>
                <a:latin typeface="Times New Roman" panose="02020603050405020304" pitchFamily="18" charset="0"/>
                <a:cs typeface="Times New Roman" panose="02020603050405020304" pitchFamily="18" charset="0"/>
              </a:rPr>
              <a:t>сущест</a:t>
            </a:r>
            <a:r>
              <a:rPr lang="ru-RU" sz="2400" dirty="0">
                <a:solidFill>
                  <a:srgbClr val="000000"/>
                </a:solidFill>
                <a:latin typeface="Times New Roman" panose="02020603050405020304" pitchFamily="18" charset="0"/>
                <a:cs typeface="Times New Roman" panose="02020603050405020304" pitchFamily="18" charset="0"/>
              </a:rPr>
              <a:t>-венное влияние (например, из аморфного кремния), должны быть подвергнуты первоначальной засветке в соответствии с МЭК 61646.</a:t>
            </a:r>
            <a:r>
              <a:rPr lang="ru-RU" sz="2400" dirty="0">
                <a:latin typeface="Times New Roman" panose="02020603050405020304" pitchFamily="18" charset="0"/>
                <a:cs typeface="Times New Roman" panose="02020603050405020304" pitchFamily="18" charset="0"/>
              </a:rPr>
              <a:t> </a:t>
            </a:r>
            <a:endParaRPr lang="x-non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6602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6907690-32AA-4E68-960A-6E644B996175}"/>
              </a:ext>
            </a:extLst>
          </p:cNvPr>
          <p:cNvSpPr/>
          <p:nvPr/>
        </p:nvSpPr>
        <p:spPr>
          <a:xfrm>
            <a:off x="7893" y="332656"/>
            <a:ext cx="9144000" cy="5940088"/>
          </a:xfrm>
          <a:prstGeom prst="rect">
            <a:avLst/>
          </a:prstGeom>
        </p:spPr>
        <p:txBody>
          <a:bodyPr wrap="square">
            <a:spAutoFit/>
          </a:bodyPr>
          <a:lstStyle/>
          <a:p>
            <a:r>
              <a:rPr lang="ru-RU" sz="2000" b="1" dirty="0">
                <a:solidFill>
                  <a:srgbClr val="000000"/>
                </a:solidFill>
                <a:latin typeface="Times New Roman" panose="02020603050405020304" pitchFamily="18" charset="0"/>
                <a:cs typeface="Times New Roman" panose="02020603050405020304" pitchFamily="18" charset="0"/>
              </a:rPr>
              <a:t>13.4.3 Монтаж системы сбора данных</a:t>
            </a:r>
          </a:p>
          <a:p>
            <a:r>
              <a:rPr lang="ru-RU" sz="2000" dirty="0">
                <a:solidFill>
                  <a:srgbClr val="000000"/>
                </a:solidFill>
                <a:latin typeface="Times New Roman" panose="02020603050405020304" pitchFamily="18" charset="0"/>
                <a:cs typeface="Times New Roman" panose="02020603050405020304" pitchFamily="18" charset="0"/>
              </a:rPr>
              <a:t>Устанавливают датчик энергетической освещенности (эталонный прибор) в плоскости модуля. Датчик энергетической освещенности должен быть расположен как можно ближе к фотоэлектрической батарее без ее затенения и закреплен в той же плоскости с отклонением в пределах ± 5° от угла наклона батареи.</a:t>
            </a:r>
          </a:p>
          <a:p>
            <a:r>
              <a:rPr lang="ru-RU" sz="2000" dirty="0">
                <a:solidFill>
                  <a:srgbClr val="000000"/>
                </a:solidFill>
                <a:latin typeface="Times New Roman" panose="02020603050405020304" pitchFamily="18" charset="0"/>
                <a:cs typeface="Times New Roman" panose="02020603050405020304" pitchFamily="18" charset="0"/>
              </a:rPr>
              <a:t>Выполняют программирование системы сбора данных для измерения параметров с сохранением средних значений за 5 мин.</a:t>
            </a:r>
          </a:p>
          <a:p>
            <a:r>
              <a:rPr lang="ru-RU" sz="2000" dirty="0">
                <a:solidFill>
                  <a:srgbClr val="000000"/>
                </a:solidFill>
                <a:latin typeface="Times New Roman" panose="02020603050405020304" pitchFamily="18" charset="0"/>
                <a:cs typeface="Times New Roman" panose="02020603050405020304" pitchFamily="18" charset="0"/>
              </a:rPr>
              <a:t>Устанавливают датчики температуры:</a:t>
            </a:r>
          </a:p>
          <a:p>
            <a:r>
              <a:rPr lang="ru-RU" sz="2000" dirty="0">
                <a:solidFill>
                  <a:srgbClr val="000000"/>
                </a:solidFill>
                <a:latin typeface="Times New Roman" panose="02020603050405020304" pitchFamily="18" charset="0"/>
                <a:cs typeface="Times New Roman" panose="02020603050405020304" pitchFamily="18" charset="0"/>
              </a:rPr>
              <a:t>- датчик внешней температуры должен быть установлен под обдуваемым или двойным затеняющим экраном;</a:t>
            </a:r>
          </a:p>
          <a:p>
            <a:r>
              <a:rPr lang="ru-RU" sz="2000" dirty="0">
                <a:solidFill>
                  <a:srgbClr val="000000"/>
                </a:solidFill>
                <a:latin typeface="Times New Roman" panose="02020603050405020304" pitchFamily="18" charset="0"/>
                <a:cs typeface="Times New Roman" panose="02020603050405020304" pitchFamily="18" charset="0"/>
              </a:rPr>
              <a:t>- датчик температуры на тыльной стороне одностороннего(их) модуля (модулей) должен быть закреплен на солнечном элементе в центральной части модуля с применением термопасты и покрыт теплоизоляцией и фольгой.</a:t>
            </a:r>
          </a:p>
          <a:p>
            <a:r>
              <a:rPr lang="ru-RU" sz="2000" dirty="0">
                <a:solidFill>
                  <a:srgbClr val="000000"/>
                </a:solidFill>
                <a:latin typeface="Times New Roman" panose="02020603050405020304" pitchFamily="18" charset="0"/>
                <a:cs typeface="Times New Roman" panose="02020603050405020304" pitchFamily="18" charset="0"/>
              </a:rPr>
              <a:t>Датчик температуры АБ должен быть установлен возможно ближе к датчику температурной компенсации. Если температурная компенсация проводится зарядным устройством, в дополнение к датчику температуры АБ требуется установить датчик измерения температуры зарядного устройства.</a:t>
            </a:r>
            <a:r>
              <a:rPr lang="ru-RU" sz="2000" dirty="0">
                <a:latin typeface="Times New Roman" panose="02020603050405020304" pitchFamily="18" charset="0"/>
                <a:cs typeface="Times New Roman" panose="02020603050405020304" pitchFamily="18" charset="0"/>
              </a:rPr>
              <a:t> </a:t>
            </a:r>
            <a:br>
              <a:rPr lang="ru-RU" sz="2000" dirty="0">
                <a:latin typeface="Times New Roman" panose="02020603050405020304" pitchFamily="18" charset="0"/>
                <a:cs typeface="Times New Roman" panose="02020603050405020304" pitchFamily="18" charset="0"/>
              </a:rPr>
            </a:br>
            <a:endParaRPr lang="x-non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4398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30EA0BE7-7BF4-496D-881E-CF26E1951795}"/>
              </a:ext>
            </a:extLst>
          </p:cNvPr>
          <p:cNvSpPr/>
          <p:nvPr/>
        </p:nvSpPr>
        <p:spPr>
          <a:xfrm>
            <a:off x="0" y="908720"/>
            <a:ext cx="9144000" cy="5293757"/>
          </a:xfrm>
          <a:prstGeom prst="rect">
            <a:avLst/>
          </a:prstGeom>
        </p:spPr>
        <p:txBody>
          <a:bodyPr wrap="square">
            <a:spAutoFit/>
          </a:bodyPr>
          <a:lstStyle/>
          <a:p>
            <a:r>
              <a:rPr lang="ru-RU" sz="2000" dirty="0">
                <a:solidFill>
                  <a:srgbClr val="000000"/>
                </a:solidFill>
                <a:latin typeface="Times New Roman" panose="02020603050405020304" pitchFamily="18" charset="0"/>
                <a:cs typeface="Times New Roman" panose="02020603050405020304" pitchFamily="18" charset="0"/>
              </a:rPr>
              <a:t>Устанавливают датчики напряжения для фотоэлектрической батареи и нагрузок. Устанавливают датчики напряжения АБ на выводы АБ. Следует обеспечить возможность снятия и сохранения минимальных и максимальных уровней</a:t>
            </a:r>
          </a:p>
          <a:p>
            <a:r>
              <a:rPr lang="ru-RU" sz="2000" dirty="0">
                <a:solidFill>
                  <a:srgbClr val="000000"/>
                </a:solidFill>
                <a:latin typeface="Times New Roman" panose="02020603050405020304" pitchFamily="18" charset="0"/>
                <a:cs typeface="Times New Roman" panose="02020603050405020304" pitchFamily="18" charset="0"/>
              </a:rPr>
              <a:t>сигналов, указанных в таблице В.1. Устанавливают датчики тока для фотоэлектрической батареи, АБ и нагрузок.</a:t>
            </a:r>
          </a:p>
          <a:p>
            <a:r>
              <a:rPr lang="ru-RU" sz="2000" dirty="0">
                <a:solidFill>
                  <a:srgbClr val="000000"/>
                </a:solidFill>
                <a:latin typeface="Times New Roman" panose="02020603050405020304" pitchFamily="18" charset="0"/>
                <a:cs typeface="Times New Roman" panose="02020603050405020304" pitchFamily="18" charset="0"/>
              </a:rPr>
              <a:t>Рассчитывают мощность постоянного тока фотоэлектрической батареи и нагрузок как произведение среднего напряжения на среднее значение тока.</a:t>
            </a:r>
          </a:p>
          <a:p>
            <a:r>
              <a:rPr lang="ru-RU" sz="2000" dirty="0">
                <a:solidFill>
                  <a:srgbClr val="000000"/>
                </a:solidFill>
                <a:latin typeface="Times New Roman" panose="02020603050405020304" pitchFamily="18" charset="0"/>
                <a:cs typeface="Times New Roman" panose="02020603050405020304" pitchFamily="18" charset="0"/>
              </a:rPr>
              <a:t>Устанавливают датчики определения нормальной работы нагрузки, например светочувствительный датчик перед лампой.</a:t>
            </a:r>
          </a:p>
          <a:p>
            <a:r>
              <a:rPr lang="ru-RU" sz="2000" dirty="0">
                <a:solidFill>
                  <a:srgbClr val="000000"/>
                </a:solidFill>
                <a:latin typeface="Times New Roman" panose="02020603050405020304" pitchFamily="18" charset="0"/>
                <a:cs typeface="Times New Roman" panose="02020603050405020304" pitchFamily="18" charset="0"/>
              </a:rPr>
              <a:t>П р и м е ч а н и е - В случае флуоресцентных ламп недостаточно только контролировать ток нагрузки в качестве показателя функционирования нагрузки, так как при отказе лампы ее балласт по-прежнему может потреблять энергию.</a:t>
            </a:r>
          </a:p>
          <a:p>
            <a:r>
              <a:rPr lang="ru-RU" sz="2000" dirty="0">
                <a:solidFill>
                  <a:srgbClr val="000000"/>
                </a:solidFill>
                <a:latin typeface="Times New Roman" panose="02020603050405020304" pitchFamily="18" charset="0"/>
                <a:cs typeface="Times New Roman" panose="02020603050405020304" pitchFamily="18" charset="0"/>
              </a:rPr>
              <a:t>На копии принципиальной схемы указывают места установки датчиков системы сбора данных.</a:t>
            </a:r>
          </a:p>
          <a:p>
            <a:r>
              <a:rPr lang="ru-RU" sz="2000" dirty="0">
                <a:solidFill>
                  <a:srgbClr val="000000"/>
                </a:solidFill>
                <a:latin typeface="Times New Roman" panose="02020603050405020304" pitchFamily="18" charset="0"/>
                <a:cs typeface="Times New Roman" panose="02020603050405020304" pitchFamily="18" charset="0"/>
              </a:rPr>
              <a:t>Принципиальная схема с внесенными данными и изменениями должна быть включена в протокол испытаний (раздел 19).</a:t>
            </a:r>
            <a:r>
              <a:rPr lang="ru-RU" sz="2000" dirty="0">
                <a:latin typeface="Times New Roman" panose="02020603050405020304" pitchFamily="18" charset="0"/>
                <a:cs typeface="Times New Roman" panose="02020603050405020304" pitchFamily="18" charset="0"/>
              </a:rPr>
              <a:t> </a:t>
            </a:r>
            <a:br>
              <a:rPr lang="ru-RU" dirty="0"/>
            </a:br>
            <a:endParaRPr lang="x-none" dirty="0"/>
          </a:p>
        </p:txBody>
      </p:sp>
    </p:spTree>
    <p:extLst>
      <p:ext uri="{BB962C8B-B14F-4D97-AF65-F5344CB8AC3E}">
        <p14:creationId xmlns:p14="http://schemas.microsoft.com/office/powerpoint/2010/main" val="2794467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A7A6379-6B5C-4D46-935F-A0308B98A399}"/>
              </a:ext>
            </a:extLst>
          </p:cNvPr>
          <p:cNvSpPr/>
          <p:nvPr/>
        </p:nvSpPr>
        <p:spPr>
          <a:xfrm>
            <a:off x="0" y="1582341"/>
            <a:ext cx="9144000" cy="5016758"/>
          </a:xfrm>
          <a:prstGeom prst="rect">
            <a:avLst/>
          </a:prstGeom>
        </p:spPr>
        <p:txBody>
          <a:bodyPr wrap="square">
            <a:spAutoFit/>
          </a:bodyPr>
          <a:lstStyle/>
          <a:p>
            <a:r>
              <a:rPr lang="ru-RU" sz="2000" b="1" dirty="0">
                <a:solidFill>
                  <a:srgbClr val="000000"/>
                </a:solidFill>
                <a:latin typeface="Times New Roman" panose="02020603050405020304" pitchFamily="18" charset="0"/>
                <a:cs typeface="Times New Roman" panose="02020603050405020304" pitchFamily="18" charset="0"/>
              </a:rPr>
              <a:t>13.4.4 Проверка работы нагрузки</a:t>
            </a:r>
          </a:p>
          <a:p>
            <a:r>
              <a:rPr lang="ru-RU" sz="2000" dirty="0">
                <a:solidFill>
                  <a:srgbClr val="000000"/>
                </a:solidFill>
                <a:latin typeface="Times New Roman" panose="02020603050405020304" pitchFamily="18" charset="0"/>
                <a:cs typeface="Times New Roman" panose="02020603050405020304" pitchFamily="18" charset="0"/>
              </a:rPr>
              <a:t>Нагрузка является неотъемлемой частью системы, и величина нагрузки является важным параметром. В данных испытаниях должны быть установлены все нагрузки, для которых предназначена</a:t>
            </a:r>
          </a:p>
          <a:p>
            <a:r>
              <a:rPr lang="ru-RU" sz="2000" dirty="0">
                <a:solidFill>
                  <a:srgbClr val="000000"/>
                </a:solidFill>
                <a:latin typeface="Times New Roman" panose="02020603050405020304" pitchFamily="18" charset="0"/>
                <a:cs typeface="Times New Roman" panose="02020603050405020304" pitchFamily="18" charset="0"/>
              </a:rPr>
              <a:t>система (входящие в комплект поставки), и все они должны функционировать одновременно. Проверяют, что все нагрузки включены и работают нормально.</a:t>
            </a:r>
            <a:r>
              <a:rPr lang="ru-RU" sz="2000" dirty="0">
                <a:latin typeface="Times New Roman" panose="02020603050405020304" pitchFamily="18" charset="0"/>
                <a:cs typeface="Times New Roman" panose="02020603050405020304" pitchFamily="18" charset="0"/>
              </a:rPr>
              <a:t> </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Для систем со многими нагрузками необходимо убедиться, что каждая отдельная нагрузка включается в соответствии с инструкциями изготовителя и работает нормально во время работы всех остальных нагрузок.</a:t>
            </a:r>
          </a:p>
          <a:p>
            <a:r>
              <a:rPr lang="ru-RU" sz="2000" dirty="0">
                <a:latin typeface="Times New Roman" panose="02020603050405020304" pitchFamily="18" charset="0"/>
                <a:cs typeface="Times New Roman" panose="02020603050405020304" pitchFamily="18" charset="0"/>
              </a:rPr>
              <a:t>При этих испытаниях достаточно обеспечить работу нагрузок только в течение времени, необходимого для проверки правильности работы нагрузок. Например, натриевая газоразрядная лампа низкого давления должна быть включена до достижения ею полной яркости, обычно около 15 мин.</a:t>
            </a:r>
          </a:p>
          <a:p>
            <a:r>
              <a:rPr lang="ru-RU" sz="2000" dirty="0">
                <a:latin typeface="Times New Roman" panose="02020603050405020304" pitchFamily="18" charset="0"/>
                <a:cs typeface="Times New Roman" panose="02020603050405020304" pitchFamily="18" charset="0"/>
              </a:rPr>
              <a:t>Выключают все нагрузки после проверки их нормальной работы. Описывают работу нагрузки. </a:t>
            </a:r>
            <a:br>
              <a:rPr lang="ru-RU" sz="2000" dirty="0">
                <a:latin typeface="Times New Roman" panose="02020603050405020304" pitchFamily="18" charset="0"/>
                <a:cs typeface="Times New Roman" panose="02020603050405020304" pitchFamily="18" charset="0"/>
              </a:rPr>
            </a:br>
            <a:endParaRPr lang="x-non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881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30A70CF8-044B-4647-B388-0B529CB21750}"/>
              </a:ext>
            </a:extLst>
          </p:cNvPr>
          <p:cNvSpPr/>
          <p:nvPr/>
        </p:nvSpPr>
        <p:spPr>
          <a:xfrm>
            <a:off x="35496" y="908720"/>
            <a:ext cx="9108504" cy="5324535"/>
          </a:xfrm>
          <a:prstGeom prst="rect">
            <a:avLst/>
          </a:prstGeom>
        </p:spPr>
        <p:txBody>
          <a:bodyPr wrap="square">
            <a:spAutoFit/>
          </a:bodyPr>
          <a:lstStyle/>
          <a:p>
            <a:r>
              <a:rPr lang="ru-RU" sz="2000" b="1" dirty="0">
                <a:solidFill>
                  <a:srgbClr val="000000"/>
                </a:solidFill>
                <a:latin typeface="Times New Roman" panose="02020603050405020304" pitchFamily="18" charset="0"/>
                <a:cs typeface="Times New Roman" panose="02020603050405020304" pitchFamily="18" charset="0"/>
              </a:rPr>
              <a:t>13.4.5 Замечания при монтаже</a:t>
            </a:r>
          </a:p>
          <a:p>
            <a:r>
              <a:rPr lang="ru-RU" sz="2000" dirty="0">
                <a:solidFill>
                  <a:srgbClr val="000000"/>
                </a:solidFill>
                <a:latin typeface="Times New Roman" panose="02020603050405020304" pitchFamily="18" charset="0"/>
                <a:cs typeface="Times New Roman" panose="02020603050405020304" pitchFamily="18" charset="0"/>
              </a:rPr>
              <a:t>Отмечают все пропущенные шаги или трудности при выполнении указанной изготовителем процедуры монтажа.</a:t>
            </a:r>
          </a:p>
          <a:p>
            <a:r>
              <a:rPr lang="ru-RU" sz="2000" b="1" dirty="0">
                <a:solidFill>
                  <a:srgbClr val="000000"/>
                </a:solidFill>
                <a:latin typeface="Times New Roman" panose="02020603050405020304" pitchFamily="18" charset="0"/>
                <a:cs typeface="Times New Roman" panose="02020603050405020304" pitchFamily="18" charset="0"/>
              </a:rPr>
              <a:t>13.4.6 Фотографирование системы</a:t>
            </a:r>
          </a:p>
          <a:p>
            <a:r>
              <a:rPr lang="ru-RU" sz="2000" dirty="0">
                <a:solidFill>
                  <a:srgbClr val="000000"/>
                </a:solidFill>
                <a:latin typeface="Times New Roman" panose="02020603050405020304" pitchFamily="18" charset="0"/>
                <a:cs typeface="Times New Roman" panose="02020603050405020304" pitchFamily="18" charset="0"/>
              </a:rPr>
              <a:t>Выполняют фотографирование испытуемой системы и нагрузки после монтажа системы и подключения приборов для сбора данных. Включают фотографии в документацию.</a:t>
            </a:r>
          </a:p>
          <a:p>
            <a:r>
              <a:rPr lang="ru-RU" sz="2000" b="1" dirty="0">
                <a:solidFill>
                  <a:srgbClr val="000000"/>
                </a:solidFill>
                <a:latin typeface="Times New Roman" panose="02020603050405020304" pitchFamily="18" charset="0"/>
                <a:cs typeface="Times New Roman" panose="02020603050405020304" pitchFamily="18" charset="0"/>
              </a:rPr>
              <a:t>13.5 Визуальный контроль</a:t>
            </a:r>
          </a:p>
          <a:p>
            <a:r>
              <a:rPr lang="ru-RU" sz="2000" dirty="0">
                <a:solidFill>
                  <a:srgbClr val="000000"/>
                </a:solidFill>
                <a:latin typeface="Times New Roman" panose="02020603050405020304" pitchFamily="18" charset="0"/>
                <a:cs typeface="Times New Roman" panose="02020603050405020304" pitchFamily="18" charset="0"/>
              </a:rPr>
              <a:t>Система должна быть осмотрена в целях обнаружения повреждений и дефектов изготовления (например, непригодных конструкционных деталей)</a:t>
            </a:r>
          </a:p>
          <a:p>
            <a:r>
              <a:rPr lang="ru-RU" sz="2000" dirty="0">
                <a:solidFill>
                  <a:srgbClr val="000000"/>
                </a:solidFill>
                <a:latin typeface="Times New Roman" panose="02020603050405020304" pitchFamily="18" charset="0"/>
                <a:cs typeface="Times New Roman" panose="02020603050405020304" pitchFamily="18" charset="0"/>
              </a:rPr>
              <a:t>После каждого испытания следует проверять все соединительные провода на всем их протяжении на изменение цвета и растрескивание изоляции. Недостаточное сечение и некачественные соединения являются причиной перегрева, ведущего к обесцвечиванию и растрескиванию изоляции.</a:t>
            </a:r>
          </a:p>
          <a:p>
            <a:r>
              <a:rPr lang="ru-RU" sz="2000" dirty="0">
                <a:solidFill>
                  <a:srgbClr val="000000"/>
                </a:solidFill>
                <a:latin typeface="Times New Roman" panose="02020603050405020304" pitchFamily="18" charset="0"/>
                <a:cs typeface="Times New Roman" panose="02020603050405020304" pitchFamily="18" charset="0"/>
              </a:rPr>
              <a:t>Все обнаруженные дефекты следует занести в протокол испытаний с добавлением при необходимости фотографий замеченных дефектов.</a:t>
            </a:r>
            <a:r>
              <a:rPr lang="ru-RU" sz="2000" dirty="0">
                <a:latin typeface="Times New Roman" panose="02020603050405020304" pitchFamily="18" charset="0"/>
                <a:cs typeface="Times New Roman" panose="02020603050405020304" pitchFamily="18" charset="0"/>
              </a:rPr>
              <a:t> </a:t>
            </a:r>
            <a:br>
              <a:rPr lang="ru-RU" sz="2000" dirty="0">
                <a:latin typeface="Times New Roman" panose="02020603050405020304" pitchFamily="18" charset="0"/>
                <a:cs typeface="Times New Roman" panose="02020603050405020304" pitchFamily="18" charset="0"/>
              </a:rPr>
            </a:br>
            <a:endParaRPr lang="x-non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9584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4878F5F-B113-4ADC-81FF-A628309A2223}"/>
              </a:ext>
            </a:extLst>
          </p:cNvPr>
          <p:cNvSpPr/>
          <p:nvPr/>
        </p:nvSpPr>
        <p:spPr>
          <a:xfrm>
            <a:off x="0" y="1443841"/>
            <a:ext cx="9144000" cy="4832092"/>
          </a:xfrm>
          <a:prstGeom prst="rect">
            <a:avLst/>
          </a:prstGeom>
        </p:spPr>
        <p:txBody>
          <a:bodyPr wrap="square">
            <a:spAutoFit/>
          </a:bodyPr>
          <a:lstStyle/>
          <a:p>
            <a:r>
              <a:rPr lang="ru-RU" sz="2800" b="1" dirty="0">
                <a:solidFill>
                  <a:srgbClr val="000000"/>
                </a:solidFill>
                <a:latin typeface="Times New Roman" panose="02020603050405020304" pitchFamily="18" charset="0"/>
                <a:cs typeface="Times New Roman" panose="02020603050405020304" pitchFamily="18" charset="0"/>
              </a:rPr>
              <a:t>13.6 Этапы испытаний</a:t>
            </a:r>
          </a:p>
          <a:p>
            <a:r>
              <a:rPr lang="ru-RU" sz="2800" dirty="0">
                <a:solidFill>
                  <a:srgbClr val="000000"/>
                </a:solidFill>
                <a:latin typeface="Times New Roman" panose="02020603050405020304" pitchFamily="18" charset="0"/>
                <a:cs typeface="Times New Roman" panose="02020603050405020304" pitchFamily="18" charset="0"/>
              </a:rPr>
              <a:t>На рисунке 2 показаны этапы проверки работоспособности (кроме работы при максимальной мощности).</a:t>
            </a:r>
          </a:p>
          <a:p>
            <a:r>
              <a:rPr lang="ru-RU" sz="2800" dirty="0">
                <a:solidFill>
                  <a:srgbClr val="000000"/>
                </a:solidFill>
                <a:latin typeface="Times New Roman" panose="02020603050405020304" pitchFamily="18" charset="0"/>
                <a:cs typeface="Times New Roman" panose="02020603050405020304" pitchFamily="18" charset="0"/>
              </a:rPr>
              <a:t>В течение испытаний выполняют измерительные процедуры для определения работоспособности системы при разряде АБ до низких значений, восстановления заряда АБ, определения правильности работы системы и способности достичь ОВН в ходе нормальной работы после полного разряда при солнечной погоде.</a:t>
            </a:r>
            <a:r>
              <a:rPr lang="ru-RU" sz="2800" dirty="0">
                <a:latin typeface="Times New Roman" panose="02020603050405020304" pitchFamily="18" charset="0"/>
                <a:cs typeface="Times New Roman" panose="02020603050405020304" pitchFamily="18" charset="0"/>
              </a:rPr>
              <a:t> </a:t>
            </a:r>
            <a:br>
              <a:rPr lang="ru-RU" sz="2800" dirty="0">
                <a:latin typeface="Times New Roman" panose="02020603050405020304" pitchFamily="18" charset="0"/>
                <a:cs typeface="Times New Roman" panose="02020603050405020304" pitchFamily="18" charset="0"/>
              </a:rPr>
            </a:br>
            <a:endParaRPr lang="x-none"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401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rotWithShape="1">
          <a:blip r:embed="rId2" cstate="print"/>
          <a:srcRect l="6505" t="923" r="8447"/>
          <a:stretch/>
        </p:blipFill>
        <p:spPr bwMode="auto">
          <a:xfrm>
            <a:off x="611560" y="0"/>
            <a:ext cx="7776864" cy="3747300"/>
          </a:xfrm>
          <a:prstGeom prst="rect">
            <a:avLst/>
          </a:prstGeom>
          <a:noFill/>
          <a:ln w="9525">
            <a:noFill/>
            <a:miter lim="800000"/>
            <a:headEnd/>
            <a:tailEnd/>
          </a:ln>
        </p:spPr>
      </p:pic>
      <p:sp>
        <p:nvSpPr>
          <p:cNvPr id="2" name="Прямоугольник 1">
            <a:extLst>
              <a:ext uri="{FF2B5EF4-FFF2-40B4-BE49-F238E27FC236}">
                <a16:creationId xmlns:a16="http://schemas.microsoft.com/office/drawing/2014/main" id="{D349ABA8-5445-4150-B410-D86F62835F9A}"/>
              </a:ext>
            </a:extLst>
          </p:cNvPr>
          <p:cNvSpPr/>
          <p:nvPr/>
        </p:nvSpPr>
        <p:spPr>
          <a:xfrm>
            <a:off x="16767" y="3815619"/>
            <a:ext cx="9144000" cy="2862322"/>
          </a:xfrm>
          <a:prstGeom prst="rect">
            <a:avLst/>
          </a:prstGeom>
        </p:spPr>
        <p:txBody>
          <a:bodyPr wrap="square">
            <a:spAutoFit/>
          </a:bodyPr>
          <a:lstStyle/>
          <a:p>
            <a:r>
              <a:rPr lang="ru-RU" i="1" dirty="0">
                <a:solidFill>
                  <a:srgbClr val="000000"/>
                </a:solidFill>
                <a:latin typeface="Times New Roman" panose="02020603050405020304" pitchFamily="18" charset="0"/>
                <a:cs typeface="Times New Roman" panose="02020603050405020304" pitchFamily="18" charset="0"/>
              </a:rPr>
              <a:t>ПЕБ</a:t>
            </a:r>
            <a:r>
              <a:rPr lang="ru-RU" sz="1000" i="1" dirty="0">
                <a:solidFill>
                  <a:srgbClr val="000000"/>
                </a:solidFill>
                <a:latin typeface="Times New Roman" panose="02020603050405020304" pitchFamily="18" charset="0"/>
                <a:cs typeface="Times New Roman" panose="02020603050405020304" pitchFamily="18" charset="0"/>
              </a:rPr>
              <a:t>0</a:t>
            </a:r>
            <a:r>
              <a:rPr lang="ru-RU"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начальная полезная емкость АБ, начальное испытание АБ </a:t>
            </a:r>
            <a:r>
              <a:rPr lang="ru-RU"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заряд и разряд АБ после монтажа системы, измерение ПЕБ</a:t>
            </a:r>
            <a:r>
              <a:rPr lang="ru-RU" sz="1000" i="1" dirty="0">
                <a:solidFill>
                  <a:srgbClr val="000000"/>
                </a:solidFill>
                <a:latin typeface="Times New Roman" panose="02020603050405020304" pitchFamily="18" charset="0"/>
                <a:cs typeface="Times New Roman" panose="02020603050405020304" pitchFamily="18" charset="0"/>
              </a:rPr>
              <a:t>0</a:t>
            </a:r>
            <a:r>
              <a:rPr lang="ru-RU" i="1" dirty="0">
                <a:solidFill>
                  <a:srgbClr val="000000"/>
                </a:solidFill>
                <a:latin typeface="Times New Roman" panose="02020603050405020304" pitchFamily="18" charset="0"/>
                <a:cs typeface="Times New Roman" panose="02020603050405020304" pitchFamily="18" charset="0"/>
              </a:rPr>
              <a:t>; ПБ - перезарядка АБ перед проведением следующего испытания на проверку функционирования системы; ПФС - проверка функционирования системы, проводят для проверки нормальной работы системы и нагрузки; ПЕБ</a:t>
            </a:r>
            <a:r>
              <a:rPr lang="ru-RU" sz="1000" i="1" dirty="0">
                <a:solidFill>
                  <a:srgbClr val="000000"/>
                </a:solidFill>
                <a:latin typeface="Times New Roman" panose="02020603050405020304" pitchFamily="18" charset="0"/>
                <a:cs typeface="Times New Roman" panose="02020603050405020304" pitchFamily="18" charset="0"/>
              </a:rPr>
              <a:t>1</a:t>
            </a:r>
            <a:r>
              <a:rPr lang="ru-RU" dirty="0">
                <a:solidFill>
                  <a:srgbClr val="000000"/>
                </a:solidFill>
                <a:latin typeface="Times New Roman" panose="02020603050405020304" pitchFamily="18" charset="0"/>
                <a:cs typeface="Times New Roman" panose="02020603050405020304" pitchFamily="18" charset="0"/>
              </a:rPr>
              <a:t>, - </a:t>
            </a:r>
            <a:r>
              <a:rPr lang="ru-RU" i="1" dirty="0">
                <a:solidFill>
                  <a:srgbClr val="000000"/>
                </a:solidFill>
                <a:latin typeface="Times New Roman" panose="02020603050405020304" pitchFamily="18" charset="0"/>
                <a:cs typeface="Times New Roman" panose="02020603050405020304" pitchFamily="18" charset="0"/>
              </a:rPr>
              <a:t>первая полезная емкость АБ: второе испытание АБ </a:t>
            </a:r>
            <a:r>
              <a:rPr lang="ru-RU"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заряд и разряд АБ, измерение ПЕБ</a:t>
            </a:r>
            <a:r>
              <a:rPr lang="ru-RU" sz="1000" i="1" dirty="0">
                <a:solidFill>
                  <a:srgbClr val="000000"/>
                </a:solidFill>
                <a:latin typeface="Times New Roman" panose="02020603050405020304" pitchFamily="18" charset="0"/>
                <a:cs typeface="Times New Roman" panose="02020603050405020304" pitchFamily="18" charset="0"/>
              </a:rPr>
              <a:t>1</a:t>
            </a:r>
            <a:r>
              <a:rPr lang="ru-RU" i="1" dirty="0">
                <a:solidFill>
                  <a:srgbClr val="000000"/>
                </a:solidFill>
                <a:latin typeface="Times New Roman" panose="02020603050405020304" pitchFamily="18" charset="0"/>
                <a:cs typeface="Times New Roman" panose="02020603050405020304" pitchFamily="18" charset="0"/>
              </a:rPr>
              <a:t> определение возможности автономной работы системы; ИВ - испытание на восстановление: определение возможности фотоэлектрической батареи перезарядить АБ; ПЕБ</a:t>
            </a:r>
            <a:r>
              <a:rPr lang="ru-RU" sz="1000" i="1" dirty="0">
                <a:solidFill>
                  <a:srgbClr val="000000"/>
                </a:solidFill>
                <a:latin typeface="Times New Roman" panose="02020603050405020304" pitchFamily="18" charset="0"/>
                <a:cs typeface="Times New Roman" panose="02020603050405020304" pitchFamily="18" charset="0"/>
              </a:rPr>
              <a:t>2</a:t>
            </a:r>
            <a:r>
              <a:rPr lang="ru-RU"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вторая полезная емкость АБ: завершающее испытание АБ </a:t>
            </a:r>
            <a:r>
              <a:rPr lang="ru-RU"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заряд и разряд АБ, измерение ПЕБ</a:t>
            </a:r>
            <a:r>
              <a:rPr lang="ru-RU" sz="1000" i="1" dirty="0">
                <a:solidFill>
                  <a:srgbClr val="000000"/>
                </a:solidFill>
                <a:latin typeface="Times New Roman" panose="02020603050405020304" pitchFamily="18" charset="0"/>
                <a:cs typeface="Times New Roman" panose="02020603050405020304" pitchFamily="18" charset="0"/>
              </a:rPr>
              <a:t>2; </a:t>
            </a:r>
            <a:r>
              <a:rPr lang="ru-RU" i="1" dirty="0">
                <a:solidFill>
                  <a:srgbClr val="000000"/>
                </a:solidFill>
                <a:latin typeface="Times New Roman" panose="02020603050405020304" pitchFamily="18" charset="0"/>
                <a:cs typeface="Times New Roman" panose="02020603050405020304" pitchFamily="18" charset="0"/>
              </a:rPr>
              <a:t>U - напряжение, при котором зарядное устройство определяет полный заряд АБ (ОВН); ФБ </a:t>
            </a:r>
            <a:r>
              <a:rPr lang="ru-RU"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фотоэлектрическая батарея; ВИ </a:t>
            </a:r>
            <a:r>
              <a:rPr lang="ru-RU"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визуальный контроль.</a:t>
            </a:r>
            <a:r>
              <a:rPr lang="ru-RU" dirty="0">
                <a:latin typeface="Times New Roman" panose="02020603050405020304" pitchFamily="18" charset="0"/>
                <a:cs typeface="Times New Roman" panose="02020603050405020304" pitchFamily="18" charset="0"/>
              </a:rPr>
              <a:t> </a:t>
            </a:r>
            <a:endParaRPr lang="x-none"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599DC5B6-240B-4F0F-A9D1-CDF3A063E201}"/>
              </a:ext>
            </a:extLst>
          </p:cNvPr>
          <p:cNvSpPr/>
          <p:nvPr/>
        </p:nvSpPr>
        <p:spPr>
          <a:xfrm>
            <a:off x="6904" y="332656"/>
            <a:ext cx="9144000" cy="6063198"/>
          </a:xfrm>
          <a:prstGeom prst="rect">
            <a:avLst/>
          </a:prstGeom>
        </p:spPr>
        <p:txBody>
          <a:bodyPr wrap="square">
            <a:spAutoFit/>
          </a:bodyPr>
          <a:lstStyle/>
          <a:p>
            <a:r>
              <a:rPr lang="ru-RU" b="1" dirty="0">
                <a:solidFill>
                  <a:srgbClr val="000000"/>
                </a:solidFill>
                <a:latin typeface="Arial-BoldMT"/>
              </a:rPr>
              <a:t>13.7 Характеристическая диаграмма системы</a:t>
            </a:r>
          </a:p>
          <a:p>
            <a:r>
              <a:rPr lang="ru-RU" dirty="0">
                <a:solidFill>
                  <a:srgbClr val="000000"/>
                </a:solidFill>
                <a:latin typeface="ArialMT"/>
              </a:rPr>
              <a:t>Используя полученные при испытаниях значения, строят характеристическую диаграмму системы, как указано в разделе 18.</a:t>
            </a:r>
          </a:p>
          <a:p>
            <a:r>
              <a:rPr lang="ru-RU" dirty="0">
                <a:solidFill>
                  <a:srgbClr val="000000"/>
                </a:solidFill>
                <a:latin typeface="ArialMT"/>
              </a:rPr>
              <a:t>Определяют точку энергетического баланса (равновесия).</a:t>
            </a:r>
          </a:p>
          <a:p>
            <a:r>
              <a:rPr lang="ru-RU" sz="2800" b="1" dirty="0">
                <a:solidFill>
                  <a:srgbClr val="000000"/>
                </a:solidFill>
                <a:latin typeface="Arial-BoldMT"/>
              </a:rPr>
              <a:t>14 Испытания в натурных условиях</a:t>
            </a:r>
          </a:p>
          <a:p>
            <a:r>
              <a:rPr lang="ru-RU" b="1" dirty="0">
                <a:solidFill>
                  <a:srgbClr val="000000"/>
                </a:solidFill>
                <a:latin typeface="Arial-BoldMT"/>
              </a:rPr>
              <a:t>14.1 Условия испытаний</a:t>
            </a:r>
          </a:p>
          <a:p>
            <a:r>
              <a:rPr lang="ru-RU" dirty="0">
                <a:solidFill>
                  <a:srgbClr val="000000"/>
                </a:solidFill>
                <a:latin typeface="ArialMT"/>
              </a:rPr>
              <a:t>Температура АБ и зарядного устройства должна поддерживаться на уровне 30 °С ± 3°С.</a:t>
            </a:r>
          </a:p>
          <a:p>
            <a:r>
              <a:rPr lang="ru-RU" dirty="0">
                <a:solidFill>
                  <a:srgbClr val="000000"/>
                </a:solidFill>
                <a:latin typeface="ArialMT"/>
              </a:rPr>
              <a:t>В течение испытаний температура модуля (батареи) должна постоянно регистрироваться. Ежедневно следует рассчитывать средние почасовые температуры и строить график зависимости средней почасовой температуры от значений средней энергетической освещенности, рассчитанной за тот же период. В конце каждого дня эти значения следует сравнивать со значениями, приведенными в таблице 1. Значения, попадающие между границами интервалов, указанных в таблице 1, могут быть определены линейной интерполяцией.</a:t>
            </a:r>
          </a:p>
          <a:p>
            <a:r>
              <a:rPr lang="ru-RU" dirty="0">
                <a:solidFill>
                  <a:srgbClr val="000000"/>
                </a:solidFill>
                <a:latin typeface="ArialMT"/>
              </a:rPr>
              <a:t>П р и м е ч а н и е - Такая процедура обеспечивает сопоставимость значений характеристик фотоэлектрической батареей, измеренных в натурных условиях, со значениями, получаемыми при испытаниях в помещении, с отклонением в пределах ± 5 % в худшем случае (для кристаллических кремниевых солнечных элементов).</a:t>
            </a:r>
            <a:r>
              <a:rPr lang="ru-RU" dirty="0"/>
              <a:t> </a:t>
            </a:r>
            <a:br>
              <a:rPr lang="ru-RU" dirty="0"/>
            </a:br>
            <a:endParaRPr lang="x-none" dirty="0"/>
          </a:p>
        </p:txBody>
      </p:sp>
    </p:spTree>
    <p:extLst>
      <p:ext uri="{BB962C8B-B14F-4D97-AF65-F5344CB8AC3E}">
        <p14:creationId xmlns:p14="http://schemas.microsoft.com/office/powerpoint/2010/main" val="4243003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5FB9405-FDA2-4BB1-AC97-8D5021F79982}"/>
              </a:ext>
            </a:extLst>
          </p:cNvPr>
          <p:cNvSpPr/>
          <p:nvPr/>
        </p:nvSpPr>
        <p:spPr>
          <a:xfrm>
            <a:off x="-21704" y="4272677"/>
            <a:ext cx="9144000" cy="2585323"/>
          </a:xfrm>
          <a:prstGeom prst="rect">
            <a:avLst/>
          </a:prstGeom>
        </p:spPr>
        <p:txBody>
          <a:bodyPr wrap="square">
            <a:spAutoFit/>
          </a:bodyPr>
          <a:lstStyle/>
          <a:p>
            <a:r>
              <a:rPr lang="ru-RU" dirty="0">
                <a:solidFill>
                  <a:srgbClr val="000000"/>
                </a:solidFill>
                <a:latin typeface="ArialMT"/>
              </a:rPr>
              <a:t>Если средние почасовые температуры при соответствующей энергетической освещенности оказываются вне указанных диапазонов, все испытание следует повторить.</a:t>
            </a:r>
          </a:p>
          <a:p>
            <a:r>
              <a:rPr lang="ru-RU" dirty="0">
                <a:solidFill>
                  <a:srgbClr val="000000"/>
                </a:solidFill>
                <a:latin typeface="ArialMT"/>
              </a:rPr>
              <a:t>Для имитации дней с низким приходом солнечной радиации (имитации плохих погодных условий), например при проверке функционирования системы, изменяют наклон фотоэлектрической батареи, уменьшая тем самым поток солнечной радиации на рабочую поверхность батареи. Не допускается ручное отключение работающей на полной мощности фотоэлектрической батареи при достижении требуемого уровня заряда АБ.</a:t>
            </a:r>
            <a:r>
              <a:rPr lang="ru-RU" dirty="0"/>
              <a:t> </a:t>
            </a:r>
            <a:endParaRPr lang="x-none" dirty="0"/>
          </a:p>
        </p:txBody>
      </p:sp>
      <p:pic>
        <p:nvPicPr>
          <p:cNvPr id="5122" name="Picture 2"/>
          <p:cNvPicPr>
            <a:picLocks noChangeAspect="1" noChangeArrowheads="1"/>
          </p:cNvPicPr>
          <p:nvPr/>
        </p:nvPicPr>
        <p:blipFill>
          <a:blip r:embed="rId2" cstate="print"/>
          <a:srcRect/>
          <a:stretch>
            <a:fillRect/>
          </a:stretch>
        </p:blipFill>
        <p:spPr bwMode="auto">
          <a:xfrm>
            <a:off x="88301" y="1015262"/>
            <a:ext cx="9055699" cy="3199551"/>
          </a:xfrm>
          <a:prstGeom prst="rect">
            <a:avLst/>
          </a:prstGeom>
          <a:noFill/>
          <a:ln w="9525">
            <a:noFill/>
            <a:miter lim="800000"/>
            <a:headEnd/>
            <a:tailEnd/>
          </a:ln>
        </p:spPr>
      </p:pic>
    </p:spTree>
    <p:extLst>
      <p:ext uri="{BB962C8B-B14F-4D97-AF65-F5344CB8AC3E}">
        <p14:creationId xmlns:p14="http://schemas.microsoft.com/office/powerpoint/2010/main" val="25923973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07ED5DD-D6F2-44C2-868B-B006BB6189E5}"/>
              </a:ext>
            </a:extLst>
          </p:cNvPr>
          <p:cNvSpPr/>
          <p:nvPr/>
        </p:nvSpPr>
        <p:spPr>
          <a:xfrm>
            <a:off x="0" y="908720"/>
            <a:ext cx="9144000" cy="4524315"/>
          </a:xfrm>
          <a:prstGeom prst="rect">
            <a:avLst/>
          </a:prstGeom>
        </p:spPr>
        <p:txBody>
          <a:bodyPr wrap="square">
            <a:spAutoFit/>
          </a:bodyPr>
          <a:lstStyle/>
          <a:p>
            <a:r>
              <a:rPr lang="ru-RU" b="1" dirty="0">
                <a:solidFill>
                  <a:srgbClr val="000000"/>
                </a:solidFill>
                <a:latin typeface="Arial-BoldMT"/>
              </a:rPr>
              <a:t>14.2 Исходное испытание АБ</a:t>
            </a:r>
          </a:p>
          <a:p>
            <a:r>
              <a:rPr lang="ru-RU" dirty="0">
                <a:solidFill>
                  <a:srgbClr val="000000"/>
                </a:solidFill>
                <a:latin typeface="ArialMT"/>
              </a:rPr>
              <a:t>Проводят монтаж и подготовку системы в соответствии с 13.4.</a:t>
            </a:r>
          </a:p>
          <a:p>
            <a:r>
              <a:rPr lang="ru-RU" dirty="0">
                <a:solidFill>
                  <a:srgbClr val="000000"/>
                </a:solidFill>
                <a:latin typeface="ArialMT"/>
              </a:rPr>
              <a:t>При включенной фотоэлектрической батарее и отключенной нагрузке выполняют заряд АБ. По достижении максимального заряда (ОВН) оставляют систему в этом состоянии на 72 ч (в сумме). После этого батарея может считаться пригодной для проведения исходного испытания.</a:t>
            </a:r>
          </a:p>
          <a:p>
            <a:r>
              <a:rPr lang="ru-RU" dirty="0">
                <a:solidFill>
                  <a:srgbClr val="000000"/>
                </a:solidFill>
                <a:latin typeface="ArialMT"/>
              </a:rPr>
              <a:t>При отключенной фотоэлектрической батарее и постоянно включенной нагрузке дожидаются полного разряда АБ. АБ считается разряженной, если она достигает состояния ОНИ. Выдерживают АБ в состоянии ОНИ по меньшей мере 5 ч. Записывают значение заряда АБ, отданного в нагрузку, и диапазон температур АБ. Это значение является начальной полезной емкостью в ампер-часах АБ (ПЕБ0).</a:t>
            </a:r>
          </a:p>
          <a:p>
            <a:r>
              <a:rPr lang="ru-RU" b="1" dirty="0">
                <a:solidFill>
                  <a:srgbClr val="000000"/>
                </a:solidFill>
                <a:latin typeface="Arial-BoldMT"/>
              </a:rPr>
              <a:t>14.3 Перезарядка АБ</a:t>
            </a:r>
          </a:p>
          <a:p>
            <a:r>
              <a:rPr lang="ru-RU" dirty="0">
                <a:solidFill>
                  <a:srgbClr val="000000"/>
                </a:solidFill>
                <a:latin typeface="ArialMT"/>
              </a:rPr>
              <a:t>Отключают нагрузку. С включенной фотоэлектрической батареей и отключенной нагрузкой выполняют перезарядку АБ до достижения напряжением уровня отключения АБ (ОВН). Оставляют систему в таком состоянии не более чем на 0,5 ч</a:t>
            </a:r>
            <a:r>
              <a:rPr lang="ru-RU" dirty="0"/>
              <a:t> </a:t>
            </a:r>
            <a:br>
              <a:rPr lang="ru-RU" dirty="0"/>
            </a:br>
            <a:endParaRPr lang="x-none" dirty="0"/>
          </a:p>
        </p:txBody>
      </p:sp>
    </p:spTree>
    <p:extLst>
      <p:ext uri="{BB962C8B-B14F-4D97-AF65-F5344CB8AC3E}">
        <p14:creationId xmlns:p14="http://schemas.microsoft.com/office/powerpoint/2010/main" val="3280357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A1FD160-E58B-421D-BDE9-696C21FD0B60}"/>
              </a:ext>
            </a:extLst>
          </p:cNvPr>
          <p:cNvSpPr/>
          <p:nvPr/>
        </p:nvSpPr>
        <p:spPr>
          <a:xfrm>
            <a:off x="-1" y="751344"/>
            <a:ext cx="9148931" cy="5355312"/>
          </a:xfrm>
          <a:prstGeom prst="rect">
            <a:avLst/>
          </a:prstGeom>
        </p:spPr>
        <p:txBody>
          <a:bodyPr wrap="square">
            <a:spAutoFit/>
          </a:bodyPr>
          <a:lstStyle/>
          <a:p>
            <a:r>
              <a:rPr lang="ru-RU" b="1" dirty="0">
                <a:solidFill>
                  <a:srgbClr val="000000"/>
                </a:solidFill>
                <a:latin typeface="Arial-BoldMT"/>
              </a:rPr>
              <a:t>14.4 Проверка функционирования системы</a:t>
            </a:r>
          </a:p>
          <a:p>
            <a:r>
              <a:rPr lang="ru-RU" dirty="0">
                <a:solidFill>
                  <a:srgbClr val="000000"/>
                </a:solidFill>
                <a:latin typeface="ArialMT"/>
              </a:rPr>
              <a:t>Данное испытание подтверждает, что автономная фотоэлектрическая система может обеспечить работу заявленной изготовителем нагрузки.</a:t>
            </a:r>
          </a:p>
          <a:p>
            <a:r>
              <a:rPr lang="ru-RU" dirty="0">
                <a:solidFill>
                  <a:srgbClr val="000000"/>
                </a:solidFill>
                <a:latin typeface="ArialMT"/>
              </a:rPr>
              <a:t>При включенной фотоэлектрической батарее и подключенной в соответствии с разделами 10, 12 нагрузке оставляют систему в рабочем состоянии на протяжении 10 дней. Период измерения должен включать в себя: не менее двух дней подряд с условиями малого прихода солнечной радиации (менее 2 кВт-ч/м2 день); по меньшей мере три дня с существенно различными значениями суммарного дневного прихода солнечной радиации; два дня со значениями прихода солнечной радиации, соответствующими значениям, большим, чем значение в точке баланса системы, приведенное в разделе 18. Средний дневной приход солнечной радиации за 10 дней должен составить (4 ± 0,3) кВт-ч/м2.</a:t>
            </a:r>
          </a:p>
          <a:p>
            <a:r>
              <a:rPr lang="ru-RU" dirty="0">
                <a:solidFill>
                  <a:srgbClr val="000000"/>
                </a:solidFill>
                <a:latin typeface="ArialMT"/>
              </a:rPr>
              <a:t>Если условия наличия двух дней плохой погоды и среднего уровня дневного прихода солнечной радиации не удовлетворены на протяжении 10 дней, испытательный период может быть продлен максимум до 20 дней, в течение которых за последние 10 дней эти условия, наконец, будут выполнены. Если этого не произошло, испытания повторяют, начиная с 14.3.</a:t>
            </a:r>
          </a:p>
          <a:p>
            <a:r>
              <a:rPr lang="ru-RU" dirty="0">
                <a:solidFill>
                  <a:srgbClr val="000000"/>
                </a:solidFill>
                <a:latin typeface="ArialMT"/>
              </a:rPr>
              <a:t>Выполняют осмотр в соответствии с 13.5.</a:t>
            </a:r>
            <a:r>
              <a:rPr lang="ru-RU" dirty="0"/>
              <a:t> </a:t>
            </a:r>
            <a:br>
              <a:rPr lang="ru-RU" dirty="0"/>
            </a:br>
            <a:endParaRPr lang="x-none" dirty="0"/>
          </a:p>
        </p:txBody>
      </p:sp>
    </p:spTree>
    <p:extLst>
      <p:ext uri="{BB962C8B-B14F-4D97-AF65-F5344CB8AC3E}">
        <p14:creationId xmlns:p14="http://schemas.microsoft.com/office/powerpoint/2010/main" val="4223559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5ED5A7B-4120-4DD7-A658-1C80D19080FC}"/>
              </a:ext>
            </a:extLst>
          </p:cNvPr>
          <p:cNvSpPr/>
          <p:nvPr/>
        </p:nvSpPr>
        <p:spPr>
          <a:xfrm>
            <a:off x="0" y="1916832"/>
            <a:ext cx="9108504" cy="3970318"/>
          </a:xfrm>
          <a:prstGeom prst="rect">
            <a:avLst/>
          </a:prstGeom>
        </p:spPr>
        <p:txBody>
          <a:bodyPr wrap="square">
            <a:spAutoFit/>
          </a:bodyPr>
          <a:lstStyle/>
          <a:p>
            <a:r>
              <a:rPr lang="ru-RU" b="1" dirty="0">
                <a:solidFill>
                  <a:srgbClr val="000000"/>
                </a:solidFill>
                <a:latin typeface="Arial-BoldMT"/>
              </a:rPr>
              <a:t>14.5 Второе испытание АБ</a:t>
            </a:r>
          </a:p>
          <a:p>
            <a:r>
              <a:rPr lang="ru-RU" dirty="0">
                <a:solidFill>
                  <a:srgbClr val="000000"/>
                </a:solidFill>
                <a:latin typeface="ArialMT"/>
              </a:rPr>
              <a:t>Отключают нагрузку после проверки функционирования системы. С включенной фотоэлектрической батареей и отключенной нагрузкой выполняют перезарядку АБ до отключения по условию ОВН и выдерживают ее в этом состоянии не более 0,5 ч. Выключают фотоэлектрическую батарею и подключают нагрузку. При выключенной фотоэлектрической батарее и постоянно включенной нагрузке дожидаются разряда АБ до состояния ОНИ. Выдерживают АБ в состоянии ОНИ по меньшей мере 5 ч.</a:t>
            </a:r>
          </a:p>
          <a:p>
            <a:r>
              <a:rPr lang="ru-RU" dirty="0">
                <a:solidFill>
                  <a:srgbClr val="000000"/>
                </a:solidFill>
                <a:latin typeface="ArialMT"/>
              </a:rPr>
              <a:t>Определяют величину заряда АБ, отданной в нагрузку, и полное время разряда АБ. Первое значение является первым значением полезной емкости в ампер-часах АБ (ПЕБО.</a:t>
            </a:r>
          </a:p>
          <a:p>
            <a:r>
              <a:rPr lang="ru-RU" dirty="0">
                <a:solidFill>
                  <a:srgbClr val="000000"/>
                </a:solidFill>
                <a:latin typeface="ArialMT"/>
              </a:rPr>
              <a:t>Выдерживают систему в режиме ОНИ по меньшей мере в течение 5 ч, но не более 72 ч. Выполняют осмотр в соответствии с п. 13.5.</a:t>
            </a:r>
            <a:r>
              <a:rPr lang="ru-RU" dirty="0"/>
              <a:t> </a:t>
            </a:r>
            <a:br>
              <a:rPr lang="ru-RU" dirty="0"/>
            </a:br>
            <a:endParaRPr lang="x-none" dirty="0"/>
          </a:p>
        </p:txBody>
      </p:sp>
    </p:spTree>
    <p:extLst>
      <p:ext uri="{BB962C8B-B14F-4D97-AF65-F5344CB8AC3E}">
        <p14:creationId xmlns:p14="http://schemas.microsoft.com/office/powerpoint/2010/main" val="40055304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852AD47-D483-48B7-888E-54DA0B8D988A}"/>
              </a:ext>
            </a:extLst>
          </p:cNvPr>
          <p:cNvSpPr/>
          <p:nvPr/>
        </p:nvSpPr>
        <p:spPr>
          <a:xfrm>
            <a:off x="-7893" y="836712"/>
            <a:ext cx="9144000" cy="5909310"/>
          </a:xfrm>
          <a:prstGeom prst="rect">
            <a:avLst/>
          </a:prstGeom>
        </p:spPr>
        <p:txBody>
          <a:bodyPr wrap="square">
            <a:spAutoFit/>
          </a:bodyPr>
          <a:lstStyle/>
          <a:p>
            <a:r>
              <a:rPr lang="ru-RU" b="1" dirty="0">
                <a:solidFill>
                  <a:srgbClr val="000000"/>
                </a:solidFill>
                <a:latin typeface="Arial-BoldMT"/>
              </a:rPr>
              <a:t>14.6 Испытания на восстановление</a:t>
            </a:r>
          </a:p>
          <a:p>
            <a:r>
              <a:rPr lang="ru-RU" dirty="0">
                <a:solidFill>
                  <a:srgbClr val="000000"/>
                </a:solidFill>
                <a:latin typeface="ArialMT"/>
              </a:rPr>
              <a:t>Включают фотоэлектрическую батарею. Отключают нагрузку. Дожидаются, когда суммарный приход солнечной радиации на систему достигнет 5 кВт-ч/м2, затем подключают нагрузку согласно требованиям изготовителя (разделом 12).</a:t>
            </a:r>
          </a:p>
          <a:p>
            <a:r>
              <a:rPr lang="ru-RU" dirty="0">
                <a:solidFill>
                  <a:srgbClr val="000000"/>
                </a:solidFill>
                <a:latin typeface="ArialMT"/>
              </a:rPr>
              <a:t>Примечания:</a:t>
            </a:r>
          </a:p>
          <a:p>
            <a:r>
              <a:rPr lang="ru-RU" dirty="0">
                <a:solidFill>
                  <a:srgbClr val="000000"/>
                </a:solidFill>
                <a:latin typeface="ArialMT"/>
              </a:rPr>
              <a:t>1 В это время система по-прежнему может находится в условиях ОНИ.</a:t>
            </a:r>
          </a:p>
          <a:p>
            <a:r>
              <a:rPr lang="ru-RU" dirty="0">
                <a:solidFill>
                  <a:srgbClr val="000000"/>
                </a:solidFill>
                <a:latin typeface="ArialMT"/>
              </a:rPr>
              <a:t>2 Суммарный приход солнечной радиации 5 кВт ч/м2 необязательно должен быть обеспечен в течение одного дня.</a:t>
            </a:r>
          </a:p>
          <a:p>
            <a:r>
              <a:rPr lang="ru-RU" dirty="0">
                <a:solidFill>
                  <a:srgbClr val="000000"/>
                </a:solidFill>
                <a:latin typeface="ArialMT"/>
              </a:rPr>
              <a:t>Сочетание стадии заряда АБ, требующей суммарного прихода солнечной радиации 5 кВт-ч/м2, и последующей стадии работы под нагрузкой (в соответствии с разделами 10, 12) называется циклом восстановления.</a:t>
            </a:r>
          </a:p>
          <a:p>
            <a:r>
              <a:rPr lang="ru-RU" dirty="0">
                <a:solidFill>
                  <a:srgbClr val="000000"/>
                </a:solidFill>
                <a:latin typeface="ArialMT"/>
              </a:rPr>
              <a:t>Повторяют циклы восстановления до тех пор, пока в сумме приход солнечной радиации на систему за время испытаний не достигнет 35 кВт-ч/м2. Если при этом система достигает условия ОВН, отмечают количество циклов восстановления, после которого было достигнуто это состояние.</a:t>
            </a:r>
          </a:p>
          <a:p>
            <a:r>
              <a:rPr lang="ru-RU" dirty="0">
                <a:solidFill>
                  <a:srgbClr val="000000"/>
                </a:solidFill>
                <a:latin typeface="ArialMT"/>
              </a:rPr>
              <a:t>Регистрируют цикл восстановления, в течение которого начала функционировать (автоматически включилась) нагрузка.</a:t>
            </a:r>
          </a:p>
          <a:p>
            <a:r>
              <a:rPr lang="ru-RU" dirty="0">
                <a:solidFill>
                  <a:srgbClr val="000000"/>
                </a:solidFill>
                <a:latin typeface="ArialMT"/>
              </a:rPr>
              <a:t>Определяют суммарный заряд, накопленный АБ и отданный в нагрузку в течение семи циклов восстановления.</a:t>
            </a:r>
          </a:p>
          <a:p>
            <a:r>
              <a:rPr lang="ru-RU" dirty="0">
                <a:solidFill>
                  <a:srgbClr val="000000"/>
                </a:solidFill>
                <a:latin typeface="ArialMT"/>
              </a:rPr>
              <a:t>Выполняют осмотр в соответствии с 13.5.</a:t>
            </a:r>
            <a:r>
              <a:rPr lang="ru-RU" dirty="0"/>
              <a:t> </a:t>
            </a:r>
            <a:br>
              <a:rPr lang="ru-RU" dirty="0"/>
            </a:br>
            <a:endParaRPr lang="x-none" dirty="0"/>
          </a:p>
        </p:txBody>
      </p:sp>
    </p:spTree>
    <p:extLst>
      <p:ext uri="{BB962C8B-B14F-4D97-AF65-F5344CB8AC3E}">
        <p14:creationId xmlns:p14="http://schemas.microsoft.com/office/powerpoint/2010/main" val="1491045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718A6F6-709B-428F-AF6F-C378AB7C6881}"/>
              </a:ext>
            </a:extLst>
          </p:cNvPr>
          <p:cNvSpPr/>
          <p:nvPr/>
        </p:nvSpPr>
        <p:spPr>
          <a:xfrm>
            <a:off x="0" y="0"/>
            <a:ext cx="9144000" cy="6186309"/>
          </a:xfrm>
          <a:prstGeom prst="rect">
            <a:avLst/>
          </a:prstGeom>
        </p:spPr>
        <p:txBody>
          <a:bodyPr wrap="square">
            <a:spAutoFit/>
          </a:bodyPr>
          <a:lstStyle/>
          <a:p>
            <a:r>
              <a:rPr lang="ru-RU" sz="2000" b="1" dirty="0">
                <a:solidFill>
                  <a:srgbClr val="000000"/>
                </a:solidFill>
                <a:latin typeface="Times New Roman" panose="02020603050405020304" pitchFamily="18" charset="0"/>
                <a:cs typeface="Times New Roman" panose="02020603050405020304" pitchFamily="18" charset="0"/>
              </a:rPr>
              <a:t>14.7 Завершающее испытание АБ</a:t>
            </a:r>
          </a:p>
          <a:p>
            <a:r>
              <a:rPr lang="ru-RU" sz="2000" dirty="0">
                <a:solidFill>
                  <a:srgbClr val="000000"/>
                </a:solidFill>
                <a:latin typeface="Times New Roman" panose="02020603050405020304" pitchFamily="18" charset="0"/>
                <a:cs typeface="Times New Roman" panose="02020603050405020304" pitchFamily="18" charset="0"/>
              </a:rPr>
              <a:t>После выполнения циклов восстановления, указанных в 14.6, выключают нагрузку и дожидаются восстановления системы до уровня ОВН. По достижении системой состояния ОВН оставляют систему в этом состоянии на 72 ч (непрерывных). После этого АБ считается заряженной.</a:t>
            </a:r>
          </a:p>
          <a:p>
            <a:r>
              <a:rPr lang="ru-RU" sz="2000" dirty="0">
                <a:solidFill>
                  <a:srgbClr val="000000"/>
                </a:solidFill>
                <a:latin typeface="Times New Roman" panose="02020603050405020304" pitchFamily="18" charset="0"/>
                <a:cs typeface="Times New Roman" panose="02020603050405020304" pitchFamily="18" charset="0"/>
              </a:rPr>
              <a:t>При отключенной фотоэлектрической батарее и постоянно подключенной нагрузке дожидаются полного разряда АБ. Аккумуляторная батарея считается разряженной, если она достигает состояния</a:t>
            </a:r>
            <a:r>
              <a:rPr lang="ru-RU" sz="2000" dirty="0">
                <a:latin typeface="Times New Roman" panose="02020603050405020304" pitchFamily="18" charset="0"/>
                <a:cs typeface="Times New Roman" panose="02020603050405020304" pitchFamily="18" charset="0"/>
              </a:rPr>
              <a:t> ОНН. Оставляют АБ в состоянии ОНН по меньшей мере на 5 ч. Записывают значение заряда АБ, отданного в нагрузку, и диапазон температур АБ. Это значение является окончательным значением полезной емкости аккумуляторной батареи (ПЕБ2).</a:t>
            </a:r>
          </a:p>
          <a:p>
            <a:r>
              <a:rPr lang="ru-RU" sz="2000" b="1" dirty="0">
                <a:latin typeface="Times New Roman" panose="02020603050405020304" pitchFamily="18" charset="0"/>
                <a:cs typeface="Times New Roman" panose="02020603050405020304" pitchFamily="18" charset="0"/>
              </a:rPr>
              <a:t>14.8 Работа при максимальном напряжении.</a:t>
            </a:r>
          </a:p>
          <a:p>
            <a:r>
              <a:rPr lang="ru-RU" sz="2000" dirty="0">
                <a:latin typeface="Times New Roman" panose="02020603050405020304" pitchFamily="18" charset="0"/>
                <a:cs typeface="Times New Roman" panose="02020603050405020304" pitchFamily="18" charset="0"/>
              </a:rPr>
              <a:t>Проверяют допустимость работы нагрузки в условиях максимального напряжения на АБ, образующегося при высокой энергетической освещенности и высоком заряде АБ. В этих условиях нагрузка должна нормально работать в течение 1 ч, при этом не должно происходить повреждения нагрузки.</a:t>
            </a:r>
          </a:p>
          <a:p>
            <a:r>
              <a:rPr lang="ru-RU" sz="2000" b="1" dirty="0">
                <a:latin typeface="Times New Roman" panose="02020603050405020304" pitchFamily="18" charset="0"/>
                <a:cs typeface="Times New Roman" panose="02020603050405020304" pitchFamily="18" charset="0"/>
              </a:rPr>
              <a:t>14.9 Визуальный контроль</a:t>
            </a:r>
          </a:p>
          <a:p>
            <a:r>
              <a:rPr lang="ru-RU" sz="2000" dirty="0">
                <a:latin typeface="Times New Roman" panose="02020603050405020304" pitchFamily="18" charset="0"/>
                <a:cs typeface="Times New Roman" panose="02020603050405020304" pitchFamily="18" charset="0"/>
              </a:rPr>
              <a:t>Выполняют осмотр в соответствии с 13.5. </a:t>
            </a:r>
            <a:br>
              <a:rPr lang="ru-RU" sz="2000" dirty="0">
                <a:latin typeface="Times New Roman" panose="02020603050405020304" pitchFamily="18" charset="0"/>
                <a:cs typeface="Times New Roman" panose="02020603050405020304" pitchFamily="18" charset="0"/>
              </a:rPr>
            </a:br>
            <a:br>
              <a:rPr lang="ru-RU" dirty="0"/>
            </a:br>
            <a:endParaRPr lang="x-none" dirty="0"/>
          </a:p>
        </p:txBody>
      </p:sp>
    </p:spTree>
    <p:extLst>
      <p:ext uri="{BB962C8B-B14F-4D97-AF65-F5344CB8AC3E}">
        <p14:creationId xmlns:p14="http://schemas.microsoft.com/office/powerpoint/2010/main" val="974595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27F5B7EF-714C-4BE1-AC6B-0E05D12A71A1}"/>
              </a:ext>
            </a:extLst>
          </p:cNvPr>
          <p:cNvSpPr/>
          <p:nvPr/>
        </p:nvSpPr>
        <p:spPr>
          <a:xfrm>
            <a:off x="0" y="302359"/>
            <a:ext cx="9144000" cy="6555641"/>
          </a:xfrm>
          <a:prstGeom prst="rect">
            <a:avLst/>
          </a:prstGeom>
        </p:spPr>
        <p:txBody>
          <a:bodyPr wrap="square">
            <a:spAutoFit/>
          </a:bodyPr>
          <a:lstStyle/>
          <a:p>
            <a:r>
              <a:rPr lang="ru-RU" sz="2000" dirty="0">
                <a:latin typeface="Times New Roman" panose="02020603050405020304" pitchFamily="18" charset="0"/>
                <a:cs typeface="Times New Roman" panose="02020603050405020304" pitchFamily="18" charset="0"/>
              </a:rPr>
              <a:t>14.10 Необычные события</a:t>
            </a:r>
          </a:p>
          <a:p>
            <a:r>
              <a:rPr lang="ru-RU" sz="2000" dirty="0">
                <a:latin typeface="Times New Roman" panose="02020603050405020304" pitchFamily="18" charset="0"/>
                <a:cs typeface="Times New Roman" panose="02020603050405020304" pitchFamily="18" charset="0"/>
              </a:rPr>
              <a:t>В продолжение периода испытаний отмечают все непредвиденные события. Они могут включать в себя незапланированные короткие замыкания, ситуации холостого хода, сбои системы сбора</a:t>
            </a:r>
          </a:p>
          <a:p>
            <a:r>
              <a:rPr lang="ru-RU" sz="2000" dirty="0">
                <a:latin typeface="Times New Roman" panose="02020603050405020304" pitchFamily="18" charset="0"/>
                <a:cs typeface="Times New Roman" panose="02020603050405020304" pitchFamily="18" charset="0"/>
              </a:rPr>
              <a:t>данных и т. п.</a:t>
            </a:r>
          </a:p>
          <a:p>
            <a:r>
              <a:rPr lang="ru-RU" sz="2000" b="1" dirty="0">
                <a:latin typeface="Times New Roman" panose="02020603050405020304" pitchFamily="18" charset="0"/>
                <a:cs typeface="Times New Roman" panose="02020603050405020304" pitchFamily="18" charset="0"/>
              </a:rPr>
              <a:t>15 Испытания в помещении с использованием имитатора солнечного излучения</a:t>
            </a:r>
          </a:p>
          <a:p>
            <a:r>
              <a:rPr lang="ru-RU" sz="2000" dirty="0">
                <a:latin typeface="Times New Roman" panose="02020603050405020304" pitchFamily="18" charset="0"/>
                <a:cs typeface="Times New Roman" panose="02020603050405020304" pitchFamily="18" charset="0"/>
              </a:rPr>
              <a:t>15.1 Условия испытаний</a:t>
            </a:r>
          </a:p>
          <a:p>
            <a:r>
              <a:rPr lang="ru-RU" sz="2000" dirty="0">
                <a:latin typeface="Times New Roman" panose="02020603050405020304" pitchFamily="18" charset="0"/>
                <a:cs typeface="Times New Roman" panose="02020603050405020304" pitchFamily="18" charset="0"/>
              </a:rPr>
              <a:t>Для этих испытаний следует использовать описанный в настоящем стандарте имитатор солнечного излучения, способный имитировать эталонный солнечный день. Имитатор должен иметь класс В или выше. Для дней с большим приходом солнечной радиации допускается использовать имитатор с трехступенчатым профилем энергетической освещенности. Для дней с малым приходом солнечной радиации допускается использование имитатора с постоянной энергетической освещенностью. После формальной публикации МЭК 61853 к настоящему стандарту может быть выпущено дополнение, разрешающее применение несолнечных имитаторов.</a:t>
            </a:r>
          </a:p>
          <a:p>
            <a:r>
              <a:rPr lang="ru-RU" sz="2000" dirty="0">
                <a:latin typeface="Times New Roman" panose="02020603050405020304" pitchFamily="18" charset="0"/>
                <a:cs typeface="Times New Roman" panose="02020603050405020304" pitchFamily="18" charset="0"/>
              </a:rPr>
              <a:t>Температура АБ должна поддерживаться в пределах 30 °С ± 3 °С.</a:t>
            </a:r>
          </a:p>
          <a:p>
            <a:r>
              <a:rPr lang="ru-RU" sz="2000" dirty="0">
                <a:latin typeface="Times New Roman" panose="02020603050405020304" pitchFamily="18" charset="0"/>
                <a:cs typeface="Times New Roman" panose="02020603050405020304" pitchFamily="18" charset="0"/>
              </a:rPr>
              <a:t>Температура окружающего воздуха на протяжении испытаний должна находиться в пределах 25 °С ± 5 °С. </a:t>
            </a:r>
            <a:br>
              <a:rPr lang="ru-RU" sz="2000" dirty="0">
                <a:latin typeface="Times New Roman" panose="02020603050405020304" pitchFamily="18" charset="0"/>
                <a:cs typeface="Times New Roman" panose="02020603050405020304" pitchFamily="18" charset="0"/>
              </a:rPr>
            </a:br>
            <a:endParaRPr lang="x-non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990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048A55E6-0664-48C0-8C7D-98717EFD4A75}"/>
              </a:ext>
            </a:extLst>
          </p:cNvPr>
          <p:cNvSpPr/>
          <p:nvPr/>
        </p:nvSpPr>
        <p:spPr>
          <a:xfrm>
            <a:off x="0" y="1233"/>
            <a:ext cx="9144000" cy="3416320"/>
          </a:xfrm>
          <a:prstGeom prst="rect">
            <a:avLst/>
          </a:prstGeom>
        </p:spPr>
        <p:txBody>
          <a:bodyPr wrap="square">
            <a:spAutoFit/>
          </a:bodyPr>
          <a:lstStyle/>
          <a:p>
            <a:r>
              <a:rPr lang="ru-RU" b="1" dirty="0">
                <a:solidFill>
                  <a:srgbClr val="000000"/>
                </a:solidFill>
                <a:latin typeface="Arial-BoldMT"/>
              </a:rPr>
              <a:t>А.1 Определения класса прихода солнечной радиации</a:t>
            </a:r>
          </a:p>
          <a:p>
            <a:r>
              <a:rPr lang="ru-RU" dirty="0">
                <a:solidFill>
                  <a:srgbClr val="000000"/>
                </a:solidFill>
                <a:latin typeface="ArialMT"/>
              </a:rPr>
              <a:t>Получают данные о среднегодовом суточном приходе солнечной радиации на горизонтальную поверхность и интервал прихода солнечной радиации на гидрометеостанции вблизи места будущего размещения системы и/или используют данные многолетних наблюдений, атласы и справочные издания.</a:t>
            </a:r>
          </a:p>
          <a:p>
            <a:r>
              <a:rPr lang="ru-RU" dirty="0">
                <a:solidFill>
                  <a:srgbClr val="000000"/>
                </a:solidFill>
                <a:latin typeface="ArialMT"/>
              </a:rPr>
              <a:t>Интервал прихода солнечной радиации - это разница между среднемесячным суточным приходом солнечной радиации на горизонтальную поверхность для месяца с наибольшим приходом солнечной радиации и среднемесячным суточным приходом солнечной радиации на горизонтальную поверхность для месяца с наименьшим приходом солнечной радиации (в кВт ч/м2 в день)</a:t>
            </a:r>
          </a:p>
          <a:p>
            <a:r>
              <a:rPr lang="ru-RU" dirty="0">
                <a:solidFill>
                  <a:srgbClr val="000000"/>
                </a:solidFill>
                <a:latin typeface="ArialMT"/>
              </a:rPr>
              <a:t>В таблице А.1 приведена классификация прихода солнечной радиации различных мест установки систем. Т а б л и ц а </a:t>
            </a:r>
            <a:r>
              <a:rPr lang="ru-RU" dirty="0" err="1">
                <a:solidFill>
                  <a:srgbClr val="000000"/>
                </a:solidFill>
                <a:latin typeface="ArialMT"/>
              </a:rPr>
              <a:t>А</a:t>
            </a:r>
            <a:r>
              <a:rPr lang="ru-RU" dirty="0">
                <a:solidFill>
                  <a:srgbClr val="000000"/>
                </a:solidFill>
                <a:latin typeface="ArialMT"/>
              </a:rPr>
              <a:t> .1 - Классы прихода солнечной радиации</a:t>
            </a:r>
            <a:r>
              <a:rPr lang="ru-RU" dirty="0"/>
              <a:t> </a:t>
            </a:r>
            <a:endParaRPr lang="x-none" dirty="0"/>
          </a:p>
        </p:txBody>
      </p:sp>
      <p:pic>
        <p:nvPicPr>
          <p:cNvPr id="1026" name="Picture 2"/>
          <p:cNvPicPr>
            <a:picLocks noChangeAspect="1" noChangeArrowheads="1"/>
          </p:cNvPicPr>
          <p:nvPr/>
        </p:nvPicPr>
        <p:blipFill>
          <a:blip r:embed="rId2" cstate="print"/>
          <a:srcRect/>
          <a:stretch>
            <a:fillRect/>
          </a:stretch>
        </p:blipFill>
        <p:spPr bwMode="auto">
          <a:xfrm>
            <a:off x="0" y="3573016"/>
            <a:ext cx="9146456" cy="3036168"/>
          </a:xfrm>
          <a:prstGeom prst="rect">
            <a:avLst/>
          </a:prstGeom>
          <a:noFill/>
          <a:ln w="9525">
            <a:noFill/>
            <a:miter lim="800000"/>
            <a:headEnd/>
            <a:tailEnd/>
          </a:ln>
        </p:spPr>
      </p:pic>
    </p:spTree>
    <p:extLst>
      <p:ext uri="{BB962C8B-B14F-4D97-AF65-F5344CB8AC3E}">
        <p14:creationId xmlns:p14="http://schemas.microsoft.com/office/powerpoint/2010/main" val="39086851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57813" y="1988840"/>
            <a:ext cx="9086187" cy="2898765"/>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0" y="1484784"/>
            <a:ext cx="8812508" cy="4104456"/>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74935" y="1340768"/>
            <a:ext cx="8373844" cy="3888432"/>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64208" y="1700807"/>
            <a:ext cx="9208208" cy="3432451"/>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548680"/>
            <a:ext cx="9144000" cy="5909310"/>
          </a:xfrm>
          <a:prstGeom prst="rect">
            <a:avLst/>
          </a:prstGeom>
        </p:spPr>
        <p:txBody>
          <a:bodyPr wrap="square">
            <a:spAutoFit/>
          </a:bodyPr>
          <a:lstStyle/>
          <a:p>
            <a:r>
              <a:rPr lang="ru-RU" dirty="0"/>
              <a:t>17.3 Результаты испытаний</a:t>
            </a:r>
          </a:p>
          <a:p>
            <a:r>
              <a:rPr lang="ru-RU" dirty="0"/>
              <a:t>Хотя бы одна из испытуемых систем должна показать удовлетворительные результаты испытаний, изложенных в разделе 13.</a:t>
            </a:r>
          </a:p>
          <a:p>
            <a:r>
              <a:rPr lang="ru-RU" dirty="0"/>
              <a:t>При этом применяют следующие критерии успешного прохождения испытаний:</a:t>
            </a:r>
          </a:p>
          <a:p>
            <a:r>
              <a:rPr lang="ru-RU" dirty="0"/>
              <a:t>1) нагрузка должна функционировать на всех этапах испытаний, исключая случаи, когда зарядное устройство отключает нагрузку из-за низкого заряда батареи (если это произошло, такая ситуация должна быть отмечена в протоколе испытаний);</a:t>
            </a:r>
          </a:p>
          <a:p>
            <a:r>
              <a:rPr lang="ru-RU" dirty="0"/>
              <a:t>2) в течение периода испытаний емкость АБ не должна уменьшиться более чем на 10 %, определяемых по выражению (ПЕБ0 - ПЕБ2) / ПЕБ0 &lt; 10% (см. рисунок 2, где определяется ПЕБ, полезная емкость АБ);</a:t>
            </a:r>
          </a:p>
          <a:p>
            <a:r>
              <a:rPr lang="ru-RU" dirty="0"/>
              <a:t>3) испытание способности восстановления должно показать тенденцию возрастания напряжения системы. При испытании на восстановление полная емкость АБ должна составить не менее 50 % полезной емкости АБ (ПЕБ^;</a:t>
            </a:r>
          </a:p>
          <a:p>
            <a:r>
              <a:rPr lang="ru-RU" dirty="0"/>
              <a:t>4) после проведения испытания полезной емкости АБ (ПЕБ^ нагрузка должна снова начать </a:t>
            </a:r>
          </a:p>
          <a:p>
            <a:r>
              <a:rPr lang="ru-RU" dirty="0"/>
              <a:t>функционировать до или во время третьего цикла испытаний на способность восстановления;</a:t>
            </a:r>
          </a:p>
          <a:p>
            <a:r>
              <a:rPr lang="ru-RU" dirty="0"/>
              <a:t>5) точка энергетического баланса (равновесия) системы (см. рисунок 4) должна соответствовать </a:t>
            </a:r>
          </a:p>
          <a:p>
            <a:r>
              <a:rPr lang="ru-RU" dirty="0"/>
              <a:t>минимуму для заданного класса энергетической освещенности или быть ниже него;</a:t>
            </a:r>
          </a:p>
          <a:p>
            <a:r>
              <a:rPr lang="ru-RU" dirty="0"/>
              <a:t>6) измеренное число дней автономной работы должно соответствовать указанному изготовителем </a:t>
            </a:r>
            <a:r>
              <a:rPr lang="en-US" dirty="0"/>
              <a:t> </a:t>
            </a:r>
            <a:r>
              <a:rPr lang="ru-RU" dirty="0"/>
              <a:t>числу дней автономной работы или быть больше него;</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994232" y="764704"/>
            <a:ext cx="6039982" cy="4497859"/>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F4C938D-6898-4179-98C8-8D3DB943E625}"/>
              </a:ext>
            </a:extLst>
          </p:cNvPr>
          <p:cNvSpPr/>
          <p:nvPr/>
        </p:nvSpPr>
        <p:spPr>
          <a:xfrm>
            <a:off x="0" y="1305342"/>
            <a:ext cx="9144000" cy="2585323"/>
          </a:xfrm>
          <a:prstGeom prst="rect">
            <a:avLst/>
          </a:prstGeom>
        </p:spPr>
        <p:txBody>
          <a:bodyPr wrap="square">
            <a:spAutoFit/>
          </a:bodyPr>
          <a:lstStyle/>
          <a:p>
            <a:r>
              <a:rPr lang="ru-RU" b="1" dirty="0">
                <a:solidFill>
                  <a:srgbClr val="000000"/>
                </a:solidFill>
                <a:latin typeface="Arial-BoldMT"/>
              </a:rPr>
              <a:t>А.2 Классификация систем</a:t>
            </a:r>
          </a:p>
          <a:p>
            <a:r>
              <a:rPr lang="ru-RU" dirty="0">
                <a:solidFill>
                  <a:srgbClr val="000000"/>
                </a:solidFill>
                <a:latin typeface="ArialMT"/>
              </a:rPr>
              <a:t>Для конкретной системы в конкретной точке местности можно определить вырабатываемую в день энергию, достаточную для питания определенной указанной нагрузки. Эго число будет вырабатываемой в день энергией, достаточной для питания указанной нагрузки системой производителя А в местности Б, выраженной в единицах электропотребления. Одна и та же система может классифицироваться иначе в другой стране и даже в другой местности одной страны.</a:t>
            </a:r>
            <a:r>
              <a:rPr lang="ru-RU" dirty="0"/>
              <a:t> </a:t>
            </a:r>
            <a:br>
              <a:rPr lang="ru-RU" dirty="0"/>
            </a:br>
            <a:endParaRPr lang="x-none" dirty="0"/>
          </a:p>
        </p:txBody>
      </p:sp>
      <p:pic>
        <p:nvPicPr>
          <p:cNvPr id="8194" name="Picture 2"/>
          <p:cNvPicPr>
            <a:picLocks noChangeAspect="1" noChangeArrowheads="1"/>
          </p:cNvPicPr>
          <p:nvPr/>
        </p:nvPicPr>
        <p:blipFill>
          <a:blip r:embed="rId2" cstate="print"/>
          <a:srcRect/>
          <a:stretch>
            <a:fillRect/>
          </a:stretch>
        </p:blipFill>
        <p:spPr bwMode="auto">
          <a:xfrm>
            <a:off x="0" y="4149080"/>
            <a:ext cx="9147181" cy="2232248"/>
          </a:xfrm>
          <a:prstGeom prst="rect">
            <a:avLst/>
          </a:prstGeom>
          <a:noFill/>
          <a:ln w="9525">
            <a:noFill/>
            <a:miter lim="800000"/>
            <a:headEnd/>
            <a:tailEnd/>
          </a:ln>
        </p:spPr>
      </p:pic>
    </p:spTree>
    <p:extLst>
      <p:ext uri="{BB962C8B-B14F-4D97-AF65-F5344CB8AC3E}">
        <p14:creationId xmlns:p14="http://schemas.microsoft.com/office/powerpoint/2010/main" val="38829169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C38E17E-9279-4720-ACCC-430805A54A8C}"/>
              </a:ext>
            </a:extLst>
          </p:cNvPr>
          <p:cNvSpPr/>
          <p:nvPr/>
        </p:nvSpPr>
        <p:spPr>
          <a:xfrm>
            <a:off x="-1016" y="751344"/>
            <a:ext cx="9145016" cy="5355312"/>
          </a:xfrm>
          <a:prstGeom prst="rect">
            <a:avLst/>
          </a:prstGeom>
        </p:spPr>
        <p:txBody>
          <a:bodyPr wrap="square">
            <a:spAutoFit/>
          </a:bodyPr>
          <a:lstStyle/>
          <a:p>
            <a:r>
              <a:rPr lang="ru-RU" b="1" dirty="0">
                <a:solidFill>
                  <a:srgbClr val="000000"/>
                </a:solidFill>
                <a:latin typeface="Arial-BoldMT"/>
              </a:rPr>
              <a:t>Испытательное оборудование</a:t>
            </a:r>
          </a:p>
          <a:p>
            <a:r>
              <a:rPr lang="ru-RU" b="1" dirty="0">
                <a:solidFill>
                  <a:srgbClr val="000000"/>
                </a:solidFill>
                <a:latin typeface="Arial-BoldMT"/>
              </a:rPr>
              <a:t>В.1 Общие положения</a:t>
            </a:r>
          </a:p>
          <a:p>
            <a:r>
              <a:rPr lang="ru-RU" dirty="0">
                <a:solidFill>
                  <a:srgbClr val="000000"/>
                </a:solidFill>
                <a:latin typeface="ArialMT"/>
              </a:rPr>
              <a:t>Для проведения испытаний системы необходимы следующие приборы и оборудование:</a:t>
            </a:r>
          </a:p>
          <a:p>
            <a:r>
              <a:rPr lang="ru-RU" dirty="0">
                <a:solidFill>
                  <a:srgbClr val="000000"/>
                </a:solidFill>
                <a:latin typeface="ArialMT"/>
              </a:rPr>
              <a:t>- приборы для измерения постоянного тока и напряжения;</a:t>
            </a:r>
          </a:p>
          <a:p>
            <a:r>
              <a:rPr lang="ru-RU" dirty="0">
                <a:solidFill>
                  <a:srgbClr val="000000"/>
                </a:solidFill>
                <a:latin typeface="ArialMT"/>
              </a:rPr>
              <a:t>- </a:t>
            </a:r>
            <a:r>
              <a:rPr lang="ru-RU" dirty="0" err="1">
                <a:solidFill>
                  <a:srgbClr val="000000"/>
                </a:solidFill>
                <a:latin typeface="ArialMT"/>
              </a:rPr>
              <a:t>амперчасметр</a:t>
            </a:r>
            <a:r>
              <a:rPr lang="ru-RU" dirty="0">
                <a:solidFill>
                  <a:srgbClr val="000000"/>
                </a:solidFill>
                <a:latin typeface="ArialMT"/>
              </a:rPr>
              <a:t> или другие средства измерения для определения потребления электроэнергии постоянного тока;</a:t>
            </a:r>
          </a:p>
          <a:p>
            <a:r>
              <a:rPr lang="ru-RU" dirty="0">
                <a:solidFill>
                  <a:srgbClr val="000000"/>
                </a:solidFill>
                <a:latin typeface="ArialMT"/>
              </a:rPr>
              <a:t>- прибор для измерения времени или другие средства регистрации времени;</a:t>
            </a:r>
          </a:p>
          <a:p>
            <a:r>
              <a:rPr lang="ru-RU" dirty="0">
                <a:solidFill>
                  <a:srgbClr val="000000"/>
                </a:solidFill>
                <a:latin typeface="ArialMT"/>
              </a:rPr>
              <a:t>- эталонный фотоэлектрический прибор (приборы), выбранный и откалиброванный в соответствии с МЭК</a:t>
            </a:r>
          </a:p>
          <a:p>
            <a:r>
              <a:rPr lang="ru-RU" dirty="0">
                <a:solidFill>
                  <a:srgbClr val="000000"/>
                </a:solidFill>
                <a:latin typeface="ArialMT"/>
              </a:rPr>
              <a:t>60904-2 со спектральными характеристиками, аналогичными спектральным характеристикам фотоэлектрической батареи;</a:t>
            </a:r>
          </a:p>
          <a:p>
            <a:r>
              <a:rPr lang="ru-RU" dirty="0">
                <a:solidFill>
                  <a:srgbClr val="000000"/>
                </a:solidFill>
                <a:latin typeface="ArialMT"/>
              </a:rPr>
              <a:t>- средства проверки параллельности плоскостей эталонного прибора и батареи в пределах ± 5°;</a:t>
            </a:r>
          </a:p>
          <a:p>
            <a:r>
              <a:rPr lang="ru-RU" dirty="0">
                <a:solidFill>
                  <a:srgbClr val="000000"/>
                </a:solidFill>
                <a:latin typeface="ArialMT"/>
              </a:rPr>
              <a:t>- датчики температуры;</a:t>
            </a:r>
          </a:p>
          <a:p>
            <a:r>
              <a:rPr lang="ru-RU" dirty="0">
                <a:solidFill>
                  <a:srgbClr val="000000"/>
                </a:solidFill>
                <a:latin typeface="ArialMT"/>
              </a:rPr>
              <a:t>- средства определения ориентации;</a:t>
            </a:r>
          </a:p>
          <a:p>
            <a:r>
              <a:rPr lang="ru-RU" dirty="0">
                <a:solidFill>
                  <a:srgbClr val="000000"/>
                </a:solidFill>
                <a:latin typeface="ArialMT"/>
              </a:rPr>
              <a:t>- автоматизированная система сбора данных для обеспечения измерения параметров системы при проведении испытаний.</a:t>
            </a:r>
            <a:r>
              <a:rPr lang="ru-RU" dirty="0"/>
              <a:t> </a:t>
            </a:r>
            <a:br>
              <a:rPr lang="ru-RU" dirty="0"/>
            </a:br>
            <a:endParaRPr lang="x-none" dirty="0"/>
          </a:p>
        </p:txBody>
      </p:sp>
    </p:spTree>
    <p:extLst>
      <p:ext uri="{BB962C8B-B14F-4D97-AF65-F5344CB8AC3E}">
        <p14:creationId xmlns:p14="http://schemas.microsoft.com/office/powerpoint/2010/main" val="32362280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DA2D17D3-3BE7-4FF6-B9F6-3860B4D86000}"/>
              </a:ext>
            </a:extLst>
          </p:cNvPr>
          <p:cNvSpPr/>
          <p:nvPr/>
        </p:nvSpPr>
        <p:spPr>
          <a:xfrm>
            <a:off x="0" y="58846"/>
            <a:ext cx="9144000" cy="6740307"/>
          </a:xfrm>
          <a:prstGeom prst="rect">
            <a:avLst/>
          </a:prstGeom>
        </p:spPr>
        <p:txBody>
          <a:bodyPr wrap="square">
            <a:spAutoFit/>
          </a:bodyPr>
          <a:lstStyle/>
          <a:p>
            <a:r>
              <a:rPr lang="ru-RU" sz="2400" b="1" dirty="0">
                <a:solidFill>
                  <a:srgbClr val="000000"/>
                </a:solidFill>
                <a:latin typeface="Times New Roman" panose="02020603050405020304" pitchFamily="18" charset="0"/>
                <a:cs typeface="Times New Roman" panose="02020603050405020304" pitchFamily="18" charset="0"/>
              </a:rPr>
              <a:t>В.2 Требования к системе сбора данных</a:t>
            </a:r>
          </a:p>
          <a:p>
            <a:r>
              <a:rPr lang="ru-RU" sz="2400" dirty="0">
                <a:solidFill>
                  <a:srgbClr val="000000"/>
                </a:solidFill>
                <a:latin typeface="Times New Roman" panose="02020603050405020304" pitchFamily="18" charset="0"/>
                <a:cs typeface="Times New Roman" panose="02020603050405020304" pitchFamily="18" charset="0"/>
              </a:rPr>
              <a:t>Устройство регистрации данных должно иметь по меньшей мере 12-разрядный аналого-цифровой преобразователь и входной диапазон, превышающий ожидаемые значения положительного и отрицательного максимальных напряжений. Система сбора данных должна быть надежной. Если в случае отключения питания утрачены данные продолжительностью более 4 ч или иные критические данные об испытаниях, тогда испытания следует выполнить снова.</a:t>
            </a:r>
          </a:p>
          <a:p>
            <a:r>
              <a:rPr lang="ru-RU" sz="2400" dirty="0">
                <a:solidFill>
                  <a:srgbClr val="000000"/>
                </a:solidFill>
                <a:latin typeface="Times New Roman" panose="02020603050405020304" pitchFamily="18" charset="0"/>
                <a:cs typeface="Times New Roman" panose="02020603050405020304" pitchFamily="18" charset="0"/>
              </a:rPr>
              <a:t>Скорость отбора данных регистратором зависит от типа зарядного устройства. Для двухпозиционных контроллеров («Вкл.» и «</a:t>
            </a:r>
            <a:r>
              <a:rPr lang="ru-RU" sz="2400" dirty="0" err="1">
                <a:solidFill>
                  <a:srgbClr val="000000"/>
                </a:solidFill>
                <a:latin typeface="Times New Roman" panose="02020603050405020304" pitchFamily="18" charset="0"/>
                <a:cs typeface="Times New Roman" panose="02020603050405020304" pitchFamily="18" charset="0"/>
              </a:rPr>
              <a:t>Выкл</a:t>
            </a:r>
            <a:r>
              <a:rPr lang="ru-RU" sz="2400" dirty="0">
                <a:solidFill>
                  <a:srgbClr val="000000"/>
                </a:solidFill>
                <a:latin typeface="Times New Roman" panose="02020603050405020304" pitchFamily="18" charset="0"/>
                <a:cs typeface="Times New Roman" panose="02020603050405020304" pitchFamily="18" charset="0"/>
              </a:rPr>
              <a:t> ») скорость отбора данных регистратора должна по меньшей мере вдвое превышать тактовую частоту контроллера. Например, если зарядное устройство проверяет напряжение заряда каждые 10 с, отбор данных должен проводиться каждые 5 с или чаще.</a:t>
            </a:r>
          </a:p>
          <a:p>
            <a:r>
              <a:rPr lang="ru-RU" sz="2400" dirty="0">
                <a:solidFill>
                  <a:srgbClr val="000000"/>
                </a:solidFill>
                <a:latin typeface="Times New Roman" panose="02020603050405020304" pitchFamily="18" charset="0"/>
                <a:cs typeface="Times New Roman" panose="02020603050405020304" pitchFamily="18" charset="0"/>
              </a:rPr>
              <a:t>Для контроллеров зарядного устройства с постоянным напряжением или </a:t>
            </a:r>
            <a:r>
              <a:rPr lang="ru-RU" sz="2400" dirty="0" err="1">
                <a:solidFill>
                  <a:srgbClr val="000000"/>
                </a:solidFill>
                <a:latin typeface="Times New Roman" panose="02020603050405020304" pitchFamily="18" charset="0"/>
                <a:cs typeface="Times New Roman" panose="02020603050405020304" pitchFamily="18" charset="0"/>
              </a:rPr>
              <a:t>широтноимпульсной</a:t>
            </a:r>
            <a:r>
              <a:rPr lang="ru-RU" sz="2400" dirty="0">
                <a:solidFill>
                  <a:srgbClr val="000000"/>
                </a:solidFill>
                <a:latin typeface="Times New Roman" panose="02020603050405020304" pitchFamily="18" charset="0"/>
                <a:cs typeface="Times New Roman" panose="02020603050405020304" pitchFamily="18" charset="0"/>
              </a:rPr>
              <a:t> модуляцией напряжения тактовая частота может составлять миллисекунды, а не секунды. </a:t>
            </a:r>
            <a:endParaRPr lang="x-non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0616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159B2D46-C87C-4F39-A6B8-CADD6FA1837A}"/>
              </a:ext>
            </a:extLst>
          </p:cNvPr>
          <p:cNvSpPr/>
          <p:nvPr/>
        </p:nvSpPr>
        <p:spPr>
          <a:xfrm>
            <a:off x="0" y="197346"/>
            <a:ext cx="9144000" cy="5262979"/>
          </a:xfrm>
          <a:prstGeom prst="rect">
            <a:avLst/>
          </a:prstGeom>
        </p:spPr>
        <p:txBody>
          <a:bodyPr wrap="square">
            <a:spAutoFit/>
          </a:bodyPr>
          <a:lstStyle/>
          <a:p>
            <a:r>
              <a:rPr lang="ru-RU" sz="2400" dirty="0">
                <a:solidFill>
                  <a:srgbClr val="000000"/>
                </a:solidFill>
                <a:latin typeface="Times New Roman" panose="02020603050405020304" pitchFamily="18" charset="0"/>
                <a:cs typeface="Times New Roman" panose="02020603050405020304" pitchFamily="18" charset="0"/>
              </a:rPr>
              <a:t>Скорость отбора данных регистратором должна по меньшей мере вдвое превышать тактовую частоту контроллера зарядного устройства. Если скорость отбора данных используемым регистратором недостаточна, то можно применить метод ежесекундного отбора данных с использованием интегратора-фильтра, устанавливаемого на входе системы сбора данных. Постоянная времени такого интегратора-фильтра должна по меньшей мере вдвое превосходить период отбора данных.</a:t>
            </a:r>
          </a:p>
          <a:p>
            <a:r>
              <a:rPr lang="ru-RU" sz="2400" dirty="0">
                <a:solidFill>
                  <a:srgbClr val="000000"/>
                </a:solidFill>
                <a:latin typeface="Times New Roman" panose="02020603050405020304" pitchFamily="18" charset="0"/>
                <a:cs typeface="Times New Roman" panose="02020603050405020304" pitchFamily="18" charset="0"/>
              </a:rPr>
              <a:t>Для определения типа контроллера зарядного устройства и его тактовой частоты может потребоваться осциллоскоп.</a:t>
            </a:r>
          </a:p>
          <a:p>
            <a:r>
              <a:rPr lang="ru-RU" sz="2400" dirty="0">
                <a:solidFill>
                  <a:srgbClr val="000000"/>
                </a:solidFill>
                <a:latin typeface="Times New Roman" panose="02020603050405020304" pitchFamily="18" charset="0"/>
                <a:cs typeface="Times New Roman" panose="02020603050405020304" pitchFamily="18" charset="0"/>
              </a:rPr>
              <a:t>Сохраняемые данные усредняют в пятиминутном интервале, применимом для любого испытания.</a:t>
            </a:r>
          </a:p>
          <a:p>
            <a:r>
              <a:rPr lang="ru-RU" sz="2400" dirty="0">
                <a:solidFill>
                  <a:srgbClr val="000000"/>
                </a:solidFill>
                <a:latin typeface="Times New Roman" panose="02020603050405020304" pitchFamily="18" charset="0"/>
                <a:cs typeface="Times New Roman" panose="02020603050405020304" pitchFamily="18" charset="0"/>
              </a:rPr>
              <a:t>Для аттестации системы требуется выполнить измерение или определение параметров, приведенных в таблице В.1.</a:t>
            </a:r>
            <a:r>
              <a:rPr lang="ru-RU" sz="2400" dirty="0">
                <a:latin typeface="Times New Roman" panose="02020603050405020304" pitchFamily="18" charset="0"/>
                <a:cs typeface="Times New Roman" panose="02020603050405020304" pitchFamily="18" charset="0"/>
              </a:rPr>
              <a:t> </a:t>
            </a:r>
            <a:endParaRPr lang="x-non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8520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8594E9C6-5C08-4FBF-8427-AA3A77E06586}"/>
              </a:ext>
            </a:extLst>
          </p:cNvPr>
          <p:cNvSpPr/>
          <p:nvPr/>
        </p:nvSpPr>
        <p:spPr>
          <a:xfrm>
            <a:off x="-36512" y="58847"/>
            <a:ext cx="9180512" cy="5632311"/>
          </a:xfrm>
          <a:prstGeom prst="rect">
            <a:avLst/>
          </a:prstGeom>
        </p:spPr>
        <p:txBody>
          <a:bodyPr wrap="square">
            <a:spAutoFit/>
          </a:bodyPr>
          <a:lstStyle/>
          <a:p>
            <a:r>
              <a:rPr lang="ru-RU" sz="2400" b="1" dirty="0">
                <a:solidFill>
                  <a:srgbClr val="000000"/>
                </a:solidFill>
                <a:latin typeface="Times New Roman" panose="02020603050405020304" pitchFamily="18" charset="0"/>
                <a:cs typeface="Times New Roman" panose="02020603050405020304" pitchFamily="18" charset="0"/>
              </a:rPr>
              <a:t>В.З Требования к датчикам</a:t>
            </a:r>
          </a:p>
          <a:p>
            <a:r>
              <a:rPr lang="ru-RU" sz="2400" dirty="0">
                <a:solidFill>
                  <a:srgbClr val="000000"/>
                </a:solidFill>
                <a:latin typeface="Times New Roman" panose="02020603050405020304" pitchFamily="18" charset="0"/>
                <a:cs typeface="Times New Roman" panose="02020603050405020304" pitchFamily="18" charset="0"/>
              </a:rPr>
              <a:t>Датчики напряжения должны иметь диапазон измерений, превосходящий максимальное предусмотренное напряжение. Измерения следует выполнять с точностью не менее 0,01 В.</a:t>
            </a:r>
          </a:p>
          <a:p>
            <a:r>
              <a:rPr lang="ru-RU" sz="2400" dirty="0">
                <a:solidFill>
                  <a:srgbClr val="000000"/>
                </a:solidFill>
                <a:latin typeface="Times New Roman" panose="02020603050405020304" pitchFamily="18" charset="0"/>
                <a:cs typeface="Times New Roman" panose="02020603050405020304" pitchFamily="18" charset="0"/>
              </a:rPr>
              <a:t>Приборы для измерения напряжения и силы постоянного тока должны соответствовать МЭК 60904-1, за исключением того, что точность должна быть в пределах ± 1 % полной шкалы.</a:t>
            </a:r>
          </a:p>
          <a:p>
            <a:r>
              <a:rPr lang="ru-RU" sz="2400" dirty="0">
                <a:solidFill>
                  <a:srgbClr val="000000"/>
                </a:solidFill>
                <a:latin typeface="Times New Roman" panose="02020603050405020304" pitchFamily="18" charset="0"/>
                <a:cs typeface="Times New Roman" panose="02020603050405020304" pitchFamily="18" charset="0"/>
              </a:rPr>
              <a:t>Датчики температуры должны иметь диапазон измерений, превосходящий ожидаемые максимальные положительные и отрицательные значения температуры системы и окружающего воздуха, и точность не хуже 1 К. Измерения температуры должны выполняться с точностью не хуже ± 2 К.</a:t>
            </a:r>
          </a:p>
          <a:p>
            <a:r>
              <a:rPr lang="ru-RU" sz="2400" dirty="0">
                <a:solidFill>
                  <a:srgbClr val="000000"/>
                </a:solidFill>
                <a:latin typeface="Times New Roman" panose="02020603050405020304" pitchFamily="18" charset="0"/>
                <a:cs typeface="Times New Roman" panose="02020603050405020304" pitchFamily="18" charset="0"/>
              </a:rPr>
              <a:t>Датчик освещенности должен иметь удовлетворительный диапазон измерений и точность не менее ± 5 %</a:t>
            </a:r>
            <a:r>
              <a:rPr lang="ru-RU" sz="2400" dirty="0">
                <a:latin typeface="Times New Roman" panose="02020603050405020304" pitchFamily="18" charset="0"/>
                <a:cs typeface="Times New Roman" panose="02020603050405020304" pitchFamily="18" charset="0"/>
              </a:rPr>
              <a:t> </a:t>
            </a:r>
            <a:br>
              <a:rPr lang="ru-RU" sz="2400" dirty="0">
                <a:latin typeface="Times New Roman" panose="02020603050405020304" pitchFamily="18" charset="0"/>
                <a:cs typeface="Times New Roman" panose="02020603050405020304" pitchFamily="18" charset="0"/>
              </a:rPr>
            </a:br>
            <a:endParaRPr lang="x-non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07167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220318" y="764704"/>
            <a:ext cx="8744170" cy="5353573"/>
          </a:xfrm>
          <a:prstGeom prst="rect">
            <a:avLst/>
          </a:prstGeom>
          <a:noFill/>
          <a:ln w="9525">
            <a:noFill/>
            <a:miter lim="800000"/>
            <a:headEnd/>
            <a:tailEnd/>
          </a:ln>
        </p:spPr>
      </p:pic>
    </p:spTree>
    <p:extLst>
      <p:ext uri="{BB962C8B-B14F-4D97-AF65-F5344CB8AC3E}">
        <p14:creationId xmlns:p14="http://schemas.microsoft.com/office/powerpoint/2010/main" val="28702702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323528" y="0"/>
            <a:ext cx="8064896" cy="6664841"/>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66783" y="1124744"/>
            <a:ext cx="9010435" cy="4608512"/>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TotalTime>
  <Words>5693</Words>
  <Application>Microsoft Office PowerPoint</Application>
  <PresentationFormat>Экран (4:3)</PresentationFormat>
  <Paragraphs>254</Paragraphs>
  <Slides>57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57</vt:i4>
      </vt:variant>
    </vt:vector>
  </HeadingPairs>
  <TitlesOfParts>
    <vt:vector size="63" baseType="lpstr">
      <vt:lpstr>Arial</vt:lpstr>
      <vt:lpstr>Arial-BoldMT</vt:lpstr>
      <vt:lpstr>ArialMT</vt:lpstr>
      <vt:lpstr>Calibri</vt:lpstr>
      <vt:lpstr>Times New Roman</vt:lpstr>
      <vt:lpstr>Тема Office</vt:lpstr>
      <vt:lpstr>Обслуживание ФЭС</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Электронно-оптические  системы, их классификация и состав</dc:title>
  <dc:creator>-</dc:creator>
  <cp:lastModifiedBy>User</cp:lastModifiedBy>
  <cp:revision>97</cp:revision>
  <dcterms:created xsi:type="dcterms:W3CDTF">2017-09-01T10:38:26Z</dcterms:created>
  <dcterms:modified xsi:type="dcterms:W3CDTF">2025-11-28T14:08:56Z</dcterms:modified>
</cp:coreProperties>
</file>