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79E02-D75B-4402-BFE1-EED3BDCDAEDC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C4AF0-1D83-48B5-88E4-557315E8EDD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Фотоэлектрические системы</a:t>
            </a:r>
            <a:r>
              <a:rPr lang="en-US" b="1" dirty="0"/>
              <a:t> </a:t>
            </a:r>
            <a:r>
              <a:rPr lang="ru-RU" b="1" dirty="0"/>
              <a:t>и их комплектация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Практическое занятие</a:t>
            </a:r>
            <a:r>
              <a:rPr lang="en-US" dirty="0"/>
              <a:t> </a:t>
            </a:r>
            <a:r>
              <a:rPr lang="ru-RU" dirty="0"/>
              <a:t>№3 по курсу </a:t>
            </a:r>
            <a:r>
              <a:rPr lang="ru-RU" dirty="0" err="1"/>
              <a:t>ПиПФЭПиС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Возобновляемые источники энергии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К возобновляемым источникам энергии, прежде всего, относятся:</a:t>
            </a:r>
          </a:p>
          <a:p>
            <a:pPr>
              <a:buFontTx/>
              <a:buChar char="-"/>
            </a:pPr>
            <a:r>
              <a:rPr lang="ru-RU" dirty="0"/>
              <a:t>солнечная энергия, </a:t>
            </a:r>
          </a:p>
          <a:p>
            <a:pPr>
              <a:buFontTx/>
              <a:buChar char="-"/>
            </a:pPr>
            <a:r>
              <a:rPr lang="ru-RU" dirty="0"/>
              <a:t>энергия ветра, </a:t>
            </a:r>
          </a:p>
          <a:p>
            <a:pPr>
              <a:buFontTx/>
              <a:buChar char="-"/>
            </a:pPr>
            <a:r>
              <a:rPr lang="ru-RU" dirty="0"/>
              <a:t>гидроэнергия,</a:t>
            </a:r>
          </a:p>
          <a:p>
            <a:pPr>
              <a:buFontTx/>
              <a:buChar char="-"/>
            </a:pPr>
            <a:r>
              <a:rPr lang="ru-RU" dirty="0"/>
              <a:t> энергия биомассы.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Потенциальный ресурс источников энергии</a:t>
            </a:r>
            <a:br>
              <a:rPr lang="ru-RU" sz="3200" dirty="0"/>
            </a:br>
            <a:r>
              <a:rPr lang="ru-RU" sz="3200" dirty="0"/>
              <a:t> </a:t>
            </a:r>
            <a:r>
              <a:rPr lang="ru-RU" sz="1800" dirty="0"/>
              <a:t>(в триллионах тонн условного топлива в год)</a:t>
            </a:r>
            <a:r>
              <a:rPr lang="ru-RU" sz="3200" dirty="0"/>
              <a:t> 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899592" y="1772816"/>
          <a:ext cx="7704856" cy="2676653"/>
        </p:xfrm>
        <a:graphic>
          <a:graphicData uri="http://schemas.openxmlformats.org/drawingml/2006/table">
            <a:tbl>
              <a:tblPr/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Вид источника </a:t>
                      </a:r>
                      <a:endParaRPr lang="ru-RU" sz="1690" b="1" baseline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Потенциальная энергия, трлн. тонн/год</a:t>
                      </a:r>
                      <a:endParaRPr lang="ru-RU" sz="1690" b="1" baseline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>
                          <a:latin typeface="Times New Roman"/>
                          <a:ea typeface="Times New Roman"/>
                          <a:cs typeface="Times New Roman"/>
                        </a:rPr>
                        <a:t>Солнечная энергия </a:t>
                      </a:r>
                      <a:endParaRPr lang="ru-RU" sz="1690" baseline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 dirty="0">
                          <a:latin typeface="Times New Roman"/>
                          <a:ea typeface="Times New Roman"/>
                          <a:cs typeface="Times New Roman"/>
                        </a:rPr>
                        <a:t>131</a:t>
                      </a:r>
                      <a:endParaRPr lang="ru-RU" sz="1690" baseline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>
                          <a:latin typeface="Times New Roman"/>
                          <a:ea typeface="Times New Roman"/>
                          <a:cs typeface="Times New Roman"/>
                        </a:rPr>
                        <a:t>Ветровая энергия </a:t>
                      </a:r>
                      <a:endParaRPr lang="ru-RU" sz="1690" baseline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690" baseline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>
                          <a:latin typeface="Times New Roman"/>
                          <a:ea typeface="Times New Roman"/>
                          <a:cs typeface="Times New Roman"/>
                        </a:rPr>
                        <a:t>Гидроэнергия</a:t>
                      </a:r>
                      <a:endParaRPr lang="ru-RU" sz="1690" baseline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 dirty="0"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1690" baseline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>
                          <a:latin typeface="Times New Roman"/>
                          <a:ea typeface="Times New Roman"/>
                          <a:cs typeface="Times New Roman"/>
                        </a:rPr>
                        <a:t>Энергия биомассы</a:t>
                      </a:r>
                      <a:endParaRPr lang="ru-RU" sz="1690" baseline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 dirty="0">
                          <a:latin typeface="Times New Roman"/>
                          <a:ea typeface="Times New Roman"/>
                          <a:cs typeface="Times New Roman"/>
                        </a:rPr>
                        <a:t>0.1</a:t>
                      </a:r>
                      <a:endParaRPr lang="ru-RU" sz="1690" baseline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>
                          <a:latin typeface="Times New Roman"/>
                          <a:ea typeface="Times New Roman"/>
                          <a:cs typeface="Times New Roman"/>
                        </a:rPr>
                        <a:t>Уголь</a:t>
                      </a:r>
                      <a:endParaRPr lang="ru-RU" sz="1690" baseline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 dirty="0"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1690" baseline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>
                          <a:latin typeface="Times New Roman"/>
                          <a:ea typeface="Times New Roman"/>
                          <a:cs typeface="Times New Roman"/>
                        </a:rPr>
                        <a:t>Уран</a:t>
                      </a:r>
                      <a:endParaRPr lang="ru-RU" sz="1690" baseline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90" baseline="0" dirty="0"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1690" baseline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Типы фотоэлектрических систем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Автономные системы </a:t>
            </a:r>
            <a:r>
              <a:rPr lang="ru-RU" dirty="0"/>
              <a:t>предназначены для электроснабжения передвижных объектов или объектов, удаленных от основных линий электропередач (в труднодоступных местах, куда затруднена или экономически невыгодна прокладка линий). Использование в таких условиях фотоэлектричества наиболее эффективно и оправдано, а стоимость 1 кВтч электроэнергии — значительно ниже. Мощность автономных систем — в пределах 0,01 ...100 кВт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r>
              <a:rPr lang="ru-RU" b="1" dirty="0"/>
              <a:t>Фотоэлектрические системы, соединенные с промышленной электрической сетью</a:t>
            </a:r>
            <a:r>
              <a:rPr lang="ru-RU" dirty="0"/>
              <a:t>, которые отдают выработанную энергию непосредственно в промышленную сеть (которая служит одновременно накопителем и распределителем энергии). Такие системы, установленные в городе на крышах и стенах зданий, могут обеспечивать электричеством само здание и компенсировать </a:t>
            </a:r>
            <a:r>
              <a:rPr lang="ru-RU" dirty="0" err="1"/>
              <a:t>энергодефицит</a:t>
            </a:r>
            <a:r>
              <a:rPr lang="ru-RU" dirty="0"/>
              <a:t> при пиковом энергопотреблении в полуденное время. Мощность станций этого типа может достигать нескольких МВт.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Схема автономной фотоэлектрической электростанции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Схема автономной фотоэлектрической электростанции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136904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b="1" dirty="0"/>
              <a:t>Схема фотоэлектрической станции, соединенной с промышленной электрической сетью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Схема фотоэлектрической станции, соединенной с промышленной электрической сетью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7848871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Компоненты фотоэлектрических систем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Солнечные модули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Солнечные модули — основная часть любой фотоэлектрической системы. Наибольшее распространение получили солнечные модули из монокристаллических или </a:t>
            </a:r>
            <a:r>
              <a:rPr lang="ru-RU" dirty="0" err="1"/>
              <a:t>мультикристаллических</a:t>
            </a:r>
            <a:r>
              <a:rPr lang="ru-RU" dirty="0"/>
              <a:t> кремниевых элементов. Солнечные элементы могут быть круглыми (диаметром 100,125 и 150 мм) или квадратными (100 </a:t>
            </a:r>
            <a:r>
              <a:rPr lang="ru-RU" dirty="0" err="1"/>
              <a:t>х</a:t>
            </a:r>
            <a:r>
              <a:rPr lang="ru-RU" dirty="0"/>
              <a:t> </a:t>
            </a:r>
            <a:r>
              <a:rPr lang="ru-RU" dirty="0" err="1"/>
              <a:t>х</a:t>
            </a:r>
            <a:r>
              <a:rPr lang="ru-RU" dirty="0"/>
              <a:t> 100 , 125 </a:t>
            </a:r>
            <a:r>
              <a:rPr lang="ru-RU" dirty="0" err="1"/>
              <a:t>х</a:t>
            </a:r>
            <a:r>
              <a:rPr lang="ru-RU" dirty="0"/>
              <a:t> 125, 156х156 мм). Мощность элементов — 1,0…7,0 Вт. </a:t>
            </a:r>
          </a:p>
          <a:p>
            <a:r>
              <a:rPr lang="ru-RU" dirty="0"/>
              <a:t>Солнечные модули наземного использования обычно конструируются для зарядки свинцово-кислотных аккумуляторных батарей с номинальным напряжением 12 В. При этом последовательно соединяются 36 солнечных элементов и затем собираются в модуль.</a:t>
            </a:r>
          </a:p>
          <a:p>
            <a:r>
              <a:rPr lang="ru-RU" dirty="0"/>
              <a:t> Мощность солнечных модулей может достигать 10...300 Вт. Электрические параметры таких модулей представляются в виде вольтамперной характеристики, снятой при стандартных условиях (</a:t>
            </a:r>
            <a:r>
              <a:rPr lang="ru-RU" dirty="0" err="1"/>
              <a:t>Standard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Condition</a:t>
            </a:r>
            <a:r>
              <a:rPr lang="ru-RU" dirty="0"/>
              <a:t> — STC), т.е. когда мощность солнечной радиации составляет 1000 Вт/м2, температура элементов — 25°С и солнечный спектр — на широте 45°.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солнечного модуля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Разрез солнечного модуля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28800"/>
            <a:ext cx="8064896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Вольтамперная характеристика солнечного модуля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 descr="Вольтамперная характеристика солнечного модуля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064896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Электрические параметры солнечного модуля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Точка пересечения кривой с осью напряжения называется напряжением холостого хода </a:t>
            </a:r>
            <a:r>
              <a:rPr lang="ru-RU" dirty="0" err="1"/>
              <a:t>Voc</a:t>
            </a:r>
            <a:r>
              <a:rPr lang="ru-RU" dirty="0"/>
              <a:t>, а с осью тока — током короткого замыкания </a:t>
            </a:r>
            <a:r>
              <a:rPr lang="ru-RU" dirty="0" err="1"/>
              <a:t>Isc</a:t>
            </a:r>
            <a:r>
              <a:rPr lang="ru-RU" dirty="0"/>
              <a:t>. </a:t>
            </a:r>
          </a:p>
          <a:p>
            <a:r>
              <a:rPr lang="ru-RU" dirty="0"/>
              <a:t>Номинальная мощность модуля определяется как наибольшая мощность при стандартных условиях измерения. Значение напряжения, соответствующее максимальной мощности называется напряжением максимальной мощности </a:t>
            </a:r>
            <a:r>
              <a:rPr lang="ru-RU" dirty="0" err="1"/>
              <a:t>Vmp</a:t>
            </a:r>
            <a:r>
              <a:rPr lang="ru-RU" dirty="0"/>
              <a:t> (рабочим напряжением), а соответствующий ток — током максимальной мощности </a:t>
            </a:r>
            <a:r>
              <a:rPr lang="ru-RU" dirty="0" err="1"/>
              <a:t>Imp</a:t>
            </a:r>
            <a:r>
              <a:rPr lang="ru-RU" dirty="0"/>
              <a:t> (рабочим током). </a:t>
            </a:r>
          </a:p>
          <a:p>
            <a:r>
              <a:rPr lang="ru-RU" dirty="0"/>
              <a:t>Значение рабочего напряжения для модуля, состоящего из 36 элементов приблизительно равно 16... 17 В (0,45...0,47 В/элемент) при 25°С. Такой запас по напряжению необходим для того, чтобы компенсировать снижение рабочего напряжения при нагреве модуля (солнечным излучением) — температурный коэффициент напряжения холостого хода для кремния составляет ~ -0,4%/градус. Температурный коэффициент тока -положительный (0,07%/градус). Напряжение холостого хода модуля мало меняется при изменении освещенности (в то время как ток короткого замыкания прямо ей пропорционален).</a:t>
            </a:r>
          </a:p>
          <a:p>
            <a:r>
              <a:rPr lang="ru-RU" dirty="0"/>
              <a:t> КПД солнечного модуля определяется как отношение максимальной мощности (модуля) к общей мощности излучения, падающей на его поверхность при STC, и составляет 11...15%.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Фотоэлектрический генератор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Для получения необходимой мощности и рабочего напряжения модули соединяют последовательно или параллельно. Таким образом получают фотоэлектрический генератор. Мощность генератора всегда меньше, чем сумма мощностей модулей — из-за потерь, обусловленных различием в характеристиках однотипных модулей (потерь на рассогласование). Чем тщательнее подобраны модули в генераторе (или, чем меньше различие в характеристиках модулей), тем меньше потери на рассогласование. Например, при последовательном соединении десяти модулей с разбросом характеристик 10% потери составляют приблизительно 6%, а при разбросе 5% -уменьшаются до 2%. </a:t>
            </a:r>
          </a:p>
          <a:p>
            <a:r>
              <a:rPr lang="ru-RU" dirty="0"/>
              <a:t>При затенении одного модуля (или части элементов в модуле) в генераторе при последовательном соединении возникает «эффект горячего пятна» — затененный модуль (элемент) начинает рассеивать всю производимую освещенными модулями (элементами) мощность, быстро нагревается и выходит из строя. Для устранения этого эффекта параллельно с каждым модулем (или его частью) устанавливают шунтирующий диод. Диод необходим при последовательном соединении более двух модулей. К каждой линейке (последовательно соединенных модулей) тоже подключается блокирующий диод для выравнивания напряжений линеек. Все эти диоды обычно размещаются в соединительной коробке самого модуля.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Электрическая схема фотоэлектрического генератора</a:t>
            </a:r>
          </a:p>
        </p:txBody>
      </p:sp>
      <p:pic>
        <p:nvPicPr>
          <p:cNvPr id="4" name="Содержимое 3" descr="Схема генератора фотоэлектрической системы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844824"/>
            <a:ext cx="6840760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Электрические параметры фотоэлектрического генератора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Вольтамперная кривая генератора имеет тот же вид, что и единичного модуля. Рабочая точка генератора, подключенного к нагрузке, не всегда совпадает с точкой максимальной мощности (тем более, что положение последней зависит от условий освещенности и температуры окружающей среды).</a:t>
            </a:r>
          </a:p>
          <a:p>
            <a:r>
              <a:rPr lang="ru-RU" dirty="0"/>
              <a:t> Подключение таких нагрузок, как, например, электродвигатель, может сдвинуть рабочую точку системы в область минимальной или даже нулевой мощности (и двигатель просто не запустится). </a:t>
            </a:r>
          </a:p>
          <a:p>
            <a:r>
              <a:rPr lang="ru-RU" dirty="0"/>
              <a:t>Поэтому следующий важный компонент солнечных электрических систем — преобразователи напряжения, способные согласовывать солнечный модуль с нагрузкой.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Регулятор отбора максимальной мощности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5069160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Как правило, в этих регуляторах реализуется принцип поиска максимума мощности путем коротких периодических изменений положения рабочей точки. Если при этом мощность на выходе прибора увеличивается, то положение рабочей точки изменяется в этом направлении при следующем шаге. Таким образом постоянно оптимизируется нагрузочная характеристика для отбора максимальной мощности, а также обеспечивается возможность регулировки в широком динамическом диапазоне и формирования импульсов тока, способных зарядить аккумуляторную батарею даже в условиях малой освещенности. </a:t>
            </a:r>
          </a:p>
          <a:p>
            <a:r>
              <a:rPr lang="ru-RU" dirty="0"/>
              <a:t>Этот достаточно простой алгоритм может быть улучшен «запоминанием» часто повторяющихся направлений смещения рабочей точки (для устранения шагов смещения в ложных направлениях), что бывает важно в условиях быстро меняющейся освещенности. </a:t>
            </a:r>
          </a:p>
          <a:p>
            <a:r>
              <a:rPr lang="ru-RU" dirty="0"/>
              <a:t>На выходе регулятора формируются импульсы постоянного тока, ширина и частота следования которых зависит от мощности, производимой солнечным модулем в данный момент. При этом, если рабочее напряжение нагрузки меньше, чем рабочее напряжение модуля, то можно получать большие значения токов в нагрузке, чем ток короткого замыкания модуля.</a:t>
            </a:r>
          </a:p>
          <a:p>
            <a:r>
              <a:rPr lang="ru-RU" dirty="0"/>
              <a:t> Следует учитывать, что регуляторы имеют КПД 0,85...0,95. Самый большой выигрыш в мощности регулятор дает при работе модуля, собранного из 36 элементов, на аккумуляторную батарею с напряжением 12В при низких значениях температуры окружающей среды 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700" b="1" dirty="0"/>
              <a:t>Зависимость прироста мощности от напряжения на нагрузке при разных температурах окружающей среды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Зависимость прироста мощности от напряжения на нагрузке при разных температурах окружающей среды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0808"/>
            <a:ext cx="8064896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Аккумуляторные батареи фотоэлектрических систем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Виды аккумулирования солнечной энергии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/>
              <a:t>Выработанную солнечными модулями энергию можно сохранять в разных формах: </a:t>
            </a:r>
          </a:p>
          <a:p>
            <a:pPr lvl="0"/>
            <a:r>
              <a:rPr lang="ru-RU" dirty="0"/>
              <a:t>химическая энергия в электрохимических аккумуляторах; </a:t>
            </a:r>
          </a:p>
          <a:p>
            <a:pPr lvl="0"/>
            <a:r>
              <a:rPr lang="ru-RU" dirty="0"/>
              <a:t>потенциальная энергия воды в резервуарах; </a:t>
            </a:r>
          </a:p>
          <a:p>
            <a:pPr lvl="0"/>
            <a:r>
              <a:rPr lang="ru-RU" dirty="0"/>
              <a:t>тепловая энергия в тепловых аккумуляторах; </a:t>
            </a:r>
          </a:p>
          <a:p>
            <a:r>
              <a:rPr lang="ru-RU" dirty="0"/>
              <a:t>кинетическая энергия вращающихся масс или сжатого воздуха в резервуарах.</a:t>
            </a:r>
          </a:p>
          <a:p>
            <a:pPr>
              <a:buNone/>
            </a:pPr>
            <a:r>
              <a:rPr lang="ru-RU" dirty="0"/>
              <a:t>Для фотоэлектрических систем больше подходят </a:t>
            </a:r>
            <a:r>
              <a:rPr lang="ru-RU" b="1" dirty="0"/>
              <a:t>электрохимические аккумуляторы</a:t>
            </a:r>
            <a:r>
              <a:rPr lang="ru-RU" dirty="0"/>
              <a:t>, т.к. солнечный модуль производит, а потребитель потребляет электроэнергию, которая непосредственно и запасается в аккумуляторе. Исключение — солнечные станции для водоснабжения, где потребляется вода (энергия хранится в потенциальной форме в водных резервуарах). Большинство фотоэлектрических систем используют </a:t>
            </a:r>
            <a:r>
              <a:rPr lang="ru-RU" i="1" dirty="0"/>
              <a:t>свинцово-кислотные аккумуляторы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Основные условия по выбору аккумуляторов для ФЭС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стойкость к циклическому режиму работы; </a:t>
            </a:r>
          </a:p>
          <a:p>
            <a:pPr lvl="0"/>
            <a:r>
              <a:rPr lang="ru-RU" dirty="0"/>
              <a:t>способность выдерживать глубокий разряд; </a:t>
            </a:r>
          </a:p>
          <a:p>
            <a:pPr lvl="0"/>
            <a:r>
              <a:rPr lang="ru-RU" dirty="0"/>
              <a:t>низкий саморазряд; </a:t>
            </a:r>
          </a:p>
          <a:p>
            <a:pPr lvl="0"/>
            <a:r>
              <a:rPr lang="ru-RU" dirty="0" err="1"/>
              <a:t>некритичность</a:t>
            </a:r>
            <a:r>
              <a:rPr lang="ru-RU" dirty="0"/>
              <a:t> к нарушению условий зарядки и разрядки; </a:t>
            </a:r>
          </a:p>
          <a:p>
            <a:pPr lvl="0"/>
            <a:r>
              <a:rPr lang="ru-RU" dirty="0"/>
              <a:t>долговечность; </a:t>
            </a:r>
          </a:p>
          <a:p>
            <a:pPr lvl="0"/>
            <a:r>
              <a:rPr lang="ru-RU" dirty="0"/>
              <a:t>простота в обслуживании.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Необслуживаемые герметичные тяговые аккумуляторы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600200"/>
            <a:ext cx="8784976" cy="52578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/>
              <a:t>Важный параметр переносных (или периодически демонтируемых) солнечных систем — компактность и герметичность. Этим требованиям в полной мере удовлетворяют аккумуляторы, выполненные по технологиям «</a:t>
            </a:r>
            <a:r>
              <a:rPr lang="ru-RU" dirty="0" err="1"/>
              <a:t>dryfit</a:t>
            </a:r>
            <a:r>
              <a:rPr lang="ru-RU" dirty="0"/>
              <a:t>» и AGM (абсорбированный электролит) или рекомбинационной технологии. Они характеризуются отсутствием эксплуатационных затрат и перекрывают диапазон емкостей 1...12 000 </a:t>
            </a:r>
            <a:r>
              <a:rPr lang="ru-RU" dirty="0" err="1"/>
              <a:t>Ач</a:t>
            </a:r>
            <a:r>
              <a:rPr lang="ru-RU" dirty="0"/>
              <a:t> (что позволяет удовлетворять требованиям любых потребителей). Выделяющиеся при зарядке газы не выходят из аккумулятора, поэтому электролит не расходуется и обслуживание не требуется. Например, серия аккумуляторов SMG фирмы FIAMM (Италия) объединяет преимущества рекомбинационной технологии и обычных открытых батарей с трубчатыми положительными пластинами.</a:t>
            </a:r>
          </a:p>
          <a:p>
            <a:pPr>
              <a:buNone/>
            </a:pPr>
            <a:r>
              <a:rPr lang="ru-RU" dirty="0"/>
              <a:t> Аккумуляторы имеют: </a:t>
            </a:r>
          </a:p>
          <a:p>
            <a:pPr lvl="0"/>
            <a:r>
              <a:rPr lang="ru-RU" dirty="0"/>
              <a:t>длительный срок службы -15 лет; </a:t>
            </a:r>
          </a:p>
          <a:p>
            <a:pPr lvl="0"/>
            <a:r>
              <a:rPr lang="ru-RU" dirty="0"/>
              <a:t>стойкость к циклическому режиму — более 1200 циклов; </a:t>
            </a:r>
          </a:p>
          <a:p>
            <a:pPr lvl="0"/>
            <a:r>
              <a:rPr lang="ru-RU" dirty="0"/>
              <a:t>отсутствие необходимости обслуживания на протяжении всего срока службы; </a:t>
            </a:r>
          </a:p>
          <a:p>
            <a:pPr lvl="0"/>
            <a:r>
              <a:rPr lang="ru-RU" dirty="0"/>
              <a:t>минимальное </a:t>
            </a:r>
            <a:r>
              <a:rPr lang="ru-RU" dirty="0" err="1"/>
              <a:t>газовыделение</a:t>
            </a:r>
            <a:r>
              <a:rPr lang="ru-RU" dirty="0"/>
              <a:t> (благодаря использованию сплава без сурьмы и применению технологии внутренней рекомбинации газа); </a:t>
            </a:r>
          </a:p>
          <a:p>
            <a:pPr lvl="0"/>
            <a:r>
              <a:rPr lang="ru-RU" dirty="0"/>
              <a:t>отсутствие пуско-наладочных работ; </a:t>
            </a:r>
          </a:p>
          <a:p>
            <a:pPr lvl="0"/>
            <a:r>
              <a:rPr lang="ru-RU" dirty="0"/>
              <a:t>саморазряд — приблизительно 3% в месяц. </a:t>
            </a:r>
          </a:p>
          <a:p>
            <a:pPr>
              <a:buNone/>
            </a:pPr>
            <a:r>
              <a:rPr lang="ru-RU" dirty="0"/>
              <a:t>Стоимость аккумуляторов и батарей такого типа составляет 150... 250 $/кВтч.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Соединения аккумуляторных батарей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700" dirty="0"/>
              <a:t>Соединять аккумуляторные батареи в единый блок желательно посредством последовательного соединения (рисунок а). При параллельном соединении (рисунок б) общая емкость аккумуляторной системы будет равна суммарной емкости, составляющих блок аккумуляторных батарей, общее же напряжение останется неизменным и равным напряжению одиночного аккумулятора.</a:t>
            </a:r>
          </a:p>
          <a:p>
            <a:r>
              <a:rPr lang="ru-RU" sz="1700" dirty="0"/>
              <a:t>При последовательном соединении емкость аккумуляторного блока будет равна емкости одиночного аккумулятора, а напряжение аккумуляторной батареи – равно сумме напряжений, входящих в нее аккумуляторов.</a:t>
            </a:r>
          </a:p>
          <a:p>
            <a:r>
              <a:rPr lang="ru-RU" sz="1700" dirty="0"/>
              <a:t>Энергия же, накопленная в таком аккумуляторном блоке, равна сумме энергий отдельно взятых аккумуляторов (или произведению энергии одного аккумулятора на общее их число, в случае, если аккумуляторы одинаковые), вне зависимости от способа соединения – параллельного или последовательного.</a:t>
            </a:r>
          </a:p>
          <a:p>
            <a:endParaRPr lang="ru-RU" dirty="0"/>
          </a:p>
        </p:txBody>
      </p:sp>
      <p:pic>
        <p:nvPicPr>
          <p:cNvPr id="4" name="Рисунок 3" descr="Аккумуляторы"/>
          <p:cNvPicPr/>
          <p:nvPr/>
        </p:nvPicPr>
        <p:blipFill>
          <a:blip r:embed="rId2" cstate="print"/>
          <a:srcRect b="15837"/>
          <a:stretch>
            <a:fillRect/>
          </a:stretch>
        </p:blipFill>
        <p:spPr bwMode="auto">
          <a:xfrm>
            <a:off x="2915816" y="5086350"/>
            <a:ext cx="312420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Напряжение аккумулятора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 любых электрических системах часть электрической энергии теряется, превращаясь в тепло. При одной и той же мощности, чем больше напряжение системы, тем меньше ток и, следовательно, меньше потери на сопротивление и, конечно, цена. </a:t>
            </a:r>
          </a:p>
          <a:p>
            <a:r>
              <a:rPr lang="ru-RU" dirty="0"/>
              <a:t>Таким образом, системы высокого напряжения рентабельнее. При использовании аккумуляторных батарей с последовательным соединением аккумуляторов, мы получаем увеличение КПД за счет уменьшения потерь.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Контроллеры заряда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контроллеров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В простейших типах контроллеров при достижении определенных критических значений напряжения происходит отключение фотоэлектрической батареи (если аккумуляторы заряжены) или нагрузки от аккумуляторных батарей (если АБ разряжены).</a:t>
            </a:r>
          </a:p>
          <a:p>
            <a:r>
              <a:rPr lang="ru-RU" dirty="0"/>
              <a:t> В более продвинутых моделях – микропроцессорных контроллерах осуществляется слежение за точкой максимальной мощности солнечной батареи и широтно-импульсная модуляция (ШИМ) тока заряда. </a:t>
            </a:r>
          </a:p>
          <a:p>
            <a:r>
              <a:rPr lang="ru-RU" dirty="0"/>
              <a:t>Контроллеры с ШИМ тока заряда позволяют заряжать аккумуляторные батареи до 100 %, тогда как простейшие контроллеры обеспечивают лишь до 60-70 % заряда. Систематический же </a:t>
            </a:r>
            <a:r>
              <a:rPr lang="ru-RU" dirty="0" err="1"/>
              <a:t>недозаряд</a:t>
            </a:r>
            <a:r>
              <a:rPr lang="ru-RU" dirty="0"/>
              <a:t> аккумуляторов быстро выводит их из строя.</a:t>
            </a:r>
          </a:p>
          <a:p>
            <a:r>
              <a:rPr lang="ru-RU" dirty="0"/>
              <a:t>Применение контроллера МРРТ в фотоэлектрической системе увеличивает генерируемую за год мощность в среднем на 30 %.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Типовой алгоритм заряда АКБ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r>
              <a:rPr lang="ru-RU" b="1" dirty="0"/>
              <a:t>1. Использование 100% доступной солнечной энергии. </a:t>
            </a:r>
          </a:p>
          <a:p>
            <a:r>
              <a:rPr lang="ru-RU" b="1" dirty="0"/>
              <a:t>2. Стадия P</a:t>
            </a:r>
            <a:r>
              <a:rPr lang="en-US" b="1" dirty="0"/>
              <a:t>W</a:t>
            </a:r>
            <a:r>
              <a:rPr lang="ru-RU" b="1" dirty="0"/>
              <a:t>M – регулирование заряда при постоянном напряжении для предотвращения нагревания и выделения газов, а также пульсирующий заряд для полного восстановления емкости АКБ. </a:t>
            </a:r>
          </a:p>
          <a:p>
            <a:r>
              <a:rPr lang="ru-RU" b="1" dirty="0"/>
              <a:t>3. Режим поддержки. После того как АКБ полностью зарядилась, процесс переходит к подзарядке (поддержке). Данный этап зависит от возраста АКБ. Если сила тока нагрузки превышает силу тока заряда от солнечных панелей, контроллер возвращается в стадию PVM. </a:t>
            </a:r>
          </a:p>
          <a:p>
            <a:r>
              <a:rPr lang="ru-RU" b="1" dirty="0"/>
              <a:t>4. </a:t>
            </a:r>
            <a:r>
              <a:rPr lang="ru-RU" b="1" dirty="0" err="1"/>
              <a:t>Эквализация</a:t>
            </a:r>
            <a:r>
              <a:rPr lang="ru-RU" b="1" dirty="0"/>
              <a:t> (выравнивание – только для определенного типа АКБ). Мощный постоянный заряд в течение установленного времени для выравнивания потенциалов во внутренних ячейках АКБ. Данная стадия зависит от состояния АКБ и прошедшего временного периода без </a:t>
            </a:r>
            <a:r>
              <a:rPr lang="ru-RU" b="1" dirty="0" err="1"/>
              <a:t>эквализации</a:t>
            </a:r>
            <a:r>
              <a:rPr lang="ru-RU" b="1" dirty="0"/>
              <a:t>. Заливные АКБ получают наиболее мощный выравнивающий заряд, герметичные АКБ получают меньший заряд для балансирования ячеек и увеличения срока службы АКБ. </a:t>
            </a:r>
            <a:r>
              <a:rPr lang="ru-RU" b="1" dirty="0" err="1"/>
              <a:t>Гелевые</a:t>
            </a:r>
            <a:r>
              <a:rPr lang="ru-RU" b="1" dirty="0"/>
              <a:t> АКБ не подвергаются выравниванию.</a:t>
            </a:r>
            <a:endParaRPr lang="ru-RU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412776"/>
            <a:ext cx="7215386" cy="1633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Инверторы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инверторов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Существуют различные типы инверторов, различающиеся по мощности, напряжению на стороне постоянного тока, форме выходного сигнала, со встроенным зарядным устройством и системой прямой подачи энергии (от другого источника переменного тока), с аналоговой или импульсной           схемой и т. д. </a:t>
            </a:r>
          </a:p>
          <a:p>
            <a:r>
              <a:rPr lang="ru-RU" dirty="0"/>
              <a:t>Могут быть предназначены для работы в полностью автономных системах либо передавать электроэнергию непосредственно в сеть. Инверторы с зарядным устройством подразделяются на </a:t>
            </a:r>
            <a:r>
              <a:rPr lang="ru-RU" dirty="0" err="1"/>
              <a:t>off-line</a:t>
            </a:r>
            <a:r>
              <a:rPr lang="ru-RU" dirty="0"/>
              <a:t> (</a:t>
            </a:r>
            <a:r>
              <a:rPr lang="ru-RU" dirty="0" err="1"/>
              <a:t>back</a:t>
            </a:r>
            <a:r>
              <a:rPr lang="ru-RU" dirty="0"/>
              <a:t> </a:t>
            </a:r>
            <a:r>
              <a:rPr lang="ru-RU" dirty="0" err="1"/>
              <a:t>up</a:t>
            </a:r>
            <a:r>
              <a:rPr lang="ru-RU" dirty="0"/>
              <a:t> и </a:t>
            </a:r>
            <a:r>
              <a:rPr lang="ru-RU" dirty="0" err="1"/>
              <a:t>line-interactive</a:t>
            </a:r>
            <a:r>
              <a:rPr lang="ru-RU" dirty="0"/>
              <a:t>) </a:t>
            </a:r>
            <a:r>
              <a:rPr lang="ru-RU" dirty="0" err="1"/>
              <a:t>и</a:t>
            </a:r>
            <a:r>
              <a:rPr lang="ru-RU" dirty="0"/>
              <a:t> </a:t>
            </a:r>
            <a:r>
              <a:rPr lang="ru-RU" dirty="0" err="1"/>
              <a:t>on-line</a:t>
            </a:r>
            <a:r>
              <a:rPr lang="ru-RU" dirty="0"/>
              <a:t>. Инвертор со встроенным зарядным устройством для </a:t>
            </a:r>
            <a:r>
              <a:rPr lang="ru-RU" dirty="0" err="1"/>
              <a:t>подзаряда</a:t>
            </a:r>
            <a:r>
              <a:rPr lang="ru-RU" dirty="0"/>
              <a:t> аккумуляторов при питании от сети и блоком слежения за сетевым напряжением называется Блоком Бесперебойного Питания (ББП). </a:t>
            </a:r>
          </a:p>
          <a:p>
            <a:r>
              <a:rPr lang="ru-RU" dirty="0"/>
              <a:t>При отключениях электричества или скачках напряжения в сети Блок Бесперебойного Питания автоматически переключается на электроснабжение от аккумуляторов.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Синусные инверторы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sz="1400" dirty="0"/>
              <a:t>В зависимости от типа выходного сигнала инверторы делятся на:</a:t>
            </a:r>
          </a:p>
          <a:p>
            <a:pPr>
              <a:buNone/>
            </a:pPr>
            <a:r>
              <a:rPr lang="ru-RU" sz="1400" dirty="0"/>
              <a:t>	-инверторы с синусоидальным выходным сигналом ;</a:t>
            </a:r>
          </a:p>
          <a:p>
            <a:pPr>
              <a:buNone/>
            </a:pPr>
            <a:r>
              <a:rPr lang="ru-RU" sz="1400" dirty="0"/>
              <a:t>	 -инверторы, генерирующие </a:t>
            </a:r>
            <a:r>
              <a:rPr lang="ru-RU" sz="1400" dirty="0" err="1"/>
              <a:t>квазисинусоидальный</a:t>
            </a:r>
            <a:r>
              <a:rPr lang="ru-RU" sz="1400" dirty="0"/>
              <a:t> (модифицированный синусоидальный) выходной сигнал или меандр;</a:t>
            </a:r>
          </a:p>
          <a:p>
            <a:pPr>
              <a:buNone/>
            </a:pPr>
            <a:r>
              <a:rPr lang="ru-RU" sz="1400" dirty="0"/>
              <a:t>Если форма напряжения инвертора синусоидальная, то от таких инверторов можно питать любую нагрузку переменного тока. Несинусоидальные инверторы с прямоугольной (меандр), ступенчатой или трапециевидной формой напряжения непригодны для некоторых видов нагрузки, например, асинхронных двигателей или трансформаторов. Для питания большинства домашних электроприборов, таких как телевизор, освещение, холодильники и др. вполне достаточно инвертора с </a:t>
            </a:r>
            <a:r>
              <a:rPr lang="ru-RU" sz="1400" dirty="0" err="1"/>
              <a:t>квазисинусоидальной</a:t>
            </a:r>
            <a:r>
              <a:rPr lang="ru-RU" sz="1400" dirty="0"/>
              <a:t> формой выходного сигнала. Инверторы с </a:t>
            </a:r>
            <a:r>
              <a:rPr lang="ru-RU" sz="1400" dirty="0" err="1"/>
              <a:t>квазисинусоидой</a:t>
            </a:r>
            <a:r>
              <a:rPr lang="ru-RU" sz="1400" dirty="0"/>
              <a:t> выходного сигнала не подходят для работы (или вообще могут вывести из строя) таких потребителей как: автоматика газовых котлов, циркуляционные насосы, а также жидкокристаллические дисплеи, видеопроекторы и ноутбуки.</a:t>
            </a:r>
          </a:p>
          <a:p>
            <a:pPr>
              <a:buNone/>
            </a:pPr>
            <a:endParaRPr lang="ru-RU" sz="1400" dirty="0"/>
          </a:p>
          <a:p>
            <a:pPr>
              <a:buNone/>
            </a:pPr>
            <a:endParaRPr lang="ru-RU" sz="1400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 descr="Инверторы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4653136"/>
            <a:ext cx="1520190" cy="1520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 descr="Инверторы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4725144"/>
            <a:ext cx="1562735" cy="1520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Требования к автономному инвертору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способность выдерживать перегрузки (как кратковременные, так и длительные); </a:t>
            </a:r>
          </a:p>
          <a:p>
            <a:pPr lvl="0"/>
            <a:r>
              <a:rPr lang="ru-RU" dirty="0"/>
              <a:t>низкие потери при малых нагрузках и на холостом ходу; </a:t>
            </a:r>
          </a:p>
          <a:p>
            <a:pPr lvl="0"/>
            <a:r>
              <a:rPr lang="ru-RU" dirty="0"/>
              <a:t>стабилизация выходного напряжения; </a:t>
            </a:r>
          </a:p>
          <a:p>
            <a:pPr lvl="0"/>
            <a:r>
              <a:rPr lang="ru-RU" dirty="0"/>
              <a:t>низкий коэффициент гармоник; </a:t>
            </a:r>
          </a:p>
          <a:p>
            <a:pPr lvl="0"/>
            <a:r>
              <a:rPr lang="ru-RU" dirty="0"/>
              <a:t>высокий КПД; </a:t>
            </a:r>
          </a:p>
          <a:p>
            <a:pPr lvl="0"/>
            <a:r>
              <a:rPr lang="ru-RU" dirty="0"/>
              <a:t>отсутствие помех на радиочастотах.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Требования к сетевому инвертору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К выходному сигналу сетевых инверторов предъявляются самые жесткие требования. Для уменьшения потерь на преобразование такие инверторы работают при высоких входных напряжениях (до 1000 В). </a:t>
            </a:r>
          </a:p>
          <a:p>
            <a:r>
              <a:rPr lang="ru-RU" dirty="0"/>
              <a:t>Так как их входные цепи </a:t>
            </a:r>
            <a:r>
              <a:rPr lang="ru-RU" dirty="0" err="1"/>
              <a:t>запитываются</a:t>
            </a:r>
            <a:r>
              <a:rPr lang="ru-RU" dirty="0"/>
              <a:t> непосредственно от солнечного генератора, инверторы имеют регулятор отбора максимальной мощности (встроенный в инвертор).</a:t>
            </a:r>
          </a:p>
          <a:p>
            <a:r>
              <a:rPr lang="ru-RU" dirty="0"/>
              <a:t> Сетевые инверторы имеют также блок контроля мощности солнечного генератора (и включаются автоматически, как только мощность генератора становится достаточной для формирования переменного сигнала).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2248</Words>
  <Application>Microsoft Office PowerPoint</Application>
  <PresentationFormat>Экран (4:3)</PresentationFormat>
  <Paragraphs>130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4" baseType="lpstr">
      <vt:lpstr>Arial</vt:lpstr>
      <vt:lpstr>Calibri</vt:lpstr>
      <vt:lpstr>Times New Roman</vt:lpstr>
      <vt:lpstr>Тема Office</vt:lpstr>
      <vt:lpstr>Фотоэлектрические системы и их комплектация </vt:lpstr>
      <vt:lpstr>Возобновляемые источники энергии</vt:lpstr>
      <vt:lpstr>Потенциальный ресурс источников энергии  (в триллионах тонн условного топлива в год) </vt:lpstr>
      <vt:lpstr>Типы фотоэлектрических систем </vt:lpstr>
      <vt:lpstr>Схема автономной фотоэлектрической электростанции</vt:lpstr>
      <vt:lpstr>Схема фотоэлектрической станции, соединенной с промышленной электрической сетью </vt:lpstr>
      <vt:lpstr>Компоненты фотоэлектрических систем </vt:lpstr>
      <vt:lpstr>Солнечные модули</vt:lpstr>
      <vt:lpstr>Структура солнечного модуля</vt:lpstr>
      <vt:lpstr>Вольтамперная характеристика солнечного модуля </vt:lpstr>
      <vt:lpstr>Электрические параметры солнечного модуля</vt:lpstr>
      <vt:lpstr>Фотоэлектрический генератор</vt:lpstr>
      <vt:lpstr>Электрическая схема фотоэлектрического генератора</vt:lpstr>
      <vt:lpstr>Электрические параметры фотоэлектрического генератора</vt:lpstr>
      <vt:lpstr>Регулятор отбора максимальной мощности</vt:lpstr>
      <vt:lpstr>Зависимость прироста мощности от напряжения на нагрузке при разных температурах окружающей среды</vt:lpstr>
      <vt:lpstr>Аккумуляторные батареи фотоэлектрических систем</vt:lpstr>
      <vt:lpstr>Виды аккумулирования солнечной энергии</vt:lpstr>
      <vt:lpstr>Основные условия по выбору аккумуляторов для ФЭС</vt:lpstr>
      <vt:lpstr>Необслуживаемые герметичные тяговые аккумуляторы</vt:lpstr>
      <vt:lpstr>Соединения аккумуляторных батарей</vt:lpstr>
      <vt:lpstr>Напряжение аккумулятора</vt:lpstr>
      <vt:lpstr>Контроллеры заряда</vt:lpstr>
      <vt:lpstr>Типы контроллеров</vt:lpstr>
      <vt:lpstr>Типовой алгоритм заряда АКБ</vt:lpstr>
      <vt:lpstr>Инверторы</vt:lpstr>
      <vt:lpstr>Типы инверторов</vt:lpstr>
      <vt:lpstr>Синусные инверторы</vt:lpstr>
      <vt:lpstr>Требования к автономному инвертору</vt:lpstr>
      <vt:lpstr>Требования к сетевому инвертору</vt:lpstr>
    </vt:vector>
  </TitlesOfParts>
  <Company>bsuir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№3</dc:title>
  <dc:creator>sysadmin</dc:creator>
  <cp:lastModifiedBy>User</cp:lastModifiedBy>
  <cp:revision>39</cp:revision>
  <dcterms:created xsi:type="dcterms:W3CDTF">2012-10-26T14:42:10Z</dcterms:created>
  <dcterms:modified xsi:type="dcterms:W3CDTF">2025-12-19T12:07:41Z</dcterms:modified>
</cp:coreProperties>
</file>