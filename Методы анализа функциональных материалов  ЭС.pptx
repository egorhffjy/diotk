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8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0B65B-990D-4E2E-A5EE-1E124CBA869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5417F-7E74-45EA-AC08-932B1719104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65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42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88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1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87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10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43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3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99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66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28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71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C6CF7-3EF2-4E29-943D-CD427164CDE1}" type="datetimeFigureOut">
              <a:rPr lang="ru-RU" smtClean="0"/>
              <a:pPr/>
              <a:t>01.09.2025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048F6-A71B-4FCC-8EC0-F8FE6632219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8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/>
              <a:t>Тема1 Методы </a:t>
            </a:r>
            <a:r>
              <a:rPr lang="ru-RU" b="1" dirty="0"/>
              <a:t>анализа функциональных материалов  ЭС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19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Содержание темы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отбора и подготовка пробы к анализу. </a:t>
            </a:r>
          </a:p>
          <a:p>
            <a:r>
              <a:rPr lang="ru-RU" dirty="0"/>
              <a:t>Статистическая обработка результатов анализа.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171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685800" y="1340769"/>
            <a:ext cx="7772400" cy="2259682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Лекция  Правила отбора и подготовка пробы к анализу. Статистическая обработка результатов анализа.</a:t>
            </a:r>
            <a:br>
              <a:rPr lang="ru-RU" dirty="0"/>
            </a:b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35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Содержание и этапы методов контроля и анализа веществ в технологии ЭС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Современные физико-химические методы исследования веществ, использующихся в технологии ЭС отличаются значительным многообразием и сферами приложения. </a:t>
            </a:r>
          </a:p>
          <a:p>
            <a:r>
              <a:rPr lang="ru-RU" dirty="0"/>
              <a:t>Уровень исследований и ценность получаемых результатов непосредственно связаны с правильностью выбора и применения современных методов анализа веществ.</a:t>
            </a:r>
          </a:p>
          <a:p>
            <a:r>
              <a:rPr lang="ru-RU" dirty="0"/>
              <a:t>Все существующие методы контроля и анализа веществ можно</a:t>
            </a:r>
            <a:br>
              <a:rPr lang="ru-RU" dirty="0"/>
            </a:br>
            <a:r>
              <a:rPr lang="ru-RU" dirty="0"/>
              <a:t>разделить на этапы: </a:t>
            </a:r>
          </a:p>
          <a:p>
            <a:r>
              <a:rPr lang="ru-RU" dirty="0"/>
              <a:t>- </a:t>
            </a:r>
            <a:r>
              <a:rPr lang="ru-RU" dirty="0" err="1"/>
              <a:t>пробоотбор</a:t>
            </a:r>
            <a:r>
              <a:rPr lang="ru-RU" dirty="0"/>
              <a:t>; </a:t>
            </a:r>
          </a:p>
          <a:p>
            <a:r>
              <a:rPr lang="ru-RU" dirty="0"/>
              <a:t>- разложения проб;</a:t>
            </a:r>
          </a:p>
          <a:p>
            <a:r>
              <a:rPr lang="ru-RU" dirty="0"/>
              <a:t>- разделение компонентов; </a:t>
            </a:r>
          </a:p>
          <a:p>
            <a:r>
              <a:rPr lang="ru-RU" dirty="0"/>
              <a:t>- обнаружения (идентификации); </a:t>
            </a:r>
          </a:p>
          <a:p>
            <a:r>
              <a:rPr lang="ru-RU" dirty="0"/>
              <a:t>- определения.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143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Химические и физические методы определения веществ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Из всех перечисленных этапов наибольшее значение имеют методы определения, которые основаны на зависимости между </a:t>
            </a:r>
            <a:r>
              <a:rPr lang="ru-RU" i="1" dirty="0"/>
              <a:t>составом вещества и его свойствами</a:t>
            </a:r>
            <a:r>
              <a:rPr lang="ru-RU" dirty="0"/>
              <a:t>. </a:t>
            </a:r>
          </a:p>
          <a:p>
            <a:r>
              <a:rPr lang="ru-RU" dirty="0"/>
              <a:t>Обычно измеряют свойство, например, интенсивность окраски, радиоактивность или электрическую проводимость и по полученному сигналу судят о составе вещества (содержании интересующего нас компонента).</a:t>
            </a:r>
          </a:p>
          <a:p>
            <a:r>
              <a:rPr lang="ru-RU" dirty="0"/>
              <a:t>Методы определения можно классифицировать по характеру измеряемого свойства или по способу регистрации соответствующего сигнала. Методы определения делятся на химические и физические методы.</a:t>
            </a:r>
            <a:br>
              <a:rPr lang="ru-RU" dirty="0"/>
            </a:br>
            <a:r>
              <a:rPr lang="ru-RU" u="sng" dirty="0"/>
              <a:t>Химические</a:t>
            </a:r>
            <a:r>
              <a:rPr lang="ru-RU" dirty="0"/>
              <a:t> методы базируются на химических (в том числе электрохимических) реакциях. </a:t>
            </a:r>
            <a:r>
              <a:rPr lang="ru-RU" u="sng" dirty="0"/>
              <a:t>Физические</a:t>
            </a:r>
            <a:r>
              <a:rPr lang="ru-RU" dirty="0"/>
              <a:t> – основаны на физических явлениях и процессах.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769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pPr lvl="0"/>
            <a:br>
              <a:rPr lang="ru-RU" sz="3600" b="1" dirty="0"/>
            </a:br>
            <a:r>
              <a:rPr lang="ru-RU" sz="3600" b="1" dirty="0"/>
              <a:t> ПОДГОТОВКА ПРОБЫ К ПРОВЕДЕНИЮ ХИМИЧЕСКОГО АНАЛИЗА  ВЕЩЕСТВ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/>
              <a:t>Химический анализ </a:t>
            </a:r>
            <a:r>
              <a:rPr lang="ru-RU" dirty="0"/>
              <a:t>чаще всего начинают с отбора и подготовки пробы к анализу. Если они проведены неправильно, то даже тщательно измеренный аналитический сигнал не дает правильной информации о содержании определяемого компонента. Погрешность при </a:t>
            </a:r>
            <a:r>
              <a:rPr lang="ru-RU" dirty="0" err="1"/>
              <a:t>пробоподготовке</a:t>
            </a:r>
            <a:r>
              <a:rPr lang="ru-RU" dirty="0"/>
              <a:t> и отборе пробы часто делает бессмысленным использование высокоточных методов.</a:t>
            </a:r>
          </a:p>
          <a:p>
            <a:r>
              <a:rPr lang="ru-RU" dirty="0"/>
              <a:t>«Пробы» зависят от способа измерения аналитического сигнала. Приемы и порядок отбора пробы предписывают Государственные стандарты (ГОСТ). </a:t>
            </a:r>
          </a:p>
          <a:p>
            <a:r>
              <a:rPr lang="ru-RU" dirty="0"/>
              <a:t>Для проведения анализа берут </a:t>
            </a:r>
            <a:r>
              <a:rPr lang="ru-RU" i="1" dirty="0"/>
              <a:t>среднюю пробу</a:t>
            </a:r>
            <a:r>
              <a:rPr lang="ru-RU" dirty="0"/>
              <a:t>. Это небольшая часть анализируемого объекта, средний состав и свойства которой должны быть идентичны во всех отношениях среднему составу и свойствам исследуемого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103558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Виды проб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Различают генеральную, лабораторную и анализируемую пробу. </a:t>
            </a:r>
            <a:r>
              <a:rPr lang="ru-RU" u="sng" dirty="0"/>
              <a:t>Генеральная проба</a:t>
            </a:r>
            <a:r>
              <a:rPr lang="ru-RU" dirty="0"/>
              <a:t> отбирается непосредственно из объекта. Она большая – 1–50 кг, для некоторых объектов (пример: руда) 0,5–5т. </a:t>
            </a:r>
          </a:p>
          <a:p>
            <a:r>
              <a:rPr lang="ru-RU" dirty="0"/>
              <a:t>Из генеральной пробы путем сокращения отбирают </a:t>
            </a:r>
            <a:r>
              <a:rPr lang="ru-RU" u="sng" dirty="0"/>
              <a:t>лабораторную пробу</a:t>
            </a:r>
            <a:r>
              <a:rPr lang="ru-RU" dirty="0"/>
              <a:t> (от 25г до 1 кг). Одну часть используют для предварительных исследований, другую – сохраняют для возможных арбитражных анализов. Третью – используют непосредственно для анализа (анализируемая проба).</a:t>
            </a:r>
            <a:br>
              <a:rPr lang="ru-RU" dirty="0"/>
            </a:br>
            <a:r>
              <a:rPr lang="ru-RU" dirty="0"/>
              <a:t>Содержание определяемого компонента в анализируемой пробе</a:t>
            </a:r>
            <a:br>
              <a:rPr lang="ru-RU" dirty="0"/>
            </a:br>
            <a:r>
              <a:rPr lang="ru-RU" dirty="0"/>
              <a:t>должно отражать среднее содержание этого компонента в исследуемом</a:t>
            </a:r>
            <a:br>
              <a:rPr lang="ru-RU" dirty="0"/>
            </a:br>
            <a:r>
              <a:rPr lang="ru-RU" dirty="0"/>
              <a:t>объекте. </a:t>
            </a:r>
          </a:p>
          <a:p>
            <a:r>
              <a:rPr lang="ru-RU" dirty="0"/>
              <a:t>Так проба 1–10 г оценивает среднее содержание компонента в генеральной пробе массой несколько тонн и запас компонента в месторождении. </a:t>
            </a:r>
          </a:p>
          <a:p>
            <a:r>
              <a:rPr lang="ru-RU" dirty="0"/>
              <a:t>При отборе пробы надо учитывать: </a:t>
            </a:r>
          </a:p>
          <a:p>
            <a:pPr marL="0" indent="0">
              <a:buNone/>
            </a:pPr>
            <a:r>
              <a:rPr lang="ru-RU" dirty="0"/>
              <a:t>	1)агрегатное состояние объекта;</a:t>
            </a:r>
          </a:p>
          <a:p>
            <a:pPr marL="0" indent="0">
              <a:buNone/>
            </a:pPr>
            <a:r>
              <a:rPr lang="ru-RU" dirty="0"/>
              <a:t>	2) неоднородность материала и размер частиц, с которых начинается неоднородность;</a:t>
            </a:r>
            <a:br>
              <a:rPr lang="ru-RU" dirty="0"/>
            </a:br>
            <a:r>
              <a:rPr lang="ru-RU" dirty="0"/>
              <a:t>	3) требуемую точность в зависимости от задачи анализа и природы</a:t>
            </a:r>
            <a:br>
              <a:rPr lang="ru-RU" dirty="0"/>
            </a:br>
            <a:r>
              <a:rPr lang="ru-RU" dirty="0"/>
              <a:t>объекта; </a:t>
            </a:r>
          </a:p>
          <a:p>
            <a:pPr marL="0" indent="0">
              <a:buNone/>
            </a:pPr>
            <a:r>
              <a:rPr lang="ru-RU" dirty="0"/>
              <a:t>	4) возможность изменения объекта во времени.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126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Отбор проб газов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sz="3800" dirty="0"/>
              <a:t>Степень однородности велика: неоднородность на молекулярном  уровне. Генеральная проба небольшая. Пробу отбирают, измеряя объем при помощи вакуумной мерной колбы или бюретки с соответствующей запорной жидкостью, конденсируют газ в ловушках разного типа при низках температурах. В замкнутом объеме (пример: цех, комната и т. д.) пробу отбирают в разных точках в зависимости от задачи, смешивают или анализируют отдельно. В потоке газа (рис.) используют метод </a:t>
            </a:r>
            <a:r>
              <a:rPr lang="ru-RU" sz="3800" i="1" dirty="0"/>
              <a:t>продольных струй</a:t>
            </a:r>
            <a:r>
              <a:rPr lang="ru-RU" sz="3800" dirty="0"/>
              <a:t> и метод </a:t>
            </a:r>
            <a:r>
              <a:rPr lang="ru-RU" sz="3800" i="1" dirty="0"/>
              <a:t>поперечных сечений</a:t>
            </a:r>
            <a:r>
              <a:rPr lang="ru-RU" sz="3800" dirty="0"/>
              <a:t>.</a:t>
            </a:r>
          </a:p>
          <a:p>
            <a:r>
              <a:rPr lang="ru-RU" sz="3800" dirty="0"/>
              <a:t>В первом случае, когда состав в потоке не меняется, берут в струях.</a:t>
            </a:r>
            <a:br>
              <a:rPr lang="ru-RU" sz="3800" dirty="0"/>
            </a:br>
            <a:r>
              <a:rPr lang="ru-RU" sz="3800" dirty="0"/>
              <a:t>Во втором – на определенных расстояниях (спец. отверстия в трубах). Состав часто меняется во времени. Поэтому пробу усредняют или</a:t>
            </a:r>
            <a:br>
              <a:rPr lang="ru-RU" sz="3800" dirty="0"/>
            </a:br>
            <a:r>
              <a:rPr lang="ru-RU" sz="3800" dirty="0"/>
              <a:t>анализируют отдельно в зависимости от поставленной задачи.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Рис. 1.1. Отбор пробы газа в потоке: а – метод продольных струй; б – метод поперечных сечений (стрелками показаны места отбора проб)</a:t>
            </a:r>
          </a:p>
          <a:p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8024" y="1196752"/>
            <a:ext cx="4104456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4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Отбор проб жидкостей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540060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Гомогенные жидкости отличаются однородностью, способ отбора прост. Тщательно перемешивают и берут необходимый объем.</a:t>
            </a:r>
            <a:br>
              <a:rPr lang="ru-RU" dirty="0"/>
            </a:br>
            <a:r>
              <a:rPr lang="ru-RU" dirty="0"/>
              <a:t>Если нельзя перемешать, берут в разных точках. </a:t>
            </a:r>
          </a:p>
          <a:p>
            <a:r>
              <a:rPr lang="ru-RU" dirty="0"/>
              <a:t>Используют специальные устройства – батометры (сосуд объемом 1–3 л с закрывающимися крышками сверху и снизу) (рис.)  Гетерогенные жидкости отбирают по объему и по массе.</a:t>
            </a:r>
          </a:p>
          <a:p>
            <a:r>
              <a:rPr lang="ru-RU" dirty="0"/>
              <a:t> Пробу гомогенизируют или расслаивают. Расслаивание – отбирают пробу (рис. ) из каждой фазы пробоотборником с большим числом забирающих камер.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4785395"/>
          </a:xfrm>
        </p:spPr>
        <p:txBody>
          <a:bodyPr>
            <a:normAutofit fontScale="70000" lnSpcReduction="20000"/>
          </a:bodyPr>
          <a:lstStyle/>
          <a:p>
            <a:r>
              <a:rPr lang="ru-RU" sz="2300" dirty="0"/>
              <a:t>Рис. 1. Отбор пробы: а – жидкости в потоке; б – гетерогенной жидкости пробоотборником с изолированными ячейками</a:t>
            </a:r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r>
              <a:rPr lang="ru-RU" sz="2300" dirty="0"/>
              <a:t>Рис. 2. Батометр</a:t>
            </a:r>
          </a:p>
          <a:p>
            <a:endParaRPr lang="ru-RU" sz="2300" dirty="0"/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2040" y="2348879"/>
            <a:ext cx="3744415" cy="2232249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0072" y="4941168"/>
            <a:ext cx="2490470" cy="187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9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ru-RU" sz="3600" b="1" dirty="0"/>
              <a:t>Отбор пробы твердых веществ</a:t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7969004" cy="4904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455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Отбор от целого слитка, стержня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 отборе от целого слитка, стержня, и т. д. (необходимо учитывать неоднородность). Так при застывании чугуна его примеси оттесняются внутрь. Неравномерно распределяются в слитках стали углерод,</a:t>
            </a:r>
            <a:br>
              <a:rPr lang="ru-RU" dirty="0"/>
            </a:br>
            <a:r>
              <a:rPr lang="ru-RU" dirty="0"/>
              <a:t>сера, фосфор. Процесс расслаивания в слитках металлов и сплавов посторонних включений и примесей называют </a:t>
            </a:r>
            <a:r>
              <a:rPr lang="ru-RU" i="1" dirty="0"/>
              <a:t>ликвацией.</a:t>
            </a:r>
            <a:br>
              <a:rPr lang="ru-RU" dirty="0"/>
            </a:br>
            <a:r>
              <a:rPr lang="ru-RU" dirty="0"/>
              <a:t>Учитывая неоднородность объекта, его либо дробят, если вещества</a:t>
            </a:r>
            <a:br>
              <a:rPr lang="ru-RU" dirty="0"/>
            </a:br>
            <a:r>
              <a:rPr lang="ru-RU" dirty="0"/>
              <a:t>хрупкие, либо распиливают через равные промежутки, либо высверливают в разных местах слитка (рис.).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Рис.  Отбор средней пробы металла или сплава высверливанием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712" y="3573016"/>
            <a:ext cx="468052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0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Отбор пробы сыпучих продуктов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62500" lnSpcReduction="20000"/>
          </a:bodyPr>
          <a:lstStyle/>
          <a:p>
            <a:r>
              <a:rPr lang="ru-RU" i="1" dirty="0"/>
              <a:t>Отбор пробы </a:t>
            </a:r>
            <a:r>
              <a:rPr lang="ru-RU" dirty="0"/>
              <a:t>сыпучих продуктов тем труднее, чем неоднороднее анализируемый объект. В пробе должны быть представлены куски</a:t>
            </a:r>
            <a:br>
              <a:rPr lang="ru-RU" dirty="0"/>
            </a:br>
            <a:r>
              <a:rPr lang="ru-RU" dirty="0"/>
              <a:t>разного размера. Массу перемешивают, и пробу отбирают в разных частях емкости и на разной глубине, используя специальные щупы – пробоотборники. Если материал транспортируется, то берут в разное время.</a:t>
            </a:r>
          </a:p>
          <a:p>
            <a:r>
              <a:rPr lang="ru-RU" dirty="0"/>
              <a:t>После отбора генеральной пробы проводят </a:t>
            </a:r>
            <a:r>
              <a:rPr lang="ru-RU" i="1" dirty="0"/>
              <a:t>процесс гомогенизации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измельчение, дробление, просеивание. Пробы крупные разбивают в дробильных машинах и мельницах (рис.). Мелкие – в ступках (из закаленной стали) </a:t>
            </a:r>
            <a:r>
              <a:rPr lang="ru-RU" dirty="0" err="1"/>
              <a:t>Абиха</a:t>
            </a:r>
            <a:r>
              <a:rPr lang="ru-RU" dirty="0"/>
              <a:t> или </a:t>
            </a:r>
            <a:r>
              <a:rPr lang="ru-RU" dirty="0" err="1"/>
              <a:t>Платнера</a:t>
            </a:r>
            <a:r>
              <a:rPr lang="ru-RU" dirty="0"/>
              <a:t> и др. При дроблении возможны потери. Чтобы избежать этого, периодически просеивают частицы в </a:t>
            </a:r>
            <a:r>
              <a:rPr lang="ru-RU" dirty="0" err="1"/>
              <a:t>виброгрохотах</a:t>
            </a:r>
            <a:r>
              <a:rPr lang="ru-RU" dirty="0"/>
              <a:t> (рис. ), и крупные растирают отдельно.</a:t>
            </a:r>
          </a:p>
          <a:p>
            <a:r>
              <a:rPr lang="ru-RU" i="1" dirty="0"/>
              <a:t>Усреднение</a:t>
            </a:r>
            <a:r>
              <a:rPr lang="ru-RU" dirty="0"/>
              <a:t> (перемешивание и сокращение робы).Перемешивание проводят механически в емкостях, перекатыванием из угла в угол на различных плоскостях, перемешиванием методом конуса и кольца.</a:t>
            </a:r>
          </a:p>
          <a:p>
            <a:r>
              <a:rPr lang="ru-RU" i="1" dirty="0"/>
              <a:t>Сокращение пробы </a:t>
            </a:r>
            <a:r>
              <a:rPr lang="ru-RU" dirty="0"/>
              <a:t>– процесс многостадийный, включающий повторное перемешивание. Проба сокращается до расчетной величины.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5696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Лабораторные мельницы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2204864"/>
            <a:ext cx="820891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8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Виброгрохот</a:t>
            </a:r>
            <a:endParaRPr lang="ru-RU" b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67744" y="2348880"/>
            <a:ext cx="417646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49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Потери при </a:t>
            </a:r>
            <a:r>
              <a:rPr lang="ru-RU" b="1" dirty="0" err="1"/>
              <a:t>пробоотборе</a:t>
            </a:r>
            <a:r>
              <a:rPr lang="ru-RU" b="1" dirty="0"/>
              <a:t> и хранение пробы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99715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процессе отбора и хранения пробы возможны потери определяемого компонента, внесение загрязнений, изменение химического состава. Все это приводит к увеличению погрешности анализа. Существуют следующие потери:</a:t>
            </a:r>
          </a:p>
          <a:p>
            <a:r>
              <a:rPr lang="ru-RU" dirty="0"/>
              <a:t>1. Потери в виде пыли при измельчении пород могут составлять до 3 % массы объекта (просеивание). </a:t>
            </a:r>
          </a:p>
          <a:p>
            <a:pPr lvl="0"/>
            <a:r>
              <a:rPr lang="ru-RU" dirty="0"/>
              <a:t>Потери летучих продуктов. При измельчении пород происходят потери воды, ртути, серы, талия. При изменении температуры – потери летучих органических соединений. </a:t>
            </a:r>
          </a:p>
          <a:p>
            <a:r>
              <a:rPr lang="ru-RU" dirty="0"/>
              <a:t>Хранение и консервация пробы являются важным пунктом </a:t>
            </a:r>
            <a:r>
              <a:rPr lang="ru-RU" dirty="0" err="1"/>
              <a:t>пробоотбора</a:t>
            </a:r>
            <a:r>
              <a:rPr lang="ru-RU" dirty="0"/>
              <a:t>. Если невозможен скорый анализ, то пробу консервируют. Для этого проводят охлаждение пробы, изменяют </a:t>
            </a:r>
            <a:r>
              <a:rPr lang="ru-RU" dirty="0" err="1"/>
              <a:t>pH</a:t>
            </a:r>
            <a:r>
              <a:rPr lang="ru-RU" dirty="0"/>
              <a:t> среды, добавляют стабилизаторы и т п.</a:t>
            </a:r>
          </a:p>
          <a:p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3393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пробы к анализу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Подготовка пробы – важный этап проведения химических анализов. Подготовка делится на три стадии: </a:t>
            </a:r>
          </a:p>
          <a:p>
            <a:r>
              <a:rPr lang="ru-RU" dirty="0"/>
              <a:t>1) высушивание; </a:t>
            </a:r>
          </a:p>
          <a:p>
            <a:r>
              <a:rPr lang="ru-RU" dirty="0"/>
              <a:t>2) разложение;</a:t>
            </a:r>
          </a:p>
          <a:p>
            <a:r>
              <a:rPr lang="ru-RU" dirty="0"/>
              <a:t>3) устранение влияния мешающих компонентов.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0393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Высушивание образцов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Это может быть химически несвязанная вода, адсорбированная на  поверхности щелями, капиллярами (цеолит, крахмал, белок, </a:t>
            </a:r>
            <a:r>
              <a:rPr lang="ru-RU" dirty="0" err="1"/>
              <a:t>акклюдированная</a:t>
            </a:r>
            <a:r>
              <a:rPr lang="ru-RU" dirty="0"/>
              <a:t> полостями минералов, руд, горных пород) и химически связанная в молекулах или кристаллах.</a:t>
            </a:r>
          </a:p>
          <a:p>
            <a:r>
              <a:rPr lang="ru-RU" dirty="0"/>
              <a:t>Пробу сушат до постоянной массы. Расчет определяемого компонента производят обычно, исходя из навески высушенного образца. Затем учитывают массу, потерянную при сушке.</a:t>
            </a:r>
          </a:p>
          <a:p>
            <a:r>
              <a:rPr lang="ru-RU" dirty="0"/>
              <a:t>Если не удается высушить пробу, то применяют другие методы отделения воды: с помощью поглотителя (перхлорат магния и др.), газожидкостной хроматографии и ИК-спектроскопии.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859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Разложение образцов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784976" cy="5832648"/>
          </a:xfrm>
        </p:spPr>
        <p:txBody>
          <a:bodyPr>
            <a:normAutofit fontScale="47500" lnSpcReduction="20000"/>
          </a:bodyPr>
          <a:lstStyle/>
          <a:p>
            <a:r>
              <a:rPr lang="ru-RU" dirty="0"/>
              <a:t>Существуют разные методы разложения: высокоактивными реагентами, повышением давления и температуры, катализ, ультразвук, микроволны и др. Все эти методы зависят от природы самого объекта исследований, химических свойств определяемого компонента (органической или неорганической природой). Способ разложения зависит от цели анализа и выбранного аналитического метода. </a:t>
            </a:r>
          </a:p>
          <a:p>
            <a:r>
              <a:rPr lang="ru-RU" u="sng" dirty="0"/>
              <a:t>Растворение.</a:t>
            </a:r>
            <a:endParaRPr lang="ru-RU" dirty="0"/>
          </a:p>
          <a:p>
            <a:r>
              <a:rPr lang="ru-RU" dirty="0"/>
              <a:t>	Растворитель должен растворять пробу быстро и не создавать помех при анализе. Самый универсальный растворитель – вода. Многие неорганические соли и некоторые органические соединения хорошо растворяются в воде. Для растворения органических соединений используют органические растворители (спирты, кетоны, хлорированные углеводороды).</a:t>
            </a:r>
            <a:br>
              <a:rPr lang="ru-RU" dirty="0"/>
            </a:br>
            <a:r>
              <a:rPr lang="ru-RU" dirty="0"/>
              <a:t>При «мокром» способе часто применяют кислоты (</a:t>
            </a:r>
            <a:r>
              <a:rPr lang="ru-RU" dirty="0" err="1"/>
              <a:t>HCl</a:t>
            </a:r>
            <a:r>
              <a:rPr lang="ru-RU" dirty="0"/>
              <a:t>, HF, HNO</a:t>
            </a:r>
            <a:r>
              <a:rPr lang="ru-RU" baseline="-25000" dirty="0"/>
              <a:t>3</a:t>
            </a:r>
            <a:r>
              <a:rPr lang="ru-RU" dirty="0"/>
              <a:t>(</a:t>
            </a:r>
            <a:r>
              <a:rPr lang="ru-RU" dirty="0" err="1"/>
              <a:t>конц</a:t>
            </a:r>
            <a:r>
              <a:rPr lang="ru-RU" dirty="0"/>
              <a:t>.), H</a:t>
            </a:r>
            <a:r>
              <a:rPr lang="ru-RU" baseline="-25000" dirty="0"/>
              <a:t>2</a:t>
            </a:r>
            <a:r>
              <a:rPr lang="ru-RU" dirty="0"/>
              <a:t>SO</a:t>
            </a:r>
            <a:r>
              <a:rPr lang="ru-RU" baseline="-25000" dirty="0"/>
              <a:t>4</a:t>
            </a:r>
            <a:r>
              <a:rPr lang="ru-RU" dirty="0"/>
              <a:t>(</a:t>
            </a:r>
            <a:r>
              <a:rPr lang="ru-RU" dirty="0" err="1"/>
              <a:t>конц</a:t>
            </a:r>
            <a:r>
              <a:rPr lang="ru-RU" dirty="0"/>
              <a:t>.) и их смеси).Часто растворение проб проводят в автоклавах (ТИР).</a:t>
            </a:r>
          </a:p>
          <a:p>
            <a:r>
              <a:rPr lang="ru-RU" u="sng" dirty="0"/>
              <a:t>«Сухой способ» разложения</a:t>
            </a:r>
            <a:r>
              <a:rPr lang="ru-RU" dirty="0"/>
              <a:t> (спекание, сплавление и </a:t>
            </a:r>
            <a:r>
              <a:rPr lang="ru-RU" dirty="0" err="1"/>
              <a:t>терморазложение</a:t>
            </a:r>
            <a:r>
              <a:rPr lang="ru-RU" dirty="0"/>
              <a:t>) менее предпочтителен из-за возрастания потерь материала пробы.</a:t>
            </a:r>
          </a:p>
          <a:p>
            <a:r>
              <a:rPr lang="ru-RU" u="sng" dirty="0"/>
              <a:t>Спекание.</a:t>
            </a:r>
            <a:r>
              <a:rPr lang="ru-RU" dirty="0"/>
              <a:t> </a:t>
            </a:r>
          </a:p>
          <a:p>
            <a:r>
              <a:rPr lang="ru-RU" dirty="0"/>
              <a:t>Нагревают пробу при высоких температурах с подходящим реагентом. Это сложный, до конца не изученный процесс. Основано на химическом сродстве компонентов пробы к введенным реагентам.</a:t>
            </a:r>
            <a:br>
              <a:rPr lang="ru-RU" dirty="0"/>
            </a:br>
            <a:r>
              <a:rPr lang="ru-RU" u="sng" dirty="0"/>
              <a:t>Сплавление.</a:t>
            </a:r>
            <a:r>
              <a:rPr lang="ru-RU" dirty="0"/>
              <a:t> </a:t>
            </a:r>
          </a:p>
          <a:p>
            <a:r>
              <a:rPr lang="ru-RU" dirty="0"/>
              <a:t>Измельченный образец перемешивают с 8÷10 кратным избытком реагента (плавня) или с флюсом (пр. боратом лития) и нагревают (300÷1000 °С) до получения прозрачного </a:t>
            </a:r>
            <a:r>
              <a:rPr lang="ru-RU" dirty="0" err="1"/>
              <a:t>плава</a:t>
            </a:r>
            <a:r>
              <a:rPr lang="ru-RU" dirty="0"/>
              <a:t> (рис.). После</a:t>
            </a:r>
            <a:br>
              <a:rPr lang="ru-RU" dirty="0"/>
            </a:br>
            <a:r>
              <a:rPr lang="ru-RU" dirty="0"/>
              <a:t>охлаждения застывшую массу растворяют в воде или кислотах.  При сплавлении используют щелочные, кислые, окислительные плавни. Щелочные: карбонаты, гидроксиды, бораты. Кислотные: </a:t>
            </a:r>
            <a:r>
              <a:rPr lang="ru-RU" dirty="0" err="1"/>
              <a:t>пиросульфат</a:t>
            </a:r>
            <a:r>
              <a:rPr lang="ru-RU" dirty="0"/>
              <a:t> калия, гидросульфат калия и B</a:t>
            </a:r>
            <a:r>
              <a:rPr lang="ru-RU" baseline="-25000" dirty="0"/>
              <a:t>2</a:t>
            </a:r>
            <a:r>
              <a:rPr lang="ru-RU" dirty="0"/>
              <a:t>O</a:t>
            </a:r>
            <a:r>
              <a:rPr lang="ru-RU" baseline="-25000" dirty="0"/>
              <a:t>3</a:t>
            </a:r>
            <a:r>
              <a:rPr lang="ru-RU" dirty="0"/>
              <a:t>.Окислительные: N</a:t>
            </a:r>
            <a:r>
              <a:rPr lang="en-US" dirty="0"/>
              <a:t>a</a:t>
            </a:r>
            <a:r>
              <a:rPr lang="ru-RU" baseline="-25000" dirty="0"/>
              <a:t>2</a:t>
            </a:r>
            <a:r>
              <a:rPr lang="ru-RU" dirty="0"/>
              <a:t>CO</a:t>
            </a:r>
            <a:r>
              <a:rPr lang="ru-RU" baseline="-25000" dirty="0"/>
              <a:t>3</a:t>
            </a:r>
            <a:r>
              <a:rPr lang="ru-RU" dirty="0"/>
              <a:t>, Na</a:t>
            </a:r>
            <a:r>
              <a:rPr lang="ru-RU" baseline="-25000" dirty="0"/>
              <a:t>2</a:t>
            </a:r>
            <a:r>
              <a:rPr lang="ru-RU" dirty="0"/>
              <a:t>B</a:t>
            </a:r>
            <a:r>
              <a:rPr lang="ru-RU" baseline="-25000" dirty="0"/>
              <a:t>4</a:t>
            </a:r>
            <a:r>
              <a:rPr lang="ru-RU" dirty="0"/>
              <a:t>O</a:t>
            </a:r>
            <a:r>
              <a:rPr lang="ru-RU" baseline="-25000" dirty="0"/>
              <a:t>7</a:t>
            </a:r>
            <a:r>
              <a:rPr lang="ru-RU" dirty="0"/>
              <a:t> и др. с добавкой окисляющих веществ (KNO</a:t>
            </a:r>
            <a:r>
              <a:rPr lang="ru-RU" baseline="-25000" dirty="0"/>
              <a:t>3</a:t>
            </a:r>
            <a:r>
              <a:rPr lang="ru-RU" dirty="0"/>
              <a:t>, NaNO</a:t>
            </a:r>
            <a:r>
              <a:rPr lang="ru-RU" baseline="-25000" dirty="0"/>
              <a:t>3</a:t>
            </a:r>
            <a:r>
              <a:rPr lang="ru-RU" dirty="0"/>
              <a:t>, KClO</a:t>
            </a:r>
            <a:r>
              <a:rPr lang="ru-RU" baseline="-25000" dirty="0"/>
              <a:t>3 </a:t>
            </a:r>
            <a:r>
              <a:rPr lang="ru-RU" dirty="0"/>
              <a:t>и др.). Наиболее активный Na</a:t>
            </a:r>
            <a:r>
              <a:rPr lang="ru-RU" baseline="-25000" dirty="0"/>
              <a:t>2</a:t>
            </a:r>
            <a:r>
              <a:rPr lang="ru-RU" dirty="0"/>
              <a:t>O</a:t>
            </a:r>
            <a:r>
              <a:rPr lang="ru-RU" baseline="-25000" dirty="0"/>
              <a:t>2</a:t>
            </a:r>
            <a:r>
              <a:rPr lang="ru-RU" dirty="0"/>
              <a:t>. При сплавлении образуются легко растворимые соли.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98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Печь и приспособления для сплавления образцов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700808"/>
            <a:ext cx="8064896" cy="46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59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СТАТИСТИЧЕСКАЯ ОБРАБОТКА РЕЗУЛЬТАТОВ АНАЛИЗА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318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Методы измерений при анализе веществ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Большинство методов контроля и анализа веществ, прежде всего, связаны с измерениями. </a:t>
            </a:r>
          </a:p>
          <a:p>
            <a:r>
              <a:rPr lang="ru-RU" u="sng" dirty="0"/>
              <a:t>Измерение </a:t>
            </a:r>
            <a:r>
              <a:rPr lang="ru-RU" dirty="0"/>
              <a:t>– это нахождение значения физической величины опытным путем с помощью специальных технических средств. Измерения физических величин делятся на прямые и косвенные. </a:t>
            </a:r>
            <a:r>
              <a:rPr lang="ru-RU" u="sng" dirty="0"/>
              <a:t>Прямое измерение</a:t>
            </a:r>
            <a:r>
              <a:rPr lang="ru-RU" dirty="0"/>
              <a:t> – измерение, при котором искомое значение величины находят непосредственно с помощью измерительного прибора (например, длина измеряется линейкой, напряжение  вольтметром, температура – термометром). </a:t>
            </a:r>
            <a:r>
              <a:rPr lang="ru-RU" u="sng" dirty="0"/>
              <a:t>Косвенные измерения</a:t>
            </a:r>
            <a:r>
              <a:rPr lang="ru-RU" dirty="0"/>
              <a:t> – измерения, в которых искомое значение величины находят на основании известной зависимости этой величины от других, допускающих прямое измерение (например, электрическое сопротивление резистора – по падению</a:t>
            </a:r>
            <a:br>
              <a:rPr lang="ru-RU" dirty="0"/>
            </a:br>
            <a:r>
              <a:rPr lang="ru-RU" dirty="0"/>
              <a:t>напряжения на нем и току через него). </a:t>
            </a:r>
          </a:p>
          <a:p>
            <a:r>
              <a:rPr lang="ru-RU" dirty="0"/>
              <a:t>Совместными называют производимые одновременно измерения двух или нескольких </a:t>
            </a:r>
            <a:r>
              <a:rPr lang="ru-RU" dirty="0" err="1"/>
              <a:t>неодноименных</a:t>
            </a:r>
            <a:r>
              <a:rPr lang="ru-RU" dirty="0"/>
              <a:t> величин для нахождения зависимости между ними.</a:t>
            </a:r>
          </a:p>
          <a:p>
            <a:r>
              <a:rPr lang="ru-RU" dirty="0"/>
              <a:t>Выделяют следующие </a:t>
            </a:r>
            <a:r>
              <a:rPr lang="ru-RU" u="sng" dirty="0"/>
              <a:t>методы измерений</a:t>
            </a:r>
            <a:r>
              <a:rPr lang="ru-RU" dirty="0"/>
              <a:t>: методы отклонений (измеряется вся величина); нулевой метод (измеряется отклонение интересующей нас величины от какого-либо стандарта, как, например, в </a:t>
            </a:r>
            <a:r>
              <a:rPr lang="ru-RU" dirty="0" err="1"/>
              <a:t>спектрофотометрии</a:t>
            </a:r>
            <a:r>
              <a:rPr lang="ru-RU" dirty="0"/>
              <a:t>); разностный метод (полная компенсация измеряемой величины путем приложения внешнего воздействия; регистрируется при том не сама величина, а факт отсутствия сигнала).</a:t>
            </a:r>
          </a:p>
        </p:txBody>
      </p:sp>
    </p:spTree>
    <p:extLst>
      <p:ext uri="{BB962C8B-B14F-4D97-AF65-F5344CB8AC3E}">
        <p14:creationId xmlns:p14="http://schemas.microsoft.com/office/powerpoint/2010/main" val="106251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Погрешности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Разность между результатом измерения и истинным значением называется </a:t>
            </a:r>
            <a:r>
              <a:rPr lang="ru-RU" u="sng" dirty="0"/>
              <a:t>истинной погрешностью измерения.</a:t>
            </a:r>
            <a:endParaRPr lang="ru-RU" dirty="0"/>
          </a:p>
          <a:p>
            <a:r>
              <a:rPr lang="ru-RU" dirty="0"/>
              <a:t>Найденное экспериментально значение измеряемой величины, приближенное к истинному, называется оценкой физической величины.</a:t>
            </a:r>
            <a:br>
              <a:rPr lang="ru-RU" dirty="0"/>
            </a:br>
            <a:r>
              <a:rPr lang="ru-RU" dirty="0"/>
              <a:t>Оценка с указанием ее возможного интервала отклонения от истинного значения (доверительного интервала, в котором с определенной степенью достоверности содержится истинное значение) называется  </a:t>
            </a:r>
            <a:r>
              <a:rPr lang="ru-RU" u="sng" dirty="0"/>
              <a:t>результатом измерения</a:t>
            </a:r>
            <a:r>
              <a:rPr lang="ru-RU" dirty="0"/>
              <a:t>. </a:t>
            </a:r>
          </a:p>
          <a:p>
            <a:r>
              <a:rPr lang="ru-RU" dirty="0"/>
              <a:t>Любые испытания проб ведут к различным погрешностям. Для достоверности и правильности результатов необходимо оценить степень ошибки.</a:t>
            </a:r>
          </a:p>
          <a:p>
            <a:r>
              <a:rPr lang="ru-RU" dirty="0"/>
              <a:t>Погрешности анализа можно классифицировать по различным признакам. По влиянию на результаты анализа их можно разделить на </a:t>
            </a:r>
            <a:r>
              <a:rPr lang="ru-RU" i="1" dirty="0"/>
              <a:t>систематические и случайные</a:t>
            </a:r>
            <a:r>
              <a:rPr lang="ru-RU" dirty="0"/>
              <a:t>. По характеру анализа во времени – на </a:t>
            </a:r>
            <a:r>
              <a:rPr lang="ru-RU" i="1" dirty="0"/>
              <a:t>статические и динамические</a:t>
            </a:r>
            <a:r>
              <a:rPr lang="ru-RU" dirty="0"/>
              <a:t>. По источникам возникновения – на </a:t>
            </a:r>
            <a:r>
              <a:rPr lang="ru-RU" i="1" dirty="0"/>
              <a:t>методические, инструментальные</a:t>
            </a:r>
            <a:r>
              <a:rPr lang="ru-RU" dirty="0"/>
              <a:t>, личные, которые, в свою очередь, могут</a:t>
            </a:r>
            <a:br>
              <a:rPr lang="ru-RU" dirty="0"/>
            </a:br>
            <a:r>
              <a:rPr lang="ru-RU" dirty="0"/>
              <a:t>быть как случайными, так и систематическими. По возможности выявления и исключения из результатов анализа – на выявленные и </a:t>
            </a:r>
            <a:r>
              <a:rPr lang="ru-RU" dirty="0" err="1"/>
              <a:t>невыявленные</a:t>
            </a:r>
            <a:r>
              <a:rPr lang="ru-RU" dirty="0"/>
              <a:t>, устранимые и неустранимые, исключенные и </a:t>
            </a:r>
            <a:r>
              <a:rPr lang="ru-RU" dirty="0" err="1"/>
              <a:t>неисключенные</a:t>
            </a:r>
            <a:r>
              <a:rPr lang="ru-RU" dirty="0"/>
              <a:t>. По характеру принадлежности (близости) результатов наблюдений к основной совокупности – на </a:t>
            </a:r>
            <a:r>
              <a:rPr lang="ru-RU" i="1" dirty="0"/>
              <a:t>грубые и промахи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496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Определение погрешностей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Прежде всего, определяют </a:t>
            </a:r>
            <a:r>
              <a:rPr lang="ru-RU" u="sng" dirty="0"/>
              <a:t>абсолютную погрешность</a:t>
            </a:r>
            <a:r>
              <a:rPr lang="ru-RU" dirty="0"/>
              <a:t>, </a:t>
            </a:r>
            <a:br>
              <a:rPr lang="ru-RU" dirty="0"/>
            </a:br>
            <a:r>
              <a:rPr lang="ru-RU" dirty="0"/>
              <a:t>В отдельных случаях определяют единичные погрешности. </a:t>
            </a:r>
            <a:br>
              <a:rPr lang="ru-RU" dirty="0"/>
            </a:br>
            <a:r>
              <a:rPr lang="ru-RU" dirty="0"/>
              <a:t>Погрешности, в зависимости от завышения или занижения, могут быть отрицательными и положительными. </a:t>
            </a:r>
          </a:p>
          <a:p>
            <a:r>
              <a:rPr lang="ru-RU" u="sng" dirty="0"/>
              <a:t>Относительная погрешность</a:t>
            </a:r>
            <a:r>
              <a:rPr lang="ru-RU" dirty="0"/>
              <a:t> может быть выражена в долях или в</a:t>
            </a:r>
            <a:br>
              <a:rPr lang="ru-RU" dirty="0"/>
            </a:br>
            <a:r>
              <a:rPr lang="ru-RU" dirty="0"/>
              <a:t>процентах. Измерительный прибор всегда имеет ограниченную точность измерений. Обычно в качестве такой погрешности берется половина цены наименьшего деления прибора.</a:t>
            </a:r>
          </a:p>
          <a:p>
            <a:r>
              <a:rPr lang="ru-RU" u="sng" dirty="0"/>
              <a:t>Систематические погрешности</a:t>
            </a:r>
            <a:r>
              <a:rPr lang="ru-RU" dirty="0"/>
              <a:t> вызваны постоянно действующей</a:t>
            </a:r>
            <a:br>
              <a:rPr lang="ru-RU" dirty="0"/>
            </a:br>
            <a:r>
              <a:rPr lang="ru-RU" dirty="0"/>
              <a:t>причиной, могут быть выявлены и устранены. </a:t>
            </a:r>
          </a:p>
          <a:p>
            <a:r>
              <a:rPr lang="ru-RU" u="sng" dirty="0"/>
              <a:t>Случайные погрешности</a:t>
            </a:r>
            <a:r>
              <a:rPr lang="ru-RU" dirty="0"/>
              <a:t> – причины неизвестны, могут быть оценены методами математической  статистики. </a:t>
            </a:r>
          </a:p>
          <a:p>
            <a:r>
              <a:rPr lang="ru-RU" u="sng" dirty="0"/>
              <a:t>Промах</a:t>
            </a:r>
            <a:r>
              <a:rPr lang="ru-RU" dirty="0"/>
              <a:t> – погрешность, резко искажающая результат, легко выявляется, вызвана, как правило, небрежностью или некомпетентностью</a:t>
            </a:r>
            <a:br>
              <a:rPr lang="ru-RU" dirty="0"/>
            </a:br>
            <a:r>
              <a:rPr lang="ru-RU" dirty="0"/>
              <a:t>аналитика.</a:t>
            </a:r>
          </a:p>
          <a:p>
            <a:r>
              <a:rPr lang="ru-RU" u="sng" dirty="0" err="1"/>
              <a:t>Воспроизводимость</a:t>
            </a:r>
            <a:r>
              <a:rPr lang="ru-RU" u="sng" dirty="0"/>
              <a:t> (сходимость)</a:t>
            </a:r>
            <a:r>
              <a:rPr lang="ru-RU" dirty="0"/>
              <a:t> – степень близости друг к другу единичных определений. </a:t>
            </a:r>
          </a:p>
          <a:p>
            <a:r>
              <a:rPr lang="ru-RU" u="sng" dirty="0"/>
              <a:t>Правильность</a:t>
            </a:r>
            <a:r>
              <a:rPr lang="ru-RU" dirty="0"/>
              <a:t> отражает близость к нулю систематической погрешности.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0120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Термины в измерениях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 1993 года в практике описания методов и результатов измерений стали постепенно использоваться новые термины для характеристики точности измерений, предложенные Международной организацией по</a:t>
            </a:r>
            <a:br>
              <a:rPr lang="ru-RU" dirty="0"/>
            </a:br>
            <a:r>
              <a:rPr lang="ru-RU" dirty="0"/>
              <a:t>стандартизации. </a:t>
            </a:r>
          </a:p>
          <a:p>
            <a:r>
              <a:rPr lang="ru-RU" dirty="0"/>
              <a:t>Предложения Международной организации по стандартизации стали отражением двух основных тенденций изменения метрологических терминов: детализация понятия «точность» </a:t>
            </a:r>
            <a:r>
              <a:rPr lang="ru-RU" dirty="0" err="1"/>
              <a:t>путѐм</a:t>
            </a:r>
            <a:r>
              <a:rPr lang="ru-RU" dirty="0"/>
              <a:t> введения терминов «правильность» и «</a:t>
            </a:r>
            <a:r>
              <a:rPr lang="ru-RU" dirty="0" err="1"/>
              <a:t>прецизионность</a:t>
            </a:r>
            <a:r>
              <a:rPr lang="ru-RU" dirty="0"/>
              <a:t>»; отказ от использования понятия «погрешность» и применение термина «</a:t>
            </a:r>
            <a:r>
              <a:rPr lang="ru-RU" dirty="0" err="1"/>
              <a:t>неопределѐнность</a:t>
            </a:r>
            <a:r>
              <a:rPr lang="ru-RU" dirty="0"/>
              <a:t>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342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Точность и правильность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u="sng" dirty="0"/>
              <a:t>Точность</a:t>
            </a:r>
            <a:r>
              <a:rPr lang="ru-RU" dirty="0"/>
              <a:t> – степень близости результата измерений к принятому опорному значению.</a:t>
            </a:r>
          </a:p>
          <a:p>
            <a:r>
              <a:rPr lang="ru-RU" u="sng" dirty="0"/>
              <a:t>Правильность</a:t>
            </a:r>
            <a:r>
              <a:rPr lang="ru-RU" dirty="0"/>
              <a:t> – степень близости среднего значения, полученного на основании большой серии результатов измерений (или результатов испытаний), к принятому опорному значению.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0564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Прецизионность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u="sng" dirty="0" err="1"/>
              <a:t>Прецизионность</a:t>
            </a:r>
            <a:r>
              <a:rPr lang="ru-RU" dirty="0"/>
              <a:t> – степень близости друг к другу независимых результатов измерений, полученных в конкретных регламентированных условиях. </a:t>
            </a:r>
          </a:p>
          <a:p>
            <a:r>
              <a:rPr lang="ru-RU" dirty="0" err="1"/>
              <a:t>Прецизионность</a:t>
            </a:r>
            <a:r>
              <a:rPr lang="ru-RU" dirty="0"/>
              <a:t> различают по тем условиям, которые поддерживаются неизменными при измерениях. При этом учитывают следующие факторы, влияющие на изменчивость результатов измерений:</a:t>
            </a:r>
            <a:br>
              <a:rPr lang="ru-RU" dirty="0"/>
            </a:br>
            <a:r>
              <a:rPr lang="ru-RU" dirty="0"/>
              <a:t>	-оператор; </a:t>
            </a:r>
          </a:p>
          <a:p>
            <a:pPr marL="0" indent="0">
              <a:buNone/>
            </a:pPr>
            <a:r>
              <a:rPr lang="ru-RU" dirty="0"/>
              <a:t>	- используемое оборудование; </a:t>
            </a:r>
          </a:p>
          <a:p>
            <a:pPr marL="0" indent="0">
              <a:buNone/>
            </a:pPr>
            <a:r>
              <a:rPr lang="ru-RU" dirty="0"/>
              <a:t>	- калибровка оборудования; </a:t>
            </a:r>
          </a:p>
          <a:p>
            <a:pPr marL="0" indent="0">
              <a:buNone/>
            </a:pPr>
            <a:r>
              <a:rPr lang="ru-RU" dirty="0"/>
              <a:t>	- параметры окружающей среды (температура, влажность, загрязнение воздуха и т. д.); </a:t>
            </a:r>
          </a:p>
          <a:p>
            <a:pPr marL="0" indent="0">
              <a:buNone/>
            </a:pPr>
            <a:r>
              <a:rPr lang="ru-RU" dirty="0"/>
              <a:t>	- интервал времени между измерениями; </a:t>
            </a:r>
            <a:br>
              <a:rPr lang="ru-RU" dirty="0"/>
            </a:br>
            <a:r>
              <a:rPr lang="ru-RU" dirty="0"/>
              <a:t>	- партии реактивов.</a:t>
            </a:r>
          </a:p>
        </p:txBody>
      </p:sp>
    </p:spTree>
    <p:extLst>
      <p:ext uri="{BB962C8B-B14F-4D97-AF65-F5344CB8AC3E}">
        <p14:creationId xmlns:p14="http://schemas.microsoft.com/office/powerpoint/2010/main" val="1020817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Формы </a:t>
            </a:r>
            <a:r>
              <a:rPr lang="ru-RU" b="1" dirty="0" err="1"/>
              <a:t>прецизионности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u="sng" dirty="0"/>
              <a:t>Повторяемость (сходимость)</a:t>
            </a:r>
            <a:r>
              <a:rPr lang="ru-RU" dirty="0"/>
              <a:t> – </a:t>
            </a:r>
            <a:r>
              <a:rPr lang="ru-RU" dirty="0" err="1"/>
              <a:t>прецизионность</a:t>
            </a:r>
            <a:r>
              <a:rPr lang="ru-RU" dirty="0"/>
              <a:t> в условиях повторяемости, при которых независимые результаты измерений (или испытаний) получаются одним и тем же методом на идентичных объектах</a:t>
            </a:r>
            <a:br>
              <a:rPr lang="ru-RU" dirty="0"/>
            </a:br>
            <a:r>
              <a:rPr lang="ru-RU" dirty="0"/>
              <a:t>испытаний, в одной и той же лаборатории, одним и тем же оператором,</a:t>
            </a:r>
            <a:br>
              <a:rPr lang="ru-RU" dirty="0"/>
            </a:br>
            <a:r>
              <a:rPr lang="ru-RU" dirty="0"/>
              <a:t>с использованием одного и того же оборудования, в пределах короткого промежутка времени.</a:t>
            </a:r>
          </a:p>
          <a:p>
            <a:r>
              <a:rPr lang="ru-RU" u="sng" dirty="0" err="1"/>
              <a:t>Воспроизводимость</a:t>
            </a:r>
            <a:r>
              <a:rPr lang="ru-RU" dirty="0"/>
              <a:t> – </a:t>
            </a:r>
            <a:r>
              <a:rPr lang="ru-RU" dirty="0" err="1"/>
              <a:t>прецизионность</a:t>
            </a:r>
            <a:r>
              <a:rPr lang="ru-RU" dirty="0"/>
              <a:t> в условиях </a:t>
            </a:r>
            <a:r>
              <a:rPr lang="ru-RU" dirty="0" err="1"/>
              <a:t>воспроизводимости</a:t>
            </a:r>
            <a:r>
              <a:rPr lang="ru-RU" dirty="0"/>
              <a:t>, при которых результаты измерений (или испытаний) получают</a:t>
            </a:r>
            <a:br>
              <a:rPr lang="ru-RU" dirty="0"/>
            </a:br>
            <a:r>
              <a:rPr lang="ru-RU" dirty="0"/>
              <a:t>одним и тем же методом, на идентичных объектах испытаний, в разных</a:t>
            </a:r>
            <a:br>
              <a:rPr lang="ru-RU" dirty="0"/>
            </a:br>
            <a:r>
              <a:rPr lang="ru-RU" dirty="0"/>
              <a:t>лабораториях, разными операторами, с использованием различного</a:t>
            </a:r>
            <a:br>
              <a:rPr lang="ru-RU" dirty="0"/>
            </a:br>
            <a:r>
              <a:rPr lang="ru-RU" dirty="0"/>
              <a:t>оборудования.</a:t>
            </a:r>
          </a:p>
          <a:p>
            <a:r>
              <a:rPr lang="ru-RU" u="sng" dirty="0"/>
              <a:t>Промежуточная </a:t>
            </a:r>
            <a:r>
              <a:rPr lang="ru-RU" u="sng" dirty="0" err="1"/>
              <a:t>прецизионность</a:t>
            </a:r>
            <a:r>
              <a:rPr lang="ru-RU" dirty="0"/>
              <a:t> – в условиях, отличающихся</a:t>
            </a:r>
            <a:br>
              <a:rPr lang="ru-RU" dirty="0"/>
            </a:br>
            <a:r>
              <a:rPr lang="ru-RU" dirty="0"/>
              <a:t>от условий повторяемости и </a:t>
            </a:r>
            <a:r>
              <a:rPr lang="ru-RU" dirty="0" err="1"/>
              <a:t>воспроизводимости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качестве показателей </a:t>
            </a:r>
            <a:r>
              <a:rPr lang="ru-RU" dirty="0" err="1"/>
              <a:t>прецизионности</a:t>
            </a:r>
            <a:r>
              <a:rPr lang="ru-RU" dirty="0"/>
              <a:t> обычно рассматривают</a:t>
            </a:r>
            <a:br>
              <a:rPr lang="ru-RU" dirty="0"/>
            </a:br>
            <a:r>
              <a:rPr lang="ru-RU" dirty="0"/>
              <a:t>стандартное (среднеквадратичное) отклонение, например, стандартное</a:t>
            </a:r>
            <a:br>
              <a:rPr lang="ru-RU" dirty="0"/>
            </a:br>
            <a:r>
              <a:rPr lang="ru-RU" dirty="0"/>
              <a:t>отклонение повторяемости или стандартное отклонение </a:t>
            </a:r>
            <a:r>
              <a:rPr lang="ru-RU" dirty="0" err="1"/>
              <a:t>воспроизводимости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832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Неопределѐнность</a:t>
            </a:r>
            <a:r>
              <a:rPr lang="ru-RU" b="1" dirty="0"/>
              <a:t> измерений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Неопределѐнность</a:t>
            </a:r>
            <a:r>
              <a:rPr lang="ru-RU" dirty="0"/>
              <a:t> измерений – параметр, связанный с результатом</a:t>
            </a:r>
            <a:br>
              <a:rPr lang="ru-RU" dirty="0"/>
            </a:br>
            <a:r>
              <a:rPr lang="ru-RU" dirty="0"/>
              <a:t>измерений и характеризующий рассеяние значений, которые можно</a:t>
            </a:r>
            <a:br>
              <a:rPr lang="ru-RU" dirty="0"/>
            </a:br>
            <a:r>
              <a:rPr lang="ru-RU" dirty="0"/>
              <a:t>приписать измеряемой величине.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3035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2437</Words>
  <Application>Microsoft Office PowerPoint</Application>
  <PresentationFormat>Экран (4:3)</PresentationFormat>
  <Paragraphs>155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1" baseType="lpstr">
      <vt:lpstr>Arial</vt:lpstr>
      <vt:lpstr>Calibri</vt:lpstr>
      <vt:lpstr>Тема Office</vt:lpstr>
      <vt:lpstr>Тема1 Методы анализа функциональных материалов  ЭС</vt:lpstr>
      <vt:lpstr>Содержание темы</vt:lpstr>
      <vt:lpstr> Лекция  Правила отбора и подготовка пробы к анализу. Статистическая обработка результатов анализа. </vt:lpstr>
      <vt:lpstr>Содержание и этапы методов контроля и анализа веществ в технологии ЭС</vt:lpstr>
      <vt:lpstr>Химические и физические методы определения веществ</vt:lpstr>
      <vt:lpstr>  ПОДГОТОВКА ПРОБЫ К ПРОВЕДЕНИЮ ХИМИЧЕСКОГО АНАЛИЗА  ВЕЩЕСТВ  </vt:lpstr>
      <vt:lpstr>Виды проб</vt:lpstr>
      <vt:lpstr>Отбор проб газов</vt:lpstr>
      <vt:lpstr>Отбор проб жидкостей</vt:lpstr>
      <vt:lpstr>Отбор пробы твердых веществ </vt:lpstr>
      <vt:lpstr>Отбор от целого слитка, стержня</vt:lpstr>
      <vt:lpstr>Отбор пробы сыпучих продуктов</vt:lpstr>
      <vt:lpstr>Лабораторные мельницы</vt:lpstr>
      <vt:lpstr>Виброгрохот</vt:lpstr>
      <vt:lpstr>Потери при пробоотборе и хранение пробы</vt:lpstr>
      <vt:lpstr>Подготовка пробы к анализу</vt:lpstr>
      <vt:lpstr>Высушивание образцов</vt:lpstr>
      <vt:lpstr>Разложение образцов</vt:lpstr>
      <vt:lpstr>Печь и приспособления для сплавления образцов</vt:lpstr>
      <vt:lpstr>СТАТИСТИЧЕСКАЯ ОБРАБОТКА РЕЗУЛЬТАТОВ АНАЛИЗА</vt:lpstr>
      <vt:lpstr>Методы измерений при анализе веществ</vt:lpstr>
      <vt:lpstr>Погрешности измерений</vt:lpstr>
      <vt:lpstr>Определение погрешностей</vt:lpstr>
      <vt:lpstr>Термины в измерениях</vt:lpstr>
      <vt:lpstr>Точность и правильность измерений</vt:lpstr>
      <vt:lpstr>Прецизионность</vt:lpstr>
      <vt:lpstr>Формы прецизионности</vt:lpstr>
      <vt:lpstr>Неопределѐнность измерений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анализа функциональных материалов  ЭС</dc:title>
  <dc:creator>-</dc:creator>
  <cp:lastModifiedBy>User</cp:lastModifiedBy>
  <cp:revision>41</cp:revision>
  <dcterms:created xsi:type="dcterms:W3CDTF">2016-09-05T13:44:58Z</dcterms:created>
  <dcterms:modified xsi:type="dcterms:W3CDTF">2025-09-01T08:56:30Z</dcterms:modified>
</cp:coreProperties>
</file>