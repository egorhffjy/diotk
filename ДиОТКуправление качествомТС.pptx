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9" r:id="rId31"/>
    <p:sldId id="280" r:id="rId32"/>
    <p:sldId id="286" r:id="rId33"/>
    <p:sldId id="287" r:id="rId34"/>
    <p:sldId id="288" r:id="rId3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61" autoAdjust="0"/>
  </p:normalViewPr>
  <p:slideViewPr>
    <p:cSldViewPr>
      <p:cViewPr varScale="1">
        <p:scale>
          <a:sx n="72" d="100"/>
          <a:sy n="72" d="100"/>
        </p:scale>
        <p:origin x="150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1DDCC-683A-4A3E-B626-839017D1D4E7}" type="datetimeFigureOut">
              <a:rPr lang="ru-RU" smtClean="0"/>
              <a:pPr/>
              <a:t>22.11.2024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D489D-86BC-48AD-98E1-D065B58CFE7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423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1DDCC-683A-4A3E-B626-839017D1D4E7}" type="datetimeFigureOut">
              <a:rPr lang="ru-RU" smtClean="0"/>
              <a:pPr/>
              <a:t>22.11.2024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D489D-86BC-48AD-98E1-D065B58CFE7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8221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1DDCC-683A-4A3E-B626-839017D1D4E7}" type="datetimeFigureOut">
              <a:rPr lang="ru-RU" smtClean="0"/>
              <a:pPr/>
              <a:t>22.11.2024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D489D-86BC-48AD-98E1-D065B58CFE7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39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1DDCC-683A-4A3E-B626-839017D1D4E7}" type="datetimeFigureOut">
              <a:rPr lang="ru-RU" smtClean="0"/>
              <a:pPr/>
              <a:t>22.11.2024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D489D-86BC-48AD-98E1-D065B58CFE7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10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1DDCC-683A-4A3E-B626-839017D1D4E7}" type="datetimeFigureOut">
              <a:rPr lang="ru-RU" smtClean="0"/>
              <a:pPr/>
              <a:t>22.11.2024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D489D-86BC-48AD-98E1-D065B58CFE7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232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1DDCC-683A-4A3E-B626-839017D1D4E7}" type="datetimeFigureOut">
              <a:rPr lang="ru-RU" smtClean="0"/>
              <a:pPr/>
              <a:t>22.11.2024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D489D-86BC-48AD-98E1-D065B58CFE7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947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1DDCC-683A-4A3E-B626-839017D1D4E7}" type="datetimeFigureOut">
              <a:rPr lang="ru-RU" smtClean="0"/>
              <a:pPr/>
              <a:t>22.11.2024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D489D-86BC-48AD-98E1-D065B58CFE7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433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1DDCC-683A-4A3E-B626-839017D1D4E7}" type="datetimeFigureOut">
              <a:rPr lang="ru-RU" smtClean="0"/>
              <a:pPr/>
              <a:t>22.11.2024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D489D-86BC-48AD-98E1-D065B58CFE7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524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1DDCC-683A-4A3E-B626-839017D1D4E7}" type="datetimeFigureOut">
              <a:rPr lang="ru-RU" smtClean="0"/>
              <a:pPr/>
              <a:t>22.11.2024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D489D-86BC-48AD-98E1-D065B58CFE7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375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1DDCC-683A-4A3E-B626-839017D1D4E7}" type="datetimeFigureOut">
              <a:rPr lang="ru-RU" smtClean="0"/>
              <a:pPr/>
              <a:t>22.11.2024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D489D-86BC-48AD-98E1-D065B58CFE7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8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1DDCC-683A-4A3E-B626-839017D1D4E7}" type="datetimeFigureOut">
              <a:rPr lang="ru-RU" smtClean="0"/>
              <a:pPr/>
              <a:t>22.11.2024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D489D-86BC-48AD-98E1-D065B58CFE7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6173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1DDCC-683A-4A3E-B626-839017D1D4E7}" type="datetimeFigureOut">
              <a:rPr lang="ru-RU" smtClean="0"/>
              <a:pPr/>
              <a:t>22.11.2024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D489D-86BC-48AD-98E1-D065B58CFE7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477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 Управление качеством технологических систем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8263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685800" y="620688"/>
            <a:ext cx="7772400" cy="2979763"/>
          </a:xfrm>
        </p:spPr>
        <p:txBody>
          <a:bodyPr>
            <a:normAutofit fontScale="90000"/>
          </a:bodyPr>
          <a:lstStyle/>
          <a:p>
            <a:br>
              <a:rPr lang="ru-RU" b="1" dirty="0"/>
            </a:br>
            <a:r>
              <a:rPr lang="ru-RU" b="1" dirty="0"/>
              <a:t>Проектирование организационной структуры контроля обслуживания и качества в технологической системе</a:t>
            </a:r>
            <a:br>
              <a:rPr lang="ru-RU" dirty="0"/>
            </a:b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043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Современные ЭС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Современные электронные средства (ЭС) </a:t>
            </a:r>
            <a:r>
              <a:rPr lang="ru-RU" b="1" dirty="0"/>
              <a:t>в составе технологических систем </a:t>
            </a:r>
            <a:r>
              <a:rPr lang="ru-RU" dirty="0"/>
              <a:t>– класс устройств, который способен передавать, принимать, хранить, обрабатывать и выводить некоторую информацию с помощью вычислительных и логических операций по определённым алгоритмам и программам.</a:t>
            </a:r>
          </a:p>
          <a:p>
            <a:r>
              <a:rPr lang="ru-RU" dirty="0"/>
              <a:t>Электронные средства служат для интенсификации</a:t>
            </a:r>
            <a:br>
              <a:rPr lang="ru-RU" dirty="0"/>
            </a:br>
            <a:r>
              <a:rPr lang="ru-RU" dirty="0"/>
              <a:t>выполняемых работ, повышения скорости и точности решения научно-исследовательских задач, контроля, управления техническими</a:t>
            </a:r>
            <a:br>
              <a:rPr lang="ru-RU" dirty="0"/>
            </a:br>
            <a:r>
              <a:rPr lang="ru-RU" dirty="0"/>
              <a:t>процессами, и т.п.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3682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Зависимость функциональности и надежности от сложности ЭС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052936"/>
          </a:xfrm>
        </p:spPr>
        <p:txBody>
          <a:bodyPr>
            <a:normAutofit lnSpcReduction="10000"/>
          </a:bodyPr>
          <a:lstStyle/>
          <a:p>
            <a:r>
              <a:rPr lang="ru-RU" sz="2200" dirty="0"/>
              <a:t>ЭС состоят из функциональных узлов, из которых состоят блоки аппаратуры. В свою очередь, из блоков формируется прибор, из приборов – составляется система, из систем формируется самый сложный из элементов – комплекс (см. рис. ). </a:t>
            </a:r>
          </a:p>
          <a:p>
            <a:r>
              <a:rPr lang="ru-RU" sz="2200" i="1" dirty="0"/>
              <a:t>Комплекс</a:t>
            </a:r>
            <a:r>
              <a:rPr lang="ru-RU" sz="2200" b="1" i="1" dirty="0"/>
              <a:t> </a:t>
            </a:r>
            <a:r>
              <a:rPr lang="ru-RU" sz="2200" dirty="0"/>
              <a:t>– совокупность систем, объединенных общим </a:t>
            </a:r>
            <a:br>
              <a:rPr lang="ru-RU" sz="2200" dirty="0"/>
            </a:br>
            <a:r>
              <a:rPr lang="ru-RU" sz="2200" dirty="0"/>
              <a:t>замыслом для решения определенного круга задач. Отдельные</a:t>
            </a:r>
            <a:br>
              <a:rPr lang="ru-RU" sz="2200" dirty="0"/>
            </a:br>
            <a:r>
              <a:rPr lang="ru-RU" sz="2200" dirty="0"/>
              <a:t>системы, входящие в комплекс, могут находиться на большом</a:t>
            </a:r>
            <a:br>
              <a:rPr lang="ru-RU" sz="2200" dirty="0"/>
            </a:br>
            <a:r>
              <a:rPr lang="ru-RU" sz="2200" dirty="0"/>
              <a:t>расстоянии друг от друга. С ростом сложности ЭС функциональность их растет, а надежность падает.</a:t>
            </a:r>
          </a:p>
          <a:p>
            <a:endParaRPr lang="ru-RU" sz="1800" dirty="0"/>
          </a:p>
          <a:p>
            <a:endParaRPr lang="ru-RU" sz="1800" dirty="0"/>
          </a:p>
        </p:txBody>
      </p:sp>
      <p:pic>
        <p:nvPicPr>
          <p:cNvPr id="8" name="Рисунок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5696" y="4797152"/>
            <a:ext cx="5904656" cy="206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00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Свойства сложных ЭС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7500" lnSpcReduction="20000"/>
          </a:bodyPr>
          <a:lstStyle/>
          <a:p>
            <a:r>
              <a:rPr lang="ru-RU" sz="2900" dirty="0"/>
              <a:t>Современные ЭС являются сложными техническими системами</a:t>
            </a:r>
            <a:br>
              <a:rPr lang="ru-RU" sz="2900" dirty="0"/>
            </a:br>
            <a:r>
              <a:rPr lang="ru-RU" sz="2900" dirty="0"/>
              <a:t>(ТС) и обладают следующими свойствами: </a:t>
            </a:r>
          </a:p>
          <a:p>
            <a:r>
              <a:rPr lang="ru-RU" sz="2900" dirty="0"/>
              <a:t>- большое число взаимосвязанных элементов, узлов и деталей;</a:t>
            </a:r>
          </a:p>
          <a:p>
            <a:r>
              <a:rPr lang="ru-RU" sz="2900" dirty="0"/>
              <a:t>- большое число внутренних и внешних связей;</a:t>
            </a:r>
          </a:p>
          <a:p>
            <a:r>
              <a:rPr lang="ru-RU" sz="2900" dirty="0"/>
              <a:t>- взаимодействие системы с окружающей средой и человеком оператором (при котором может снижаться надежность, точность, а, следовательно, происходить разрушение аппаратуры);  </a:t>
            </a:r>
          </a:p>
          <a:p>
            <a:r>
              <a:rPr lang="ru-RU" sz="2900" dirty="0"/>
              <a:t>- иерархичность структуры;</a:t>
            </a:r>
          </a:p>
          <a:p>
            <a:r>
              <a:rPr lang="ru-RU" sz="2900" dirty="0"/>
              <a:t>- стохастический характер поведения системы (случайный,</a:t>
            </a:r>
            <a:br>
              <a:rPr lang="ru-RU" sz="2900" dirty="0"/>
            </a:br>
            <a:r>
              <a:rPr lang="ru-RU" sz="2900" dirty="0"/>
              <a:t>непредсказуемый);</a:t>
            </a:r>
          </a:p>
          <a:p>
            <a:r>
              <a:rPr lang="ru-RU" sz="2900" dirty="0"/>
              <a:t>- изменчивость системы во времени (при этом происходит</a:t>
            </a:r>
            <a:br>
              <a:rPr lang="ru-RU" sz="2900" dirty="0"/>
            </a:br>
            <a:r>
              <a:rPr lang="ru-RU" sz="2900" dirty="0"/>
              <a:t>старение, сбои).</a:t>
            </a:r>
          </a:p>
          <a:p>
            <a:r>
              <a:rPr lang="ru-RU" sz="2900" dirty="0"/>
              <a:t>Совокупность взаимосвязанных сложных т</a:t>
            </a:r>
            <a:r>
              <a:rPr lang="ru-RU" dirty="0"/>
              <a:t>ехнических систем представляет собой </a:t>
            </a:r>
            <a:r>
              <a:rPr lang="ru-RU" i="1" dirty="0"/>
              <a:t>большую систему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0589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Качество ЭС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Качество продукции относится к числу важнейших показателей деятельности предприятия. Повышение качества продукции в значительной мере определяет выживаемость</a:t>
            </a:r>
            <a:br>
              <a:rPr lang="ru-RU" dirty="0"/>
            </a:br>
            <a:r>
              <a:rPr lang="ru-RU" dirty="0"/>
              <a:t>предприятия в условиях рынка, темпы технического прогресса,</a:t>
            </a:r>
            <a:br>
              <a:rPr lang="ru-RU" dirty="0"/>
            </a:br>
            <a:r>
              <a:rPr lang="ru-RU" dirty="0"/>
              <a:t>внедрение инноваций, рост эффективности производства, экономию всех видов ресурсов, используемых на предприятии.</a:t>
            </a:r>
          </a:p>
          <a:p>
            <a:r>
              <a:rPr lang="ru-RU" dirty="0"/>
              <a:t> В современных условиях конкуренция между предприятиями развертывается главным образом на поле качества выпускаемой продукции.</a:t>
            </a:r>
          </a:p>
          <a:p>
            <a:r>
              <a:rPr lang="ru-RU" dirty="0"/>
              <a:t>Мы, в свою очередь, будем понимать под качеством, прежде</a:t>
            </a:r>
            <a:br>
              <a:rPr lang="ru-RU" dirty="0"/>
            </a:br>
            <a:r>
              <a:rPr lang="ru-RU" b="1" dirty="0"/>
              <a:t>всего совокупность количественных показателей ЭС – ТС, которая отвечает требованиям ТУ, благодаря чему ЭС может быть использовано по назначению.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2627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Управление качеством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Понятие «управление качеством» как наука возникло в конце 19-го столетия, с переходом промышленного производства на принципы разделения труда. Принцип разделения труда потребовал решения проблемы взаимозаменяемости и точности производства.</a:t>
            </a:r>
          </a:p>
          <a:p>
            <a:r>
              <a:rPr lang="ru-RU" dirty="0"/>
              <a:t> До этого при ремесленном способе производстве продукции обеспечение точности готового продукта производилось по образцам или методами подгонки сопрягаемых деталей и узлов.</a:t>
            </a:r>
          </a:p>
          <a:p>
            <a:r>
              <a:rPr lang="ru-RU" dirty="0"/>
              <a:t>Учитывая значительные вариации параметров процесса, становилось ясно, что нужен критерий качества производства продукции, позволяющий ограничить отклонения размеров при массовом изготовлении деталей.</a:t>
            </a:r>
          </a:p>
          <a:p>
            <a:r>
              <a:rPr lang="ru-RU" dirty="0"/>
              <a:t>В качестве такого критерия  Ф. Тейлором были предложены интервалы, устанавливающие пределы отклонений параметров в виде нижних и верхних границ. </a:t>
            </a:r>
          </a:p>
          <a:p>
            <a:r>
              <a:rPr lang="ru-RU" dirty="0"/>
              <a:t>Поле значений такого интервала стали называть </a:t>
            </a:r>
            <a:r>
              <a:rPr lang="ru-RU" i="1" dirty="0"/>
              <a:t>допуском.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5202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Допуск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Установление допуска привело к противостоянию интересов конструкторов и производственников: одним ужесточение допуска обеспечивало повышение качества соединения элементов конструкции, другим – создавало сложности с созданием технологической системы, обеспечивающей требуемые значения вариаций процесса. Очевидно также, что при наличии разрешенных границ допуска у изготовителей не было мотивации «держать» показатели (параметры) изделия как можно ближе к номинальному значению</a:t>
            </a:r>
            <a:br>
              <a:rPr lang="ru-RU" dirty="0"/>
            </a:br>
            <a:r>
              <a:rPr lang="ru-RU" dirty="0"/>
              <a:t>параметра, это приводило к выходу значений параметра за пределы допуска.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0878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Выход параметра за пределы допуска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 тоже время (начало 20-х годов прошлого столетия) некоторых специалистов в промышленности заинтересовало, можно ли предсказать выход параметра за пределы допуска. И они стали уделять основное внимание не самому факту брака продукции, а поведению технологического процесса, в результате которого возникает этот брак или отклонение параметра от установленного допуска. </a:t>
            </a:r>
          </a:p>
          <a:p>
            <a:r>
              <a:rPr lang="ru-RU" dirty="0"/>
              <a:t>В результате исследования вариабельности технологических процессов появились статистические методы управления процессами. Родоначальником этих методов был </a:t>
            </a:r>
            <a:r>
              <a:rPr lang="ru-RU" dirty="0" err="1"/>
              <a:t>В.Шухарт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0272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Роль  статистических методов контроля качества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Одновременно с этим большое внимание уделялось разработке теории выборочного контроля продукции. Первые работы в этой области появились в конце 20-х годов в США, автором их был </a:t>
            </a:r>
            <a:r>
              <a:rPr lang="ru-RU" dirty="0" err="1"/>
              <a:t>Г.Додж</a:t>
            </a:r>
            <a:r>
              <a:rPr lang="ru-RU" dirty="0"/>
              <a:t>, ставший впоследствии известным американским ученым. </a:t>
            </a:r>
          </a:p>
          <a:p>
            <a:r>
              <a:rPr lang="ru-RU" dirty="0"/>
              <a:t>С момента зарождения статистических методов контроля качества специалисты понимали, что качество продукции формируется в результате сложных процессов, на результативность которых оказывают влияние множество материальных факторов и ошибки работников. </a:t>
            </a:r>
          </a:p>
          <a:p>
            <a:r>
              <a:rPr lang="ru-RU" dirty="0"/>
              <a:t>Поэтому для обеспечения требуемого уровня качества нужно уметь управлять всеми влияющими факторами, определять возможные варианты реализации качества, научиться его прогнозировать и оценивать потребность объектов того или иного качества.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744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Стандарты и принципы управления качеством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В послевоенное время и в США, и в Европе появились национальные стандарты по качеству. Центральная роль в разработке нормативных документов в области качества принадлежит Международной организации по стандартизации (ISO). Начиная с 90-х годов, идеи теории вариаций, статистического управления процессами (SPC) овладели не только специалистами математиками, но и стали неотъемлемыми инструментами менеджеров и работников служб качества. </a:t>
            </a:r>
          </a:p>
          <a:p>
            <a:r>
              <a:rPr lang="ru-RU" dirty="0"/>
              <a:t>Большой толчок дальнейшему развитию принципов управления качеством дал японский ученый Г. </a:t>
            </a:r>
            <a:r>
              <a:rPr lang="ru-RU" dirty="0" err="1"/>
              <a:t>Тагути</a:t>
            </a:r>
            <a:r>
              <a:rPr lang="ru-RU" dirty="0"/>
              <a:t>. Он предложил учитывать вариации свойств продукции на разных этапах ее разработки, что для менеджмента качества явилось революционной идеей. По </a:t>
            </a:r>
            <a:r>
              <a:rPr lang="ru-RU" dirty="0" err="1"/>
              <a:t>Тагути</a:t>
            </a:r>
            <a:r>
              <a:rPr lang="ru-RU" dirty="0"/>
              <a:t> нужно было установить те сочетания параметров изделий и процессов, которые приводили к минимуму вариаций процессов. Эти процессы, которые стали называть робастными, были устойчивы к вариациям входных параметров процессов.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18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Категории статистических методов контроля качества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Используемые в сегодняшней практике предприятий статистические методы можно подразделить на следующие категории:</a:t>
            </a:r>
            <a:br>
              <a:rPr lang="ru-RU" dirty="0"/>
            </a:br>
            <a:r>
              <a:rPr lang="ru-RU" dirty="0"/>
              <a:t>- методы высокого уровня сложности, которые используются разработчиками систем управления предприятием или процессами. К ним относятся методы кластерного анализа, адаптивные робастные статистики и др.,</a:t>
            </a:r>
            <a:br>
              <a:rPr lang="ru-RU" dirty="0"/>
            </a:br>
            <a:r>
              <a:rPr lang="ru-RU" dirty="0"/>
              <a:t>- методы специальные, которые используются при разработке операций технического контроля, планировании промышленных экспериментов, расчетах на точность и надежность и т.д.,</a:t>
            </a:r>
          </a:p>
          <a:p>
            <a:r>
              <a:rPr lang="ru-RU" dirty="0"/>
              <a:t>- методы общего назначения, в разработку которых большой вклад внесли японские специалисты. К ним относятся «Семь простых методов» (или «Семь инструментов качества»), включающие в себя контрольные листки; метод расслоения; графики; диаграммы Парето; диаграммы </a:t>
            </a:r>
            <a:r>
              <a:rPr lang="ru-RU" dirty="0" err="1"/>
              <a:t>Исикавы</a:t>
            </a:r>
            <a:r>
              <a:rPr lang="ru-RU" dirty="0"/>
              <a:t>; гистограммы; контрольные карты.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6960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Организационная структура контроля качества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В связи с усложнением современных изделий ЭС усложняется и технологический процесс их изготовления. Оптимальность проектирования такого процесса представляет собой серьезную проблему и оказывает большое влияние на эффективность производства. </a:t>
            </a:r>
          </a:p>
          <a:p>
            <a:r>
              <a:rPr lang="ru-RU" dirty="0"/>
              <a:t>В числе других задач при разработке ТП необходимо решать задачу проектирования </a:t>
            </a:r>
            <a:r>
              <a:rPr lang="ru-RU" u="sng" dirty="0"/>
              <a:t>организационной структуры контроля качества</a:t>
            </a:r>
            <a:r>
              <a:rPr lang="ru-RU" dirty="0"/>
              <a:t>, которую условно можно разделить на задачу размещения   контрольных  операций (КО) внутри ТП ( будем понимать под этим как определение точек контроля внутри ТП, так и состав контролируемых параметров в этих точках) и задачу выбора контрольного оборудования в заданных для контроля точках.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27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Задача расстановки контрольных операций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Вначале рассмотрим первую из этих задач – расстановку контрольных операций (КО). Известен эмпирический метод ее решения, в котором расстановка КО производится на основание опыта, приобретенного при разработке и эксплуатации аналогичных ТП. </a:t>
            </a:r>
          </a:p>
          <a:p>
            <a:r>
              <a:rPr lang="ru-RU" dirty="0"/>
              <a:t>Из-за сложности исходной информации при таком подходе возможно принятие далеких от оптимальности решений, что может  привести за длительное время функционирования ТП к существенным потерям производства. Отсюда видна необходимость применения регулярных методов расстановки КО.</a:t>
            </a:r>
          </a:p>
        </p:txBody>
      </p:sp>
    </p:spTree>
    <p:extLst>
      <p:ext uri="{BB962C8B-B14F-4D97-AF65-F5344CB8AC3E}">
        <p14:creationId xmlns:p14="http://schemas.microsoft.com/office/powerpoint/2010/main" val="4243553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628801"/>
            <a:ext cx="7772400" cy="1971650"/>
          </a:xfrm>
        </p:spPr>
        <p:txBody>
          <a:bodyPr>
            <a:normAutofit fontScale="90000"/>
          </a:bodyPr>
          <a:lstStyle/>
          <a:p>
            <a:br>
              <a:rPr lang="ru-RU" b="1" dirty="0"/>
            </a:br>
            <a:r>
              <a:rPr lang="ru-RU" b="1" dirty="0"/>
              <a:t>Критерий оптимальности организационной структуры контроля качества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436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Критерий минимума средних потерь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Рассмотрим метод, критерием оптимальности расстановки КО в котором является  критерий </a:t>
            </a:r>
            <a:r>
              <a:rPr lang="ru-RU" u="sng" dirty="0"/>
              <a:t>минимума средних потерь</a:t>
            </a:r>
            <a:r>
              <a:rPr lang="ru-RU" dirty="0"/>
              <a:t>. Поскольку выходной контроль является обязательной операцией, предполагается, что потребителю поступает годное изделие (если пренебречь ошибками оборудования выходного контроля, скрытым браком и возможностью выборочного контроля). </a:t>
            </a:r>
          </a:p>
          <a:p>
            <a:r>
              <a:rPr lang="ru-RU" dirty="0"/>
              <a:t>При этом возможны две крайние ситуации расстановки КО. В одной из них кроме выходного контроля все другие КО отсутствуют. В этом случае брак, допущенный в ходе выполнения ТП, обнаруживается лишь после полного изготовления изделия, что приводит к частичной или полной потере стоимостей труда и материалов, затраченных на изготовление бракованного изделия. Потери же, связанные с выполнением КО, минимальны.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69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/>
              <a:t>Вычислении функции потерь для каждого способа расстановки контроля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В другой крайней ситуации КО можно поставить после каждой операции ТП. Тогда потери от изготовления бракованного изделия сведутся к минимуму, но будет предельно велика стоимость контроля.</a:t>
            </a:r>
          </a:p>
          <a:p>
            <a:r>
              <a:rPr lang="ru-RU" dirty="0"/>
              <a:t>Критерий минимума средних потерь предполагает такую расстановку КО, при которой сумма средних потерь от брака и от стоимости контроля будет </a:t>
            </a:r>
            <a:r>
              <a:rPr lang="ru-RU" u="sng" dirty="0"/>
              <a:t>минимальна</a:t>
            </a:r>
            <a:r>
              <a:rPr lang="ru-RU" dirty="0"/>
              <a:t>. </a:t>
            </a:r>
          </a:p>
          <a:p>
            <a:r>
              <a:rPr lang="ru-RU" dirty="0"/>
              <a:t>Следовательно, содержание метода расстановки КО по критерию минимума средних потерь состоит в вычислении функции потерь для каждого способа расстановки контроля и нахождении среди этих способов такого, для которого </a:t>
            </a:r>
            <a:r>
              <a:rPr lang="ru-RU" i="1" dirty="0"/>
              <a:t>величина средних потерь минимальна.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7696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Математическая модель ТП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13176"/>
          </a:xfrm>
        </p:spPr>
        <p:txBody>
          <a:bodyPr>
            <a:normAutofit/>
          </a:bodyPr>
          <a:lstStyle/>
          <a:p>
            <a:r>
              <a:rPr lang="ru-RU" sz="2000" dirty="0"/>
              <a:t>Представим ТП последовательностью </a:t>
            </a:r>
            <a:r>
              <a:rPr lang="en-US" sz="2000" dirty="0"/>
              <a:t>n</a:t>
            </a:r>
            <a:r>
              <a:rPr lang="ru-RU" sz="2000" dirty="0"/>
              <a:t> операций</a:t>
            </a:r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Обозначим через </a:t>
            </a:r>
            <a:r>
              <a:rPr lang="en-US" sz="2000" dirty="0"/>
              <a:t>S</a:t>
            </a:r>
            <a:r>
              <a:rPr lang="en-US" sz="2000" baseline="-25000" dirty="0"/>
              <a:t>i</a:t>
            </a:r>
            <a:r>
              <a:rPr lang="ru-RU" sz="2000" dirty="0"/>
              <a:t>  состояние изделия на </a:t>
            </a:r>
            <a:r>
              <a:rPr lang="en-US" sz="2000" i="1" dirty="0" err="1"/>
              <a:t>i</a:t>
            </a:r>
            <a:r>
              <a:rPr lang="ru-RU" sz="2000" dirty="0"/>
              <a:t>-м шаге ТП. В случае, если </a:t>
            </a:r>
            <a:r>
              <a:rPr lang="en-US" sz="2000" i="1" dirty="0" err="1"/>
              <a:t>i</a:t>
            </a:r>
            <a:r>
              <a:rPr lang="ru-RU" sz="2000" dirty="0"/>
              <a:t>-я  операция </a:t>
            </a:r>
            <a:r>
              <a:rPr lang="en-US" sz="2000" dirty="0"/>
              <a:t>  </a:t>
            </a:r>
            <a:r>
              <a:rPr lang="ru-RU" sz="2000" dirty="0"/>
              <a:t>выполнена успешно, </a:t>
            </a:r>
            <a:r>
              <a:rPr lang="en-US" sz="2000" dirty="0"/>
              <a:t>S</a:t>
            </a:r>
            <a:r>
              <a:rPr lang="en-US" sz="2000" baseline="-25000" dirty="0"/>
              <a:t>i</a:t>
            </a:r>
            <a:r>
              <a:rPr lang="ru-RU" sz="2000" dirty="0"/>
              <a:t> </a:t>
            </a:r>
            <a:r>
              <a:rPr lang="en-US" sz="2000" dirty="0"/>
              <a:t>= 1 </a:t>
            </a:r>
            <a:r>
              <a:rPr lang="ru-RU" sz="2000" dirty="0"/>
              <a:t>. Если на </a:t>
            </a:r>
            <a:r>
              <a:rPr lang="en-US" sz="2000" i="1" dirty="0" err="1"/>
              <a:t>i</a:t>
            </a:r>
            <a:r>
              <a:rPr lang="ru-RU" sz="2000" dirty="0"/>
              <a:t>-й операции допущен брак</a:t>
            </a:r>
            <a:r>
              <a:rPr lang="en-US" sz="2000" dirty="0"/>
              <a:t>, S</a:t>
            </a:r>
            <a:r>
              <a:rPr lang="en-US" sz="2000" baseline="-25000" dirty="0"/>
              <a:t>i</a:t>
            </a:r>
            <a:r>
              <a:rPr lang="ru-RU" sz="2000" baseline="-25000" dirty="0"/>
              <a:t> </a:t>
            </a:r>
            <a:r>
              <a:rPr lang="en-US" sz="2000" dirty="0"/>
              <a:t>= 0</a:t>
            </a:r>
            <a:r>
              <a:rPr lang="ru-RU" sz="2000" dirty="0"/>
              <a:t> . </a:t>
            </a:r>
            <a:endParaRPr lang="en-US" sz="2000" dirty="0"/>
          </a:p>
          <a:p>
            <a:r>
              <a:rPr lang="ru-RU" sz="2000" dirty="0"/>
              <a:t>Очевидно, что ТП изготовления изделия является статистическим и его математическая модель должна носить вероятностный характер. Полным статистическим описанием изделия после выполнения всех </a:t>
            </a:r>
            <a:r>
              <a:rPr lang="en-US" sz="2000" dirty="0"/>
              <a:t>n</a:t>
            </a:r>
            <a:r>
              <a:rPr lang="ru-RU" sz="2000" dirty="0"/>
              <a:t> операций будет </a:t>
            </a:r>
            <a:r>
              <a:rPr lang="en-US" sz="2000" i="1" dirty="0"/>
              <a:t>n</a:t>
            </a:r>
            <a:r>
              <a:rPr lang="ru-RU" sz="2000" dirty="0"/>
              <a:t>-мерное распределение вероятностей состояния изделия</a:t>
            </a:r>
          </a:p>
          <a:p>
            <a:endParaRPr lang="ru-RU" sz="2000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98997"/>
            <a:ext cx="7450428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9" y="6093296"/>
            <a:ext cx="2444999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0457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Вероятность исправности технологических операций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925144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Поясним смысл этого распределения на примере ТП, состоящего из двух операций. В этом случае возможны 4 состояния изделия:</a:t>
            </a:r>
          </a:p>
          <a:p>
            <a:r>
              <a:rPr lang="ru-RU" dirty="0"/>
              <a:t>- обе операции исправны. Вероятность этого события </a:t>
            </a:r>
          </a:p>
          <a:p>
            <a:pPr marL="457200" lvl="1" indent="0">
              <a:buNone/>
            </a:pPr>
            <a:r>
              <a:rPr lang="ru-RU" dirty="0"/>
              <a:t> </a:t>
            </a:r>
            <a:r>
              <a:rPr lang="en-US" dirty="0"/>
              <a:t>	</a:t>
            </a:r>
            <a:r>
              <a:rPr lang="ru-RU" dirty="0"/>
              <a:t>                                                             ;</a:t>
            </a:r>
            <a:r>
              <a:rPr lang="en-US" dirty="0"/>
              <a:t>				</a:t>
            </a:r>
            <a:endParaRPr lang="ru-RU" dirty="0"/>
          </a:p>
          <a:p>
            <a:r>
              <a:rPr lang="ru-RU" dirty="0"/>
              <a:t>- первая операция выполнена с браком, вторая выполнена успешно       	                                                       ;</a:t>
            </a:r>
          </a:p>
          <a:p>
            <a:r>
              <a:rPr lang="ru-RU" dirty="0"/>
              <a:t>- первая операция выполнена успешно, вторая с браком –</a:t>
            </a:r>
          </a:p>
          <a:p>
            <a:pPr marL="457200" lvl="1" indent="0">
              <a:buNone/>
            </a:pPr>
            <a:r>
              <a:rPr lang="ru-RU" dirty="0"/>
              <a:t> 	       	  		             ;</a:t>
            </a:r>
          </a:p>
          <a:p>
            <a:r>
              <a:rPr lang="ru-RU" dirty="0"/>
              <a:t>- обе операции выполнены с браком – </a:t>
            </a:r>
          </a:p>
          <a:p>
            <a:r>
              <a:rPr lang="ru-RU" dirty="0"/>
              <a:t>	            				.</a:t>
            </a:r>
          </a:p>
          <a:p>
            <a:r>
              <a:rPr lang="ru-RU" dirty="0"/>
              <a:t>При  </a:t>
            </a:r>
            <a:r>
              <a:rPr lang="en-US" dirty="0"/>
              <a:t>n</a:t>
            </a:r>
            <a:r>
              <a:rPr lang="ru-RU" dirty="0"/>
              <a:t> операций число состояний будет  2</a:t>
            </a:r>
            <a:r>
              <a:rPr lang="en-US" baseline="30000" dirty="0"/>
              <a:t>n</a:t>
            </a:r>
            <a:r>
              <a:rPr lang="ru-RU" dirty="0"/>
              <a:t> . Состояние изделия на </a:t>
            </a:r>
            <a:r>
              <a:rPr lang="en-US" i="1" dirty="0" err="1"/>
              <a:t>i</a:t>
            </a:r>
            <a:r>
              <a:rPr lang="ru-RU" dirty="0"/>
              <a:t>-м шаге ТП определяется состоянием на (</a:t>
            </a:r>
            <a:r>
              <a:rPr lang="en-US" i="1" dirty="0" err="1"/>
              <a:t>i</a:t>
            </a:r>
            <a:r>
              <a:rPr lang="ru-RU" dirty="0"/>
              <a:t> –1)-м шаге и вероятностями перехода в состояние на </a:t>
            </a:r>
            <a:r>
              <a:rPr lang="en-US" i="1" dirty="0" err="1"/>
              <a:t>i</a:t>
            </a:r>
            <a:r>
              <a:rPr lang="ru-RU" dirty="0"/>
              <a:t>-м шаге: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 	</a:t>
            </a:r>
            <a:r>
              <a:rPr lang="en-US" dirty="0"/>
              <a:t>					</a:t>
            </a:r>
            <a:r>
              <a:rPr lang="ru-RU" dirty="0"/>
              <a:t>(2)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100" y="4509120"/>
            <a:ext cx="12573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926" y="3748989"/>
            <a:ext cx="1291447" cy="320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900" y="3187913"/>
            <a:ext cx="13335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546610"/>
            <a:ext cx="1391509" cy="350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407" y="5877272"/>
            <a:ext cx="4673629" cy="44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2645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b="1" dirty="0"/>
              <a:t>Получение математической мо</a:t>
            </a:r>
            <a:r>
              <a:rPr lang="ru-RU" b="1" dirty="0"/>
              <a:t>дели</a:t>
            </a:r>
            <a:r>
              <a:rPr lang="en-US" b="1" dirty="0"/>
              <a:t> </a:t>
            </a:r>
            <a:r>
              <a:rPr lang="ru-RU" b="1" dirty="0"/>
              <a:t>ТП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1800" dirty="0"/>
              <a:t>Последовательно применяя формулу (2) ко всем операциям ТП, получаем математическую модель ТП в виде соотношения </a:t>
            </a:r>
          </a:p>
          <a:p>
            <a:r>
              <a:rPr lang="ru-RU" sz="1800" dirty="0"/>
              <a:t> </a:t>
            </a:r>
          </a:p>
          <a:p>
            <a:r>
              <a:rPr lang="ru-RU" sz="1800" dirty="0"/>
              <a:t>	 						                      (3)</a:t>
            </a:r>
          </a:p>
          <a:p>
            <a:r>
              <a:rPr lang="ru-RU" sz="1800" dirty="0"/>
              <a:t> </a:t>
            </a:r>
          </a:p>
          <a:p>
            <a:r>
              <a:rPr lang="ru-RU" sz="1800" dirty="0"/>
              <a:t>Здесь  </a:t>
            </a:r>
            <a:r>
              <a:rPr lang="en-US" sz="1800" i="1" dirty="0"/>
              <a:t>P(S</a:t>
            </a:r>
            <a:r>
              <a:rPr lang="en-US" sz="1800" i="1" baseline="-25000" dirty="0"/>
              <a:t>i</a:t>
            </a:r>
            <a:r>
              <a:rPr lang="en-US" sz="1800" i="1" dirty="0"/>
              <a:t>)</a:t>
            </a:r>
            <a:r>
              <a:rPr lang="ru-RU" sz="1800" dirty="0"/>
              <a:t>- вероятность состояния изделия после выполнения 1-й операции; </a:t>
            </a:r>
            <a:r>
              <a:rPr lang="en-US" sz="1800" i="1" dirty="0"/>
              <a:t>q</a:t>
            </a:r>
            <a:r>
              <a:rPr lang="ru-RU" sz="1800" dirty="0"/>
              <a:t> – матрица переходных вероятностей. Для </a:t>
            </a:r>
            <a:r>
              <a:rPr lang="en-US" sz="1800" i="1" dirty="0"/>
              <a:t>j</a:t>
            </a:r>
            <a:r>
              <a:rPr lang="ru-RU" sz="1800" dirty="0"/>
              <a:t>-го шага она имеет вид</a:t>
            </a:r>
          </a:p>
          <a:p>
            <a:r>
              <a:rPr lang="ru-RU" sz="1800" dirty="0"/>
              <a:t> </a:t>
            </a:r>
          </a:p>
          <a:p>
            <a:r>
              <a:rPr lang="ru-RU" sz="1800" dirty="0"/>
              <a:t>	 						</a:t>
            </a:r>
          </a:p>
          <a:p>
            <a:endParaRPr lang="ru-RU" sz="1800" dirty="0"/>
          </a:p>
          <a:p>
            <a:r>
              <a:rPr lang="ru-RU" sz="1800" dirty="0"/>
              <a:t>                                                                                                                                             (4)</a:t>
            </a:r>
          </a:p>
          <a:p>
            <a:r>
              <a:rPr lang="ru-RU" sz="1800" dirty="0"/>
              <a:t> Количество столбцов матрицы  </a:t>
            </a:r>
            <a:r>
              <a:rPr lang="en-US" sz="1800" dirty="0"/>
              <a:t>(</a:t>
            </a:r>
            <a:r>
              <a:rPr lang="ru-RU" sz="1800" dirty="0"/>
              <a:t>4</a:t>
            </a:r>
            <a:r>
              <a:rPr lang="en-US" sz="1800" dirty="0"/>
              <a:t>)</a:t>
            </a:r>
            <a:r>
              <a:rPr lang="ru-RU" sz="1800" dirty="0"/>
              <a:t> равно двум и определяется двумя возможными исходами </a:t>
            </a:r>
            <a:r>
              <a:rPr lang="en-US" sz="1800" i="1" dirty="0"/>
              <a:t>j</a:t>
            </a:r>
            <a:r>
              <a:rPr lang="ru-RU" sz="1800" dirty="0"/>
              <a:t>-й операции. Количество строк равно  2</a:t>
            </a:r>
            <a:r>
              <a:rPr lang="en-US" sz="1800" baseline="30000" dirty="0"/>
              <a:t>j-1</a:t>
            </a:r>
            <a:r>
              <a:rPr lang="ru-RU" sz="1800" dirty="0"/>
              <a:t> и определяется числом всех возможных состояний изделия на (</a:t>
            </a:r>
            <a:r>
              <a:rPr lang="en-US" sz="1800" i="1" dirty="0"/>
              <a:t>j</a:t>
            </a:r>
            <a:r>
              <a:rPr lang="ru-RU" sz="1800" dirty="0"/>
              <a:t>-1)-м шаге ТП.</a:t>
            </a:r>
          </a:p>
          <a:p>
            <a:endParaRPr lang="ru-RU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420888"/>
            <a:ext cx="6143183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933056"/>
            <a:ext cx="5735641" cy="1149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9233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Расстановка контрольных операций для случая невосстанавливаемого изделия </a:t>
            </a:r>
            <a:br>
              <a:rPr lang="ru-RU" dirty="0"/>
            </a:b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897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Постановка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Рассмотрение задачи расстановки КО начнем с наиболее простого случая невосстанавливаемого (уничтожаемого при обнаружении брака) изделия – производство микросхем, специальных ЭС и др. </a:t>
            </a:r>
          </a:p>
          <a:p>
            <a:r>
              <a:rPr lang="ru-RU" dirty="0"/>
              <a:t>Будем считать, что при установке контроля на какой-либо операции проверяется годность всех операций, выполненных до предыдущего контроля или до начала ТП, если предыдущий контроль отсутствует (полная глубина контроля), ошибками контрольного оборудования на этом этапе пренебрежем.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7507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Определение средних удельных потерь</a:t>
            </a:r>
            <a:r>
              <a:rPr lang="en-US" b="1" dirty="0"/>
              <a:t> </a:t>
            </a:r>
            <a:r>
              <a:rPr lang="ru-RU" b="1" dirty="0"/>
              <a:t>на контроль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fontScale="25000" lnSpcReduction="20000"/>
          </a:bodyPr>
          <a:lstStyle/>
          <a:p>
            <a:r>
              <a:rPr lang="ru-RU" sz="8000" dirty="0"/>
              <a:t>Предположим, что первый контроль поставлен на </a:t>
            </a:r>
            <a:r>
              <a:rPr lang="en-US" sz="8000" i="1" dirty="0" err="1"/>
              <a:t>i</a:t>
            </a:r>
            <a:r>
              <a:rPr lang="ru-RU" sz="8000" i="1" dirty="0"/>
              <a:t>-</a:t>
            </a:r>
            <a:r>
              <a:rPr lang="ru-RU" sz="8000" dirty="0"/>
              <a:t>м шаге с начала ТП. В соответствии с принятыми условиями при обнаружении брака, допущенного на любой операции от 1-й до </a:t>
            </a:r>
            <a:r>
              <a:rPr lang="en-US" sz="8000" i="1" dirty="0" err="1"/>
              <a:t>i</a:t>
            </a:r>
            <a:r>
              <a:rPr lang="ru-RU" sz="8000" dirty="0"/>
              <a:t>-й, изделие уничтожается. </a:t>
            </a:r>
          </a:p>
          <a:p>
            <a:r>
              <a:rPr lang="ru-RU" sz="8000" dirty="0"/>
              <a:t>При этом производство несет потери , равные по величине стоимости изделия, сформированной к  </a:t>
            </a:r>
            <a:r>
              <a:rPr lang="en-US" sz="8000" i="1" dirty="0" err="1"/>
              <a:t>i</a:t>
            </a:r>
            <a:r>
              <a:rPr lang="ru-RU" sz="8000" dirty="0"/>
              <a:t>-му шагу ТП. </a:t>
            </a:r>
          </a:p>
          <a:p>
            <a:r>
              <a:rPr lang="ru-RU" sz="8000" dirty="0"/>
              <a:t>Стоимость </a:t>
            </a:r>
            <a:r>
              <a:rPr lang="ru-RU" sz="8000" i="1" dirty="0"/>
              <a:t>контроля на </a:t>
            </a:r>
            <a:r>
              <a:rPr lang="en-US" sz="8000" i="1" dirty="0" err="1"/>
              <a:t>i</a:t>
            </a:r>
            <a:r>
              <a:rPr lang="ru-RU" sz="8000" i="1" dirty="0"/>
              <a:t>-м шаге примем равной  </a:t>
            </a:r>
            <a:r>
              <a:rPr lang="en-US" sz="8000" i="1" dirty="0"/>
              <a:t>m</a:t>
            </a:r>
            <a:r>
              <a:rPr lang="en-US" sz="8000" i="1" baseline="-25000" dirty="0"/>
              <a:t>i</a:t>
            </a:r>
            <a:r>
              <a:rPr lang="ru-RU" sz="8000" i="1" dirty="0"/>
              <a:t>.</a:t>
            </a:r>
            <a:endParaRPr lang="en-US" sz="8000" i="1" dirty="0"/>
          </a:p>
          <a:p>
            <a:r>
              <a:rPr lang="ru-RU" sz="8000" i="1" dirty="0"/>
              <a:t> Вероятность брака на участке на участке 1…</a:t>
            </a:r>
            <a:r>
              <a:rPr lang="en-US" sz="8000" i="1" dirty="0" err="1"/>
              <a:t>i</a:t>
            </a:r>
            <a:r>
              <a:rPr lang="ru-RU" sz="8000" dirty="0"/>
              <a:t> представим в виде</a:t>
            </a:r>
            <a:endParaRPr lang="en-US" sz="8000" dirty="0"/>
          </a:p>
          <a:p>
            <a:endParaRPr lang="en-US" sz="8000" dirty="0"/>
          </a:p>
          <a:p>
            <a:endParaRPr lang="en-US" sz="8000" dirty="0"/>
          </a:p>
          <a:p>
            <a:r>
              <a:rPr lang="ru-RU" sz="8000" dirty="0"/>
              <a:t> Отсюда величина средних потерь на этом участке в расчете на одно изделие может быть вычислена по формуле</a:t>
            </a:r>
            <a:endParaRPr lang="en-US" sz="8000" dirty="0"/>
          </a:p>
          <a:p>
            <a:endParaRPr lang="en-US" sz="8000" dirty="0"/>
          </a:p>
          <a:p>
            <a:endParaRPr lang="en-US" sz="8000" dirty="0"/>
          </a:p>
          <a:p>
            <a:r>
              <a:rPr lang="ru-RU" sz="8000" dirty="0"/>
              <a:t>Здесь </a:t>
            </a:r>
            <a:r>
              <a:rPr lang="en-US" sz="8000" i="1" dirty="0"/>
              <a:t>M</a:t>
            </a:r>
            <a:r>
              <a:rPr lang="ru-RU" sz="8000" i="1" baseline="-25000" dirty="0"/>
              <a:t>1…</a:t>
            </a:r>
            <a:r>
              <a:rPr lang="en-US" sz="8000" i="1" baseline="-25000" dirty="0" err="1"/>
              <a:t>i</a:t>
            </a:r>
            <a:r>
              <a:rPr lang="ru-RU" sz="8000" dirty="0"/>
              <a:t> - стоимость изделия, сформированная к </a:t>
            </a:r>
            <a:r>
              <a:rPr lang="en-US" sz="8000" i="1" dirty="0"/>
              <a:t>j</a:t>
            </a:r>
            <a:r>
              <a:rPr lang="ru-RU" sz="8000" dirty="0"/>
              <a:t>-му шагу ТП;</a:t>
            </a:r>
            <a:r>
              <a:rPr lang="en-US" sz="8000" dirty="0"/>
              <a:t>   </a:t>
            </a:r>
            <a:r>
              <a:rPr lang="en-US" sz="8000" i="1" dirty="0" err="1"/>
              <a:t>m</a:t>
            </a:r>
            <a:r>
              <a:rPr lang="en-US" sz="8000" i="1" baseline="-25000" dirty="0" err="1"/>
              <a:t>j</a:t>
            </a:r>
            <a:r>
              <a:rPr lang="ru-RU" sz="8000" baseline="-25000" dirty="0"/>
              <a:t> </a:t>
            </a:r>
            <a:r>
              <a:rPr lang="ru-RU" sz="8000" dirty="0"/>
              <a:t>- стоимость </a:t>
            </a:r>
            <a:r>
              <a:rPr lang="en-US" sz="8000" i="1" dirty="0"/>
              <a:t>j</a:t>
            </a:r>
            <a:r>
              <a:rPr lang="ru-RU" sz="8000" dirty="0"/>
              <a:t>-го контроля. </a:t>
            </a:r>
            <a:endParaRPr lang="en-US" sz="8000" dirty="0"/>
          </a:p>
          <a:p>
            <a:r>
              <a:rPr lang="ru-RU" sz="8000" dirty="0">
                <a:solidFill>
                  <a:srgbClr val="FF0000"/>
                </a:solidFill>
              </a:rPr>
              <a:t>Поскольку глубина контроля полагается полной, в выражение для вероятности брака на </a:t>
            </a:r>
            <a:r>
              <a:rPr lang="en-US" sz="8000" i="1" dirty="0">
                <a:solidFill>
                  <a:srgbClr val="FF0000"/>
                </a:solidFill>
              </a:rPr>
              <a:t>j</a:t>
            </a:r>
            <a:r>
              <a:rPr lang="ru-RU" sz="8000" dirty="0">
                <a:solidFill>
                  <a:srgbClr val="FF0000"/>
                </a:solidFill>
              </a:rPr>
              <a:t>-м шаге ТП не вошли состояния операций, проконтролированных на участке 1…</a:t>
            </a:r>
            <a:r>
              <a:rPr lang="en-US" sz="8000" i="1" dirty="0" err="1">
                <a:solidFill>
                  <a:srgbClr val="FF0000"/>
                </a:solidFill>
              </a:rPr>
              <a:t>i</a:t>
            </a:r>
            <a:r>
              <a:rPr lang="ru-RU" sz="8000" dirty="0">
                <a:solidFill>
                  <a:srgbClr val="FF0000"/>
                </a:solidFill>
              </a:rPr>
              <a:t>. </a:t>
            </a:r>
          </a:p>
          <a:p>
            <a:endParaRPr lang="ru-RU" sz="7200" dirty="0"/>
          </a:p>
          <a:p>
            <a:r>
              <a:rPr lang="ru-RU" sz="7200" dirty="0"/>
              <a:t> </a:t>
            </a:r>
          </a:p>
          <a:p>
            <a:r>
              <a:rPr lang="ru-RU" dirty="0"/>
              <a:t>	 .	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573016"/>
            <a:ext cx="2659701" cy="421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775591"/>
            <a:ext cx="4549351" cy="391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9837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Полные средние потери на контроль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Аналогично могут быть рассчитаны потери при установке контролей на последующих операциях ТП. Суммируя потери на всех участках ТП, расположенных между КО, получим выражение для полных средних потерь в расчете на одно изделие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 							(7)</a:t>
            </a:r>
          </a:p>
          <a:p>
            <a:r>
              <a:rPr lang="ru-RU" dirty="0"/>
              <a:t> 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Задача оптимизации расстановки КО сводится к минимизации функционала по индексам расстановки контроля  .</a:t>
            </a:r>
          </a:p>
          <a:p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122" y="3356992"/>
            <a:ext cx="5794776" cy="1371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1764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Расстановка контрольных операций для случая восстанавливаемого изделия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032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Определение средних потерь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600200"/>
            <a:ext cx="9036496" cy="5257800"/>
          </a:xfrm>
        </p:spPr>
        <p:txBody>
          <a:bodyPr>
            <a:normAutofit/>
          </a:bodyPr>
          <a:lstStyle/>
          <a:p>
            <a:r>
              <a:rPr lang="ru-RU" sz="2000" dirty="0"/>
              <a:t>Рассмотрим теперь характерную для производства большинства изделий ситуацию, когда в случае обнаружения брака при контроле изделие восстанавливается. Как и раньше, найдем сначала потери на участке ТП от его начала до </a:t>
            </a:r>
            <a:r>
              <a:rPr lang="en-US" sz="2000" i="1" dirty="0" err="1"/>
              <a:t>i</a:t>
            </a:r>
            <a:r>
              <a:rPr lang="ru-RU" sz="2000" dirty="0"/>
              <a:t>-го шага, где установлен первый контроль. В отличие от случая невосстанавливаемого изделия стоимость потерь зависит от вида брака, т.е. является функцией состояния изделия к </a:t>
            </a:r>
            <a:r>
              <a:rPr lang="en-US" sz="2000" i="1" dirty="0" err="1"/>
              <a:t>i</a:t>
            </a:r>
            <a:r>
              <a:rPr lang="ru-RU" sz="2000" dirty="0"/>
              <a:t>-му шагу:</a:t>
            </a:r>
            <a:r>
              <a:rPr lang="ru-RU" sz="2000" b="1" i="1" dirty="0"/>
              <a:t> </a:t>
            </a:r>
            <a:r>
              <a:rPr lang="ru-RU" sz="2000" dirty="0"/>
              <a:t> </a:t>
            </a:r>
          </a:p>
          <a:p>
            <a:endParaRPr lang="ru-RU" sz="2000" dirty="0"/>
          </a:p>
          <a:p>
            <a:r>
              <a:rPr lang="ru-RU" sz="2000" dirty="0"/>
              <a:t>Отсюда выражение для средних потерь на участке 1…</a:t>
            </a:r>
            <a:r>
              <a:rPr lang="en-US" sz="2000" i="1" dirty="0" err="1"/>
              <a:t>i</a:t>
            </a:r>
            <a:r>
              <a:rPr lang="ru-RU" sz="2000" dirty="0"/>
              <a:t> имеет вид </a:t>
            </a:r>
          </a:p>
          <a:p>
            <a:r>
              <a:rPr lang="ru-RU" sz="2000" dirty="0"/>
              <a:t> </a:t>
            </a:r>
          </a:p>
          <a:p>
            <a:r>
              <a:rPr lang="ru-RU" sz="2000" dirty="0"/>
              <a:t>	 							(8)</a:t>
            </a:r>
          </a:p>
          <a:p>
            <a:r>
              <a:rPr lang="ru-RU" sz="2000" dirty="0"/>
              <a:t> </a:t>
            </a:r>
          </a:p>
          <a:p>
            <a:r>
              <a:rPr lang="ru-RU" sz="2000" dirty="0"/>
              <a:t>Для участка </a:t>
            </a:r>
            <a:r>
              <a:rPr lang="en-US" sz="2000" i="1" dirty="0" err="1"/>
              <a:t>i</a:t>
            </a:r>
            <a:r>
              <a:rPr lang="ru-RU" sz="2000" i="1" dirty="0"/>
              <a:t>…</a:t>
            </a:r>
            <a:r>
              <a:rPr lang="en-US" sz="2000" i="1" dirty="0"/>
              <a:t>j</a:t>
            </a:r>
            <a:r>
              <a:rPr lang="en-US" sz="2000" dirty="0"/>
              <a:t> </a:t>
            </a:r>
            <a:endParaRPr lang="ru-RU" sz="2000" dirty="0"/>
          </a:p>
          <a:p>
            <a:r>
              <a:rPr lang="ru-RU" sz="2000" dirty="0"/>
              <a:t> </a:t>
            </a:r>
          </a:p>
          <a:p>
            <a:r>
              <a:rPr lang="ru-RU" sz="2000" dirty="0"/>
              <a:t>	 							(9)</a:t>
            </a:r>
          </a:p>
          <a:p>
            <a:endParaRPr lang="ru-RU" sz="2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493" y="3356992"/>
            <a:ext cx="2258170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4609" y="4365104"/>
            <a:ext cx="5150519" cy="692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045" y="5805264"/>
            <a:ext cx="6000666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44479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Суммарные потери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ru-RU" sz="2600" dirty="0"/>
              <a:t>Аналогичным образом могут быть вычислены потери и для последующих участков ТП по мере установки контролей. Суммируя потери на всех участках, получим соотношение для расчета средних потерь на одно изделие для ТП в целом:</a:t>
            </a:r>
          </a:p>
          <a:p>
            <a:r>
              <a:rPr lang="ru-RU" sz="2600" dirty="0"/>
              <a:t> </a:t>
            </a:r>
          </a:p>
          <a:p>
            <a:r>
              <a:rPr lang="ru-RU" sz="2600" dirty="0"/>
              <a:t>	 							(10)</a:t>
            </a:r>
          </a:p>
          <a:p>
            <a:r>
              <a:rPr lang="ru-RU" sz="2600" dirty="0"/>
              <a:t> </a:t>
            </a:r>
          </a:p>
          <a:p>
            <a:endParaRPr lang="ru-RU" sz="2600" dirty="0"/>
          </a:p>
          <a:p>
            <a:endParaRPr lang="ru-RU" sz="2600" dirty="0"/>
          </a:p>
          <a:p>
            <a:endParaRPr lang="ru-RU" sz="2600" dirty="0"/>
          </a:p>
          <a:p>
            <a:endParaRPr lang="ru-RU" sz="2600" dirty="0"/>
          </a:p>
          <a:p>
            <a:endParaRPr lang="ru-RU" sz="2600" dirty="0"/>
          </a:p>
          <a:p>
            <a:endParaRPr lang="ru-RU" sz="2600" dirty="0"/>
          </a:p>
          <a:p>
            <a:endParaRPr lang="ru-RU" sz="2600" dirty="0"/>
          </a:p>
          <a:p>
            <a:r>
              <a:rPr lang="ru-RU" sz="2600" dirty="0"/>
              <a:t>Формула получена в предположении полной глубины контроля и отсутствии ошибок контрольного оборудования. Оптимальная расстановка КО находится минимизацией функционала потерь по индексам расстановки 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6359396"/>
            <a:ext cx="1008112" cy="389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835" y="2708920"/>
            <a:ext cx="6435128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29770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Учет точности контрольного оборудования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07470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/>
              <a:t>Вычисление суммарных условных потерь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Для упрощения последующих выкладок перейдем к векторной записи задачи. Введем вектор </a:t>
            </a:r>
            <a:r>
              <a:rPr lang="en-US" i="1" dirty="0"/>
              <a:t>k</a:t>
            </a:r>
            <a:r>
              <a:rPr lang="ru-RU" dirty="0"/>
              <a:t>-го состояния ТП на </a:t>
            </a:r>
            <a:r>
              <a:rPr lang="en-US" i="1" dirty="0" err="1"/>
              <a:t>i</a:t>
            </a:r>
            <a:r>
              <a:rPr lang="ru-RU" dirty="0"/>
              <a:t>-шаге 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и вектор </a:t>
            </a:r>
            <a:r>
              <a:rPr lang="en-US" dirty="0" err="1"/>
              <a:t>i</a:t>
            </a:r>
            <a:r>
              <a:rPr lang="ru-RU" dirty="0"/>
              <a:t>-го решения, принимаемого по результатам контроля этого состояния 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 </a:t>
            </a:r>
          </a:p>
          <a:p>
            <a:r>
              <a:rPr lang="ru-RU" dirty="0"/>
              <a:t>При идеальном контроле </a:t>
            </a:r>
          </a:p>
          <a:p>
            <a:endParaRPr lang="ru-RU" dirty="0"/>
          </a:p>
          <a:p>
            <a:r>
              <a:rPr lang="ru-RU" dirty="0"/>
              <a:t> </a:t>
            </a:r>
          </a:p>
          <a:p>
            <a:r>
              <a:rPr lang="ru-RU" dirty="0"/>
              <a:t>	</a:t>
            </a:r>
            <a:r>
              <a:rPr lang="en-US" dirty="0"/>
              <a:t> </a:t>
            </a:r>
            <a:r>
              <a:rPr lang="ru-RU" dirty="0"/>
              <a:t>							(11)</a:t>
            </a:r>
          </a:p>
          <a:p>
            <a:r>
              <a:rPr lang="ru-RU" dirty="0"/>
              <a:t> </a:t>
            </a:r>
          </a:p>
          <a:p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492897"/>
            <a:ext cx="4023508" cy="595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944426"/>
            <a:ext cx="4860121" cy="694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967" y="5151812"/>
            <a:ext cx="2520065" cy="694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50777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DA63D4B-FA95-4AA0-A078-5D341D24D312}"/>
              </a:ext>
            </a:extLst>
          </p:cNvPr>
          <p:cNvSpPr/>
          <p:nvPr/>
        </p:nvSpPr>
        <p:spPr>
          <a:xfrm>
            <a:off x="18526" y="304152"/>
            <a:ext cx="9144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/>
              <a:t>В реальном случае имеется вероятность                                   верной идентификации состояния </a:t>
            </a:r>
            <a:r>
              <a:rPr lang="en-US" sz="3200" dirty="0"/>
              <a:t> </a:t>
            </a:r>
            <a:r>
              <a:rPr lang="ru-RU" sz="3200" dirty="0"/>
              <a:t>и вероятность                                </a:t>
            </a:r>
            <a:r>
              <a:rPr lang="en-US" sz="3200" dirty="0"/>
              <a:t>	</a:t>
            </a:r>
            <a:r>
              <a:rPr lang="ru-RU" sz="3200" dirty="0"/>
              <a:t>                ошибочной идентификации. </a:t>
            </a:r>
          </a:p>
          <a:p>
            <a:r>
              <a:rPr lang="ru-RU" sz="3200" dirty="0"/>
              <a:t>Обозначим                    потери решения     </a:t>
            </a:r>
            <a:r>
              <a:rPr lang="en-US" sz="3200" dirty="0"/>
              <a:t>  </a:t>
            </a:r>
            <a:r>
              <a:rPr lang="ru-RU" sz="3200" dirty="0"/>
              <a:t>при состоянии        </a:t>
            </a:r>
            <a:r>
              <a:rPr lang="en-US" sz="3200" dirty="0"/>
              <a:t>.</a:t>
            </a:r>
            <a:r>
              <a:rPr lang="ru-RU" sz="3200" dirty="0"/>
              <a:t> Поскольку возможны  решений – суммарные условные потери </a:t>
            </a:r>
            <a:r>
              <a:rPr lang="en-US" sz="3200" i="1" dirty="0"/>
              <a:t>k</a:t>
            </a:r>
            <a:r>
              <a:rPr lang="ru-RU" sz="3200" dirty="0"/>
              <a:t>-го состояния вычисляются по формуле</a:t>
            </a:r>
          </a:p>
          <a:p>
            <a:r>
              <a:rPr lang="ru-RU" sz="3200" dirty="0"/>
              <a:t> 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1BE98EFC-CECB-411E-8D44-8E3B38186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04152"/>
            <a:ext cx="1513046" cy="67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C855DC30-7D9C-4DA2-9CE3-F3BDACD42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97" y="1279623"/>
            <a:ext cx="2111455" cy="553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249FFE6A-6EAA-416A-91C5-6D41473E5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275" y="1766599"/>
            <a:ext cx="1080120" cy="553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AC9EA18D-59CB-4A8D-B424-2031BDFCE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923" y="1642689"/>
            <a:ext cx="576942" cy="801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9">
            <a:extLst>
              <a:ext uri="{FF2B5EF4-FFF2-40B4-BE49-F238E27FC236}">
                <a16:creationId xmlns:a16="http://schemas.microsoft.com/office/drawing/2014/main" id="{4EB6239D-CDFF-4A02-9ED5-04D67DAEF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607" y="2062208"/>
            <a:ext cx="576942" cy="77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FE2C7767-909F-4737-82BA-CEA6535B7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343" y="4268854"/>
            <a:ext cx="5984905" cy="1405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38984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Полные байесовские потери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Полные средние байесовские потери на 1-м участке контроля вычисляются по формуле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 							(12)</a:t>
            </a:r>
          </a:p>
          <a:p>
            <a:r>
              <a:rPr lang="ru-RU" dirty="0"/>
              <a:t> </a:t>
            </a:r>
          </a:p>
          <a:p>
            <a:endParaRPr lang="ru-RU" dirty="0"/>
          </a:p>
          <a:p>
            <a:r>
              <a:rPr lang="ru-RU" dirty="0"/>
              <a:t>Выделим в (12)отдельным слагаемым наиболее значимые потери, связанные с восстановлением верно обнаруживаемого брака. В результате  выражение (12)преобразуется к виду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 															(13)</a:t>
            </a:r>
          </a:p>
          <a:p>
            <a:r>
              <a:rPr lang="ru-RU" dirty="0"/>
              <a:t> </a:t>
            </a:r>
          </a:p>
          <a:p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548" y="2276872"/>
            <a:ext cx="6562921" cy="858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99" y="4725144"/>
            <a:ext cx="4342629" cy="1848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09277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Оптимальная схема контроля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/>
          </a:bodyPr>
          <a:lstStyle/>
          <a:p>
            <a:r>
              <a:rPr lang="ru-RU" sz="2600" dirty="0"/>
              <a:t>Пусть последующие контроли поставлены в точках </a:t>
            </a:r>
            <a:r>
              <a:rPr lang="en-US" sz="2600" i="1" dirty="0"/>
              <a:t>j</a:t>
            </a:r>
            <a:r>
              <a:rPr lang="ru-RU" sz="2600" i="1" dirty="0"/>
              <a:t>,…,</a:t>
            </a:r>
            <a:r>
              <a:rPr lang="en-US" sz="2600" i="1" dirty="0"/>
              <a:t>k</a:t>
            </a:r>
            <a:r>
              <a:rPr lang="ru-RU" sz="2600" i="1" dirty="0"/>
              <a:t>,</a:t>
            </a:r>
            <a:r>
              <a:rPr lang="en-US" sz="2600" i="1" dirty="0"/>
              <a:t>n</a:t>
            </a:r>
            <a:r>
              <a:rPr lang="ru-RU" sz="2600" i="1" dirty="0"/>
              <a:t>.</a:t>
            </a:r>
            <a:r>
              <a:rPr lang="ru-RU" sz="2600" dirty="0"/>
              <a:t> Тогда полные средние потери всей схемы контроля составят </a:t>
            </a:r>
          </a:p>
          <a:p>
            <a:r>
              <a:rPr lang="ru-RU" sz="2600" dirty="0"/>
              <a:t>	 							(14)</a:t>
            </a:r>
          </a:p>
          <a:p>
            <a:r>
              <a:rPr lang="ru-RU" sz="2600" dirty="0"/>
              <a:t>В результате оптимальной будет схема контроля, при которой достигается минимум функционала по индексам расстановки контроля </a:t>
            </a:r>
            <a:r>
              <a:rPr lang="en-US" sz="2600" i="1" dirty="0" err="1"/>
              <a:t>i</a:t>
            </a:r>
            <a:r>
              <a:rPr lang="ru-RU" sz="2600" i="1" dirty="0"/>
              <a:t>,</a:t>
            </a:r>
            <a:r>
              <a:rPr lang="en-US" sz="2600" i="1" dirty="0"/>
              <a:t>j</a:t>
            </a:r>
            <a:r>
              <a:rPr lang="ru-RU" sz="2600" i="1" dirty="0"/>
              <a:t>,…,</a:t>
            </a:r>
            <a:r>
              <a:rPr lang="en-US" sz="2600" i="1" dirty="0"/>
              <a:t>k</a:t>
            </a:r>
            <a:r>
              <a:rPr lang="ru-RU" sz="2600" i="1" dirty="0"/>
              <a:t>,</a:t>
            </a:r>
            <a:r>
              <a:rPr lang="en-US" sz="2600" i="1" dirty="0"/>
              <a:t>n</a:t>
            </a:r>
            <a:endParaRPr lang="ru-RU" sz="2600" dirty="0"/>
          </a:p>
          <a:p>
            <a:pPr marL="0" indent="0">
              <a:buNone/>
            </a:pPr>
            <a:r>
              <a:rPr lang="ru-RU" sz="1400" dirty="0"/>
              <a:t> 								</a:t>
            </a:r>
            <a:r>
              <a:rPr lang="ru-RU" sz="2400" dirty="0"/>
              <a:t>(15)</a:t>
            </a:r>
          </a:p>
          <a:p>
            <a:pPr marL="0" indent="0">
              <a:buNone/>
            </a:pPr>
            <a:r>
              <a:rPr lang="ru-RU" sz="2400" dirty="0"/>
              <a:t>За точность контрольного оборудования в приведенном алгоритме проектирования контроля отвечает величина вероятности   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endParaRPr lang="ru-R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663" y="2802421"/>
            <a:ext cx="3657507" cy="533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2409" y="4653136"/>
            <a:ext cx="2004053" cy="60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5850344"/>
            <a:ext cx="1259582" cy="500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44132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Autofit/>
          </a:bodyPr>
          <a:lstStyle/>
          <a:p>
            <a:br>
              <a:rPr lang="ru-RU" sz="3200" b="1" dirty="0"/>
            </a:br>
            <a:r>
              <a:rPr lang="ru-RU" sz="3200" b="1" dirty="0"/>
              <a:t>Упрощенная процедура размещения контроля и выбора оборудования</a:t>
            </a:r>
            <a:br>
              <a:rPr lang="ru-RU" sz="3200" dirty="0"/>
            </a:b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Поиск упрощенной процедуры вызван сложностью получения информации, необходимой для решения задачи оптимального размещения контроля и выбора его точности. </a:t>
            </a:r>
          </a:p>
          <a:p>
            <a:r>
              <a:rPr lang="ru-RU" dirty="0"/>
              <a:t>Введем следующее ограничение при решении задачи. Будем считать, что контроль можно ставить лишь в типовых фиксированных точках ТП. </a:t>
            </a:r>
          </a:p>
          <a:p>
            <a:r>
              <a:rPr lang="ru-RU" dirty="0"/>
              <a:t>Например, для радиотехнического производства такими точками являются входной контроль элементов, контроль спаянного, но еще не включенного под питание узла, контроль ОТК узла, контроль изделия, контроль ОТК изделия. </a:t>
            </a:r>
          </a:p>
          <a:p>
            <a:r>
              <a:rPr lang="ru-RU" dirty="0"/>
              <a:t>Принятое ограничение уже не гарантирует, что решение об организационной структуре контроля будет оптимальным, но для большинства практических случаев дает приемлемый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40423737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4605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Суммарные потери от контроля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5904656"/>
          </a:xfrm>
        </p:spPr>
        <p:txBody>
          <a:bodyPr>
            <a:normAutofit lnSpcReduction="10000"/>
          </a:bodyPr>
          <a:lstStyle/>
          <a:p>
            <a:r>
              <a:rPr lang="ru-RU" sz="1800" dirty="0"/>
              <a:t>Согласно принятым ограничениям потери конкретной конфигурации контроля вычисляются по формуле 	</a:t>
            </a:r>
          </a:p>
          <a:p>
            <a:r>
              <a:rPr lang="ru-RU" sz="2100" dirty="0"/>
              <a:t> </a:t>
            </a:r>
          </a:p>
          <a:p>
            <a:r>
              <a:rPr lang="ru-RU" sz="2100" dirty="0"/>
              <a:t>	 							(17)</a:t>
            </a: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r>
              <a:rPr lang="ru-RU" sz="1800" dirty="0"/>
              <a:t>где:</a:t>
            </a:r>
          </a:p>
          <a:p>
            <a:r>
              <a:rPr lang="ru-RU" sz="1800" dirty="0"/>
              <a:t>-                                                                  - вероятность годности на </a:t>
            </a:r>
            <a:r>
              <a:rPr lang="en-US" sz="1800" i="1" dirty="0" err="1"/>
              <a:t>i</a:t>
            </a:r>
            <a:r>
              <a:rPr lang="ru-RU" sz="1800" dirty="0"/>
              <a:t>-м посту контроля </a:t>
            </a:r>
          </a:p>
          <a:p>
            <a:r>
              <a:rPr lang="ru-RU" sz="1800" dirty="0"/>
              <a:t>-                                                                    - вероятность принять брак за годное </a:t>
            </a:r>
          </a:p>
          <a:p>
            <a:r>
              <a:rPr lang="ru-RU" sz="1800" dirty="0"/>
              <a:t>-                                                                       - вероятность принять годное за брак </a:t>
            </a:r>
          </a:p>
          <a:p>
            <a:r>
              <a:rPr lang="ru-RU" sz="1800" dirty="0"/>
              <a:t>-                                                                         - вероятность готовности оборудования </a:t>
            </a:r>
          </a:p>
          <a:p>
            <a:r>
              <a:rPr lang="ru-RU" sz="1800" dirty="0"/>
              <a:t>- </a:t>
            </a:r>
          </a:p>
          <a:p>
            <a:r>
              <a:rPr lang="ru-RU" sz="1800" dirty="0"/>
              <a:t>-                                                                            </a:t>
            </a:r>
          </a:p>
          <a:p>
            <a:r>
              <a:rPr lang="ru-RU" sz="1800" dirty="0"/>
              <a:t>                       - стоимость измерения </a:t>
            </a:r>
          </a:p>
          <a:p>
            <a:r>
              <a:rPr lang="ru-RU" sz="1800" dirty="0"/>
              <a:t>-                                                               </a:t>
            </a:r>
          </a:p>
          <a:p>
            <a:r>
              <a:rPr lang="ru-RU" sz="1800" dirty="0"/>
              <a:t>  -                        стоимость восстановления на </a:t>
            </a:r>
            <a:r>
              <a:rPr lang="en-US" sz="1800" i="1" dirty="0" err="1"/>
              <a:t>i</a:t>
            </a:r>
            <a:r>
              <a:rPr lang="ru-RU" sz="1800" dirty="0"/>
              <a:t>-м посту контроля</a:t>
            </a:r>
          </a:p>
          <a:p>
            <a:r>
              <a:rPr lang="ru-RU" sz="1800" dirty="0"/>
              <a:t>-                                              - штраф за поставку бракованного изделия.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19" y="1556792"/>
            <a:ext cx="8636476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538473"/>
            <a:ext cx="2016224" cy="354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542" y="3872623"/>
            <a:ext cx="1854306" cy="391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440" y="4250374"/>
            <a:ext cx="1854306" cy="398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124895"/>
            <a:ext cx="648072" cy="526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469" y="6370575"/>
            <a:ext cx="1721640" cy="425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828" y="4961573"/>
            <a:ext cx="405409" cy="603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9" name="Picture 9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542" y="5405979"/>
            <a:ext cx="467454" cy="607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50" name="Picture 10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223" y="5994651"/>
            <a:ext cx="432048" cy="54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15125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2682</Words>
  <Application>Microsoft Office PowerPoint</Application>
  <PresentationFormat>Экран (4:3)</PresentationFormat>
  <Paragraphs>197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7" baseType="lpstr">
      <vt:lpstr>Arial</vt:lpstr>
      <vt:lpstr>Calibri</vt:lpstr>
      <vt:lpstr>Тема Office</vt:lpstr>
      <vt:lpstr> Управление качеством технологических систем </vt:lpstr>
      <vt:lpstr> Проектирование организационной структуры контроля обслуживания и качества в технологической системе </vt:lpstr>
      <vt:lpstr>Современные ЭС</vt:lpstr>
      <vt:lpstr>Зависимость функциональности и надежности от сложности ЭС</vt:lpstr>
      <vt:lpstr>Свойства сложных ЭС</vt:lpstr>
      <vt:lpstr>Качество ЭС</vt:lpstr>
      <vt:lpstr>Управление качеством</vt:lpstr>
      <vt:lpstr>Допуск</vt:lpstr>
      <vt:lpstr>Выход параметра за пределы допуска</vt:lpstr>
      <vt:lpstr>Роль  статистических методов контроля качества</vt:lpstr>
      <vt:lpstr>Стандарты и принципы управления качеством</vt:lpstr>
      <vt:lpstr>Категории статистических методов контроля качества</vt:lpstr>
      <vt:lpstr>Организационная структура контроля качества</vt:lpstr>
      <vt:lpstr>Задача расстановки контрольных операций</vt:lpstr>
      <vt:lpstr> Критерий оптимальности организационной структуры контроля качества </vt:lpstr>
      <vt:lpstr>Критерий минимума средних потерь</vt:lpstr>
      <vt:lpstr>Вычислении функции потерь для каждого способа расстановки контроля</vt:lpstr>
      <vt:lpstr>Математическая модель ТП </vt:lpstr>
      <vt:lpstr>Вероятность исправности технологических операций</vt:lpstr>
      <vt:lpstr>Получение математической модели ТП</vt:lpstr>
      <vt:lpstr>Расстановка контрольных операций для случая невосстанавливаемого изделия  </vt:lpstr>
      <vt:lpstr>Постановка задачи</vt:lpstr>
      <vt:lpstr>Определение средних удельных потерь на контроль</vt:lpstr>
      <vt:lpstr>Полные средние потери на контроль</vt:lpstr>
      <vt:lpstr>Расстановка контрольных операций для случая восстанавливаемого изделия </vt:lpstr>
      <vt:lpstr>Определение средних потерь</vt:lpstr>
      <vt:lpstr>Суммарные потери</vt:lpstr>
      <vt:lpstr>Учет точности контрольного оборудования</vt:lpstr>
      <vt:lpstr>Вычисление суммарных условных потерь</vt:lpstr>
      <vt:lpstr>Презентация PowerPoint</vt:lpstr>
      <vt:lpstr>Полные байесовские потери </vt:lpstr>
      <vt:lpstr>Оптимальная схема контроля</vt:lpstr>
      <vt:lpstr> Упрощенная процедура размещения контроля и выбора оборудования </vt:lpstr>
      <vt:lpstr>Суммарные потери от контроля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Goodman</dc:creator>
  <cp:lastModifiedBy>User</cp:lastModifiedBy>
  <cp:revision>58</cp:revision>
  <dcterms:created xsi:type="dcterms:W3CDTF">2016-11-20T05:37:18Z</dcterms:created>
  <dcterms:modified xsi:type="dcterms:W3CDTF">2024-11-22T12:03:41Z</dcterms:modified>
</cp:coreProperties>
</file>