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7" r:id="rId2"/>
    <p:sldId id="290" r:id="rId3"/>
    <p:sldId id="291" r:id="rId4"/>
    <p:sldId id="293" r:id="rId5"/>
    <p:sldId id="292" r:id="rId6"/>
    <p:sldId id="294" r:id="rId7"/>
    <p:sldId id="295" r:id="rId8"/>
    <p:sldId id="296" r:id="rId9"/>
    <p:sldId id="297" r:id="rId10"/>
    <p:sldId id="298" r:id="rId11"/>
    <p:sldId id="299" r:id="rId12"/>
    <p:sldId id="300" r:id="rId13"/>
    <p:sldId id="301" r:id="rId14"/>
    <p:sldId id="302" r:id="rId15"/>
    <p:sldId id="303" r:id="rId16"/>
    <p:sldId id="304" r:id="rId17"/>
    <p:sldId id="305" r:id="rId18"/>
    <p:sldId id="306" r:id="rId19"/>
    <p:sldId id="307" r:id="rId20"/>
    <p:sldId id="309" r:id="rId21"/>
    <p:sldId id="308" r:id="rId22"/>
    <p:sldId id="310" r:id="rId23"/>
    <p:sldId id="311" r:id="rId24"/>
    <p:sldId id="312" r:id="rId25"/>
    <p:sldId id="313" r:id="rId26"/>
    <p:sldId id="314" r:id="rId27"/>
    <p:sldId id="315" r:id="rId28"/>
    <p:sldId id="317" r:id="rId29"/>
    <p:sldId id="316" r:id="rId30"/>
    <p:sldId id="318" r:id="rId31"/>
    <p:sldId id="319" r:id="rId32"/>
    <p:sldId id="320" r:id="rId33"/>
    <p:sldId id="321" r:id="rId34"/>
    <p:sldId id="322" r:id="rId35"/>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894"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58F9C38-7FCB-4953-AA90-F814521C9B9D}" type="datetimeFigureOut">
              <a:rPr lang="ru-RU" smtClean="0"/>
              <a:pPr/>
              <a:t>28.10.2024</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7C91AD6-A301-4FB2-BBF1-45F824BF2743}" type="slidenum">
              <a:rPr lang="ru-RU" smtClean="0"/>
              <a:pPr/>
              <a:t>‹#›</a:t>
            </a:fld>
            <a:endParaRPr lang="ru-RU"/>
          </a:p>
        </p:txBody>
      </p:sp>
    </p:spTree>
    <p:extLst>
      <p:ext uri="{BB962C8B-B14F-4D97-AF65-F5344CB8AC3E}">
        <p14:creationId xmlns="" xmlns:p14="http://schemas.microsoft.com/office/powerpoint/2010/main" val="3612468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17C91AD6-A301-4FB2-BBF1-45F824BF2743}" type="slidenum">
              <a:rPr lang="ru-RU" smtClean="0"/>
              <a:pPr/>
              <a:t>1</a:t>
            </a:fld>
            <a:endParaRPr lang="ru-RU"/>
          </a:p>
        </p:txBody>
      </p:sp>
    </p:spTree>
    <p:extLst>
      <p:ext uri="{BB962C8B-B14F-4D97-AF65-F5344CB8AC3E}">
        <p14:creationId xmlns="" xmlns:p14="http://schemas.microsoft.com/office/powerpoint/2010/main" val="2357281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85236D75-B7A0-405F-A76F-332630F0DF88}" type="datetimeFigureOut">
              <a:rPr lang="ru-RU" smtClean="0"/>
              <a:pPr/>
              <a:t>28.10.2024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 xmlns:p14="http://schemas.microsoft.com/office/powerpoint/2010/main" val="2926100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85236D75-B7A0-405F-A76F-332630F0DF88}" type="datetimeFigureOut">
              <a:rPr lang="ru-RU" smtClean="0"/>
              <a:pPr/>
              <a:t>28.10.2024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 xmlns:p14="http://schemas.microsoft.com/office/powerpoint/2010/main" val="2304946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85236D75-B7A0-405F-A76F-332630F0DF88}" type="datetimeFigureOut">
              <a:rPr lang="ru-RU" smtClean="0"/>
              <a:pPr/>
              <a:t>28.10.2024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 xmlns:p14="http://schemas.microsoft.com/office/powerpoint/2010/main" val="3226235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85236D75-B7A0-405F-A76F-332630F0DF88}" type="datetimeFigureOut">
              <a:rPr lang="ru-RU" smtClean="0"/>
              <a:pPr/>
              <a:t>28.10.2024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 xmlns:p14="http://schemas.microsoft.com/office/powerpoint/2010/main" val="1248484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85236D75-B7A0-405F-A76F-332630F0DF88}" type="datetimeFigureOut">
              <a:rPr lang="ru-RU" smtClean="0"/>
              <a:pPr/>
              <a:t>28.10.2024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 xmlns:p14="http://schemas.microsoft.com/office/powerpoint/2010/main" val="1490829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85236D75-B7A0-405F-A76F-332630F0DF88}" type="datetimeFigureOut">
              <a:rPr lang="ru-RU" smtClean="0"/>
              <a:pPr/>
              <a:t>28.10.2024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 xmlns:p14="http://schemas.microsoft.com/office/powerpoint/2010/main" val="4104773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85236D75-B7A0-405F-A76F-332630F0DF88}" type="datetimeFigureOut">
              <a:rPr lang="ru-RU" smtClean="0"/>
              <a:pPr/>
              <a:t>28.10.2024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 xmlns:p14="http://schemas.microsoft.com/office/powerpoint/2010/main" val="393841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85236D75-B7A0-405F-A76F-332630F0DF88}" type="datetimeFigureOut">
              <a:rPr lang="ru-RU" smtClean="0"/>
              <a:pPr/>
              <a:t>28.10.2024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 xmlns:p14="http://schemas.microsoft.com/office/powerpoint/2010/main" val="567846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85236D75-B7A0-405F-A76F-332630F0DF88}" type="datetimeFigureOut">
              <a:rPr lang="ru-RU" smtClean="0"/>
              <a:pPr/>
              <a:t>28.10.2024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 xmlns:p14="http://schemas.microsoft.com/office/powerpoint/2010/main" val="3060505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85236D75-B7A0-405F-A76F-332630F0DF88}" type="datetimeFigureOut">
              <a:rPr lang="ru-RU" smtClean="0"/>
              <a:pPr/>
              <a:t>28.10.2024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 xmlns:p14="http://schemas.microsoft.com/office/powerpoint/2010/main" val="1818604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85236D75-B7A0-405F-A76F-332630F0DF88}" type="datetimeFigureOut">
              <a:rPr lang="ru-RU" smtClean="0"/>
              <a:pPr/>
              <a:t>28.10.2024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092BC97-1C50-4CBF-BE88-6566FFC65F3D}" type="slidenum">
              <a:rPr lang="ru-RU" smtClean="0"/>
              <a:pPr/>
              <a:t>‹#›</a:t>
            </a:fld>
            <a:endParaRPr lang="ru-RU"/>
          </a:p>
        </p:txBody>
      </p:sp>
    </p:spTree>
    <p:extLst>
      <p:ext uri="{BB962C8B-B14F-4D97-AF65-F5344CB8AC3E}">
        <p14:creationId xmlns="" xmlns:p14="http://schemas.microsoft.com/office/powerpoint/2010/main" val="3404098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236D75-B7A0-405F-A76F-332630F0DF88}" type="datetimeFigureOut">
              <a:rPr lang="ru-RU" smtClean="0"/>
              <a:pPr/>
              <a:t>28.10.2024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92BC97-1C50-4CBF-BE88-6566FFC65F3D}" type="slidenum">
              <a:rPr lang="ru-RU" smtClean="0"/>
              <a:pPr/>
              <a:t>‹#›</a:t>
            </a:fld>
            <a:endParaRPr lang="ru-RU"/>
          </a:p>
        </p:txBody>
      </p:sp>
    </p:spTree>
    <p:extLst>
      <p:ext uri="{BB962C8B-B14F-4D97-AF65-F5344CB8AC3E}">
        <p14:creationId xmlns="" xmlns:p14="http://schemas.microsoft.com/office/powerpoint/2010/main" val="6531293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hilelectronic.com/ru/what-is-automated-optical-inspection-aoi/"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hilelectronic.com/ru/pcb-test/"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a:bodyPr>
          <a:lstStyle/>
          <a:p>
            <a:r>
              <a:rPr lang="ru-RU" dirty="0" smtClean="0"/>
              <a:t>Т</a:t>
            </a:r>
            <a:r>
              <a:rPr lang="ru-RU" dirty="0" smtClean="0"/>
              <a:t>естирование </a:t>
            </a:r>
            <a:r>
              <a:rPr lang="ru-RU" dirty="0" smtClean="0"/>
              <a:t>печатных плат </a:t>
            </a:r>
            <a:endParaRPr lang="ru-RU" b="1" dirty="0"/>
          </a:p>
        </p:txBody>
      </p:sp>
      <p:sp>
        <p:nvSpPr>
          <p:cNvPr id="3" name="Подзаголовок 2"/>
          <p:cNvSpPr>
            <a:spLocks noGrp="1"/>
          </p:cNvSpPr>
          <p:nvPr>
            <p:ph type="subTitle" idx="1"/>
          </p:nvPr>
        </p:nvSpPr>
        <p:spPr/>
        <p:txBody>
          <a:bodyPr>
            <a:normAutofit/>
          </a:bodyPr>
          <a:lstStyle/>
          <a:p>
            <a:r>
              <a:rPr lang="ru-RU" smtClean="0"/>
              <a:t>Курс лекций</a:t>
            </a:r>
            <a:endParaRPr lang="ru-RU" dirty="0" smtClean="0"/>
          </a:p>
        </p:txBody>
      </p:sp>
    </p:spTree>
    <p:extLst>
      <p:ext uri="{BB962C8B-B14F-4D97-AF65-F5344CB8AC3E}">
        <p14:creationId xmlns="" xmlns:p14="http://schemas.microsoft.com/office/powerpoint/2010/main" val="682860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smtClean="0"/>
              <a:t>Что </a:t>
            </a:r>
            <a:r>
              <a:rPr lang="ru-RU" dirty="0" smtClean="0"/>
              <a:t>тестируется?</a:t>
            </a:r>
            <a:endParaRPr lang="ru-RU" b="1" dirty="0"/>
          </a:p>
        </p:txBody>
      </p:sp>
      <p:sp>
        <p:nvSpPr>
          <p:cNvPr id="3" name="Подзаголовок 2"/>
          <p:cNvSpPr>
            <a:spLocks noGrp="1"/>
          </p:cNvSpPr>
          <p:nvPr>
            <p:ph type="subTitle" idx="1"/>
          </p:nvPr>
        </p:nvSpPr>
        <p:spPr/>
        <p:txBody>
          <a:bodyPr/>
          <a:lstStyle/>
          <a:p>
            <a:endParaRPr lang="ru-RU" dirty="0"/>
          </a:p>
        </p:txBody>
      </p:sp>
    </p:spTree>
    <p:extLst>
      <p:ext uri="{BB962C8B-B14F-4D97-AF65-F5344CB8AC3E}">
        <p14:creationId xmlns="" xmlns:p14="http://schemas.microsoft.com/office/powerpoint/2010/main" val="750595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335846"/>
            <a:ext cx="9144000" cy="5262979"/>
          </a:xfrm>
          <a:prstGeom prst="rect">
            <a:avLst/>
          </a:prstGeom>
        </p:spPr>
        <p:txBody>
          <a:bodyPr wrap="square">
            <a:spAutoFit/>
          </a:bodyPr>
          <a:lstStyle/>
          <a:p>
            <a:pPr lvl="0"/>
            <a:r>
              <a:rPr lang="ru-RU" sz="2400" b="1" dirty="0" smtClean="0"/>
              <a:t>Расслоение</a:t>
            </a:r>
            <a:r>
              <a:rPr lang="ru-RU" sz="2400" dirty="0" smtClean="0"/>
              <a:t>: Испытания подтверждают устойчивость </a:t>
            </a:r>
            <a:r>
              <a:rPr lang="ru-RU" sz="2400" dirty="0" err="1" smtClean="0"/>
              <a:t>ламината</a:t>
            </a:r>
            <a:r>
              <a:rPr lang="ru-RU" sz="2400" dirty="0" smtClean="0"/>
              <a:t> к отслаиванию под действием силы или тепла, что имеет решающее значение для срока службы печатной платы.</a:t>
            </a:r>
          </a:p>
          <a:p>
            <a:pPr lvl="0"/>
            <a:r>
              <a:rPr lang="ru-RU" sz="2400" b="1" dirty="0" err="1" smtClean="0"/>
              <a:t>Меднение</a:t>
            </a:r>
            <a:r>
              <a:rPr lang="ru-RU" sz="2400" dirty="0" smtClean="0"/>
              <a:t>: Качество медной фольги проверяется на прочность на разрыв и удлинение.</a:t>
            </a:r>
          </a:p>
          <a:p>
            <a:pPr lvl="0"/>
            <a:r>
              <a:rPr lang="ru-RU" sz="2400" b="1" dirty="0" err="1" smtClean="0"/>
              <a:t>Solderability</a:t>
            </a:r>
            <a:r>
              <a:rPr lang="ru-RU" sz="2400" dirty="0" smtClean="0"/>
              <a:t>: Тестирование гарантирует, что компоненты надежно крепятся к плате, что предотвращает дефекты пайки.</a:t>
            </a:r>
          </a:p>
          <a:p>
            <a:pPr lvl="0"/>
            <a:r>
              <a:rPr lang="ru-RU" sz="2400" b="1" dirty="0" smtClean="0"/>
              <a:t>Качество стенки отверстия</a:t>
            </a:r>
            <a:r>
              <a:rPr lang="ru-RU" sz="2400" dirty="0" smtClean="0"/>
              <a:t>: Гарантирует, что стенки отверстий не растрескаются и не расслаиваются под воздействием термического напряжения.</a:t>
            </a:r>
          </a:p>
          <a:p>
            <a:pPr lvl="0"/>
            <a:r>
              <a:rPr lang="ru-RU" sz="2400" b="1" dirty="0" err="1" smtClean="0"/>
              <a:t>Electrical</a:t>
            </a:r>
            <a:r>
              <a:rPr lang="ru-RU" sz="2400" b="1" dirty="0" smtClean="0"/>
              <a:t> </a:t>
            </a:r>
            <a:r>
              <a:rPr lang="ru-RU" sz="2400" dirty="0" smtClean="0"/>
              <a:t>: проверяет способность печатной платы пропускать электрический ток с минимальной утечкой.</a:t>
            </a:r>
          </a:p>
          <a:p>
            <a:pPr lvl="0"/>
            <a:r>
              <a:rPr lang="ru-RU" sz="2400" b="1" dirty="0" smtClean="0"/>
              <a:t>Окружающая среда</a:t>
            </a:r>
            <a:r>
              <a:rPr lang="ru-RU" sz="2400" dirty="0" smtClean="0"/>
              <a:t>: Испытания на </a:t>
            </a:r>
            <a:r>
              <a:rPr lang="ru-RU" sz="2400" dirty="0" err="1" smtClean="0"/>
              <a:t>водопоглощение</a:t>
            </a:r>
            <a:r>
              <a:rPr lang="ru-RU" sz="2400" dirty="0" smtClean="0"/>
              <a:t> и устойчивость к факторам окружающей среды, таким как коррозия и влажность.</a:t>
            </a:r>
            <a:endParaRPr lang="ru-RU"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smtClean="0"/>
              <a:t>Популярные методы тестирования печатных плат</a:t>
            </a:r>
            <a:endParaRPr lang="ru-RU" dirty="0"/>
          </a:p>
        </p:txBody>
      </p:sp>
      <p:sp>
        <p:nvSpPr>
          <p:cNvPr id="3" name="Подзаголовок 2"/>
          <p:cNvSpPr>
            <a:spLocks noGrp="1"/>
          </p:cNvSpPr>
          <p:nvPr>
            <p:ph type="subTitle" idx="1"/>
          </p:nvPr>
        </p:nvSpPr>
        <p:spPr/>
        <p:txBody>
          <a:bodyPr/>
          <a:lstStyle/>
          <a:p>
            <a:endParaRPr lang="ru-R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166843"/>
            <a:ext cx="9144000" cy="5262979"/>
          </a:xfrm>
          <a:prstGeom prst="rect">
            <a:avLst/>
          </a:prstGeom>
        </p:spPr>
        <p:txBody>
          <a:bodyPr wrap="square">
            <a:spAutoFit/>
          </a:bodyPr>
          <a:lstStyle/>
          <a:p>
            <a:r>
              <a:rPr lang="ru-RU" sz="2800" b="1" dirty="0" smtClean="0"/>
              <a:t>Визуальный осмотр</a:t>
            </a:r>
          </a:p>
          <a:p>
            <a:r>
              <a:rPr lang="ru-RU" sz="2800" dirty="0" smtClean="0"/>
              <a:t>Визуальный осмотр — это фундаментальный метод, при котором опытные специалисты визуально проверяют печатные платы на наличие дефектов и неровностей, используя глаза и увеличительные очки. Этот метод эффективен для выявления дефектов сварки, анализа размещения компонентов и нанесения паяльной маски. Хотя это быстрый и экономически эффективный метод, он отнимает много времени и во многом зависит от навыков технического специалиста, что делает его подходящим для простых конструкций с более крупными компонентами.</a:t>
            </a:r>
            <a:endParaRPr lang="ru-RU"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305342"/>
            <a:ext cx="9144000" cy="4832092"/>
          </a:xfrm>
          <a:prstGeom prst="rect">
            <a:avLst/>
          </a:prstGeom>
        </p:spPr>
        <p:txBody>
          <a:bodyPr wrap="square">
            <a:spAutoFit/>
          </a:bodyPr>
          <a:lstStyle/>
          <a:p>
            <a:r>
              <a:rPr lang="ru-RU" sz="2800" b="1" dirty="0" smtClean="0"/>
              <a:t>Испытание летающего зонда</a:t>
            </a:r>
          </a:p>
          <a:p>
            <a:r>
              <a:rPr lang="ru-RU" sz="2800" dirty="0" smtClean="0"/>
              <a:t>Тестирование летающими щупами является экономичной альтернативой внутрисхемному тестированию, в котором используются небольшие щупы для контакта с контрольными точками на печатной плате. Этот метод позволяет получать электрические и силовые тестовые сигналы из мест тестирования, обеспечивая надлежащее функционирование печатной платы. Он недорог, гибок и подходит для плат малого и среднего размера с более высокой плотностью компонентов, но менее эффективен для крупномасштабных испытаний.</a:t>
            </a:r>
            <a:endParaRPr lang="ru-RU"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443841"/>
            <a:ext cx="9144000" cy="4401205"/>
          </a:xfrm>
          <a:prstGeom prst="rect">
            <a:avLst/>
          </a:prstGeom>
        </p:spPr>
        <p:txBody>
          <a:bodyPr wrap="square">
            <a:spAutoFit/>
          </a:bodyPr>
          <a:lstStyle/>
          <a:p>
            <a:r>
              <a:rPr lang="ru-RU" sz="2800" b="1" dirty="0" smtClean="0"/>
              <a:t>Автоматизированный оптический контроль (AOI)</a:t>
            </a:r>
          </a:p>
          <a:p>
            <a:r>
              <a:rPr lang="ru-RU" sz="2800" dirty="0" smtClean="0"/>
              <a:t>Автоматизированный оптический контроль использует камеры для захвата изображений печатных плат с высоким разрешением и сравнения их с шаблонами дизайна для выявления дефектов. Он обеспечивает большую точность, чем ручные методы, и может быть интегрирован в производственный процесс для раннего обнаружения дефектов. Однако он ограничен обнаружением поверхностных дефектов и требует качества базы данных для точного сопоставления.</a:t>
            </a:r>
            <a:endParaRPr lang="ru-RU"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305342"/>
            <a:ext cx="9144000" cy="4832092"/>
          </a:xfrm>
          <a:prstGeom prst="rect">
            <a:avLst/>
          </a:prstGeom>
        </p:spPr>
        <p:txBody>
          <a:bodyPr wrap="square">
            <a:spAutoFit/>
          </a:bodyPr>
          <a:lstStyle/>
          <a:p>
            <a:r>
              <a:rPr lang="ru-RU" sz="2800" b="1" dirty="0" smtClean="0"/>
              <a:t>Автоматизированный рентгеновский контроль (AXI)</a:t>
            </a:r>
          </a:p>
          <a:p>
            <a:r>
              <a:rPr lang="ru-RU" sz="2800" dirty="0" smtClean="0"/>
              <a:t>Автоматизированный рентгеновский контроль использует рентгеновские лучи для визуализации паяных соединений в 2D или 3D, что делает его пригодным для скрытых соединений в таких компонентах, как матрицы шариковых решеток (BGA). Он имеет самый высокий уровень обнаружения дефектов и ориентирован на качество паяных соединений, но требует много времени, затрат и требует опытных операторов, что делает его пригодным для крупносерийного производства плат с компонентами микросхем.</a:t>
            </a:r>
            <a:endParaRPr lang="ru-RU"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6986528"/>
          </a:xfrm>
          <a:prstGeom prst="rect">
            <a:avLst/>
          </a:prstGeom>
        </p:spPr>
        <p:txBody>
          <a:bodyPr wrap="square">
            <a:spAutoFit/>
          </a:bodyPr>
          <a:lstStyle/>
          <a:p>
            <a:r>
              <a:rPr lang="ru-RU" sz="2800" b="1" dirty="0" smtClean="0"/>
              <a:t>Внутрисхемное тестирование (ICT)</a:t>
            </a:r>
          </a:p>
          <a:p>
            <a:r>
              <a:rPr lang="ru-RU" sz="2800" dirty="0" smtClean="0"/>
              <a:t>Внутрисхемное тестирование проверяет каждую схему на печатной плате, устраняя почти 90% дефектов. Он эффективен, быстр и подходит для плат массового производства, но непригоден для небольших плат и не способен обнаруживать дефекты, такие как чрезмерный припой.</a:t>
            </a:r>
          </a:p>
          <a:p>
            <a:r>
              <a:rPr lang="ru-RU" sz="2800" b="1" dirty="0" smtClean="0"/>
              <a:t>Тестирование на выгорание</a:t>
            </a:r>
          </a:p>
          <a:p>
            <a:r>
              <a:rPr lang="ru-RU" sz="2800" dirty="0" smtClean="0"/>
              <a:t>Тестирование на выгорание подвергает печатные платы воздействию повышенных температур и напряжений для обнаружения дефектов и обеспечения надежности. Это повышает надежность продукции, снижает затраты, связанные с возвратами и гарантийными претензиями, а также повышает качество. Однако это дорого, потенциально может повредить компоненты и создавать для них стресс.</a:t>
            </a:r>
            <a:endParaRPr lang="ru-RU"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302359"/>
            <a:ext cx="9144000" cy="6555641"/>
          </a:xfrm>
          <a:prstGeom prst="rect">
            <a:avLst/>
          </a:prstGeom>
        </p:spPr>
        <p:txBody>
          <a:bodyPr wrap="square">
            <a:spAutoFit/>
          </a:bodyPr>
          <a:lstStyle/>
          <a:p>
            <a:r>
              <a:rPr lang="ru-RU" sz="2800" b="1" dirty="0" smtClean="0"/>
              <a:t>Функциональное тестирование</a:t>
            </a:r>
          </a:p>
          <a:p>
            <a:r>
              <a:rPr lang="ru-RU" sz="2800" dirty="0" smtClean="0"/>
              <a:t>Функциональное тестирование проверяет функциональность компонентов печатной платы, предлагая экономичную альтернативу специализированным методам тестирования. Он очень гибок и подходит для тестирования практически всех типов печатных плат, но требует квалифицированного персонала для выявления дефектов, а платы могут выйти из строя в стрессовых условиях.</a:t>
            </a:r>
          </a:p>
          <a:p>
            <a:r>
              <a:rPr lang="ru-RU" sz="2800" b="1" dirty="0" err="1" smtClean="0"/>
              <a:t>Рефлектометрический</a:t>
            </a:r>
            <a:r>
              <a:rPr lang="ru-RU" sz="2800" b="1" dirty="0" smtClean="0"/>
              <a:t> тест во временной области (TDR)</a:t>
            </a:r>
          </a:p>
          <a:p>
            <a:r>
              <a:rPr lang="ru-RU" sz="2800" dirty="0" smtClean="0"/>
              <a:t>Тест </a:t>
            </a:r>
            <a:r>
              <a:rPr lang="ru-RU" sz="2800" dirty="0" err="1" smtClean="0"/>
              <a:t>рефлектометрии</a:t>
            </a:r>
            <a:r>
              <a:rPr lang="ru-RU" sz="2800" dirty="0" smtClean="0"/>
              <a:t> во временной области проверяет электрические свойства компонентов печатной платы, такие как емкость и индуктивность. Он посылает электрический импульс через дорожку печатной платы для проверки ее характеристик.</a:t>
            </a:r>
            <a:endParaRPr lang="ru-RU"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28528"/>
            <a:ext cx="9144000" cy="6986528"/>
          </a:xfrm>
          <a:prstGeom prst="rect">
            <a:avLst/>
          </a:prstGeom>
        </p:spPr>
        <p:txBody>
          <a:bodyPr wrap="square">
            <a:spAutoFit/>
          </a:bodyPr>
          <a:lstStyle/>
          <a:p>
            <a:r>
              <a:rPr lang="ru-RU" sz="2800" b="1" dirty="0" smtClean="0"/>
              <a:t>Испытание на старение</a:t>
            </a:r>
          </a:p>
          <a:p>
            <a:r>
              <a:rPr lang="ru-RU" sz="2800" dirty="0" smtClean="0"/>
              <a:t>Тест на старение проверяет старение продукта в контролируемых условиях, чтобы гарантировать качество и стабильность. Изделие подвергается воздействию контролируемых температур и влажности в течение определенного периода времени для анализа его характеристик.</a:t>
            </a:r>
          </a:p>
          <a:p>
            <a:r>
              <a:rPr lang="ru-RU" sz="2800" dirty="0" smtClean="0"/>
              <a:t>Методы тестирования печатных плат играют решающую роль в обеспечении функциональности, надежности и качества электронных устройств. Каждый метод имеет свои преимущества, недостатки и области применения, что делает их пригодными для различных этапов производства и тестирования печатных плат. Используя эти методы, производители могут производить высококачественные печатные платы, отвечающие требованиям современной электроники.</a:t>
            </a:r>
            <a:endParaRPr lang="ru-RU"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692696"/>
            <a:ext cx="9144000" cy="5324535"/>
          </a:xfrm>
          <a:prstGeom prst="rect">
            <a:avLst/>
          </a:prstGeom>
        </p:spPr>
        <p:txBody>
          <a:bodyPr wrap="square">
            <a:spAutoFit/>
          </a:bodyPr>
          <a:lstStyle/>
          <a:p>
            <a:r>
              <a:rPr lang="ru-RU" sz="2000" dirty="0" smtClean="0"/>
              <a:t>Чтобы защитить вашу печатную плату и гарантировать, что она пройдет проверку и тестирование, рассмотрите возможность использования передовых методов проектирования:</a:t>
            </a:r>
          </a:p>
          <a:p>
            <a:pPr lvl="0"/>
            <a:r>
              <a:rPr lang="ru-RU" sz="2000" b="1" dirty="0" smtClean="0"/>
              <a:t>Проектирование для производства (DFM)</a:t>
            </a:r>
            <a:r>
              <a:rPr lang="ru-RU" sz="2000" dirty="0" smtClean="0"/>
              <a:t>: Разработайте топологию печатной платы с учетом производственного процесса, чтобы избежать таких проблем, как полосы, островки и паяные перемычки.</a:t>
            </a:r>
          </a:p>
          <a:p>
            <a:pPr lvl="0"/>
            <a:r>
              <a:rPr lang="ru-RU" sz="2000" b="1" dirty="0" smtClean="0"/>
              <a:t>Проект для сборки (DFA)</a:t>
            </a:r>
            <a:r>
              <a:rPr lang="ru-RU" sz="2000" dirty="0" smtClean="0"/>
              <a:t>: Определите, как спроектировать печатную плату для быстрой и эффективной сборки.</a:t>
            </a:r>
          </a:p>
          <a:p>
            <a:pPr lvl="0"/>
            <a:r>
              <a:rPr lang="ru-RU" sz="2000" b="1" dirty="0" smtClean="0"/>
              <a:t>Дизайн для испытаний (DFT)</a:t>
            </a:r>
            <a:r>
              <a:rPr lang="ru-RU" sz="2000" dirty="0" smtClean="0"/>
              <a:t>: Создавайте печатные платы так, чтобы их можно было легко обнаружить и определить местонахождение неисправностей, чтобы сократить время тестирования.</a:t>
            </a:r>
          </a:p>
          <a:p>
            <a:pPr lvl="0"/>
            <a:r>
              <a:rPr lang="ru-RU" sz="2000" b="1" dirty="0" smtClean="0"/>
              <a:t>Проектирование цепочки поставок (DFSC)</a:t>
            </a:r>
            <a:r>
              <a:rPr lang="ru-RU" sz="2000" dirty="0" smtClean="0"/>
              <a:t>: Учитывайте жизненный цикл компонентов, чтобы обеспечить длительный срок службы вашей конструкции печатной платы.</a:t>
            </a:r>
          </a:p>
          <a:p>
            <a:r>
              <a:rPr lang="ru-RU" sz="2000" dirty="0" smtClean="0"/>
              <a:t>Внедрение этих методов проектирования на ранних этапах процесса проектирования может минимизировать производственные затраты и время разработки</a:t>
            </a:r>
            <a:endParaRPr lang="ru-RU"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fontScale="90000"/>
          </a:bodyPr>
          <a:lstStyle/>
          <a:p>
            <a:r>
              <a:rPr lang="ru-RU" dirty="0" smtClean="0"/>
              <a:t>Рентгеновский контроль </a:t>
            </a:r>
            <a:r>
              <a:rPr lang="ru-RU" dirty="0" smtClean="0"/>
              <a:t>для контроля качества печатных плат</a:t>
            </a:r>
            <a:endParaRPr lang="ru-RU" dirty="0"/>
          </a:p>
        </p:txBody>
      </p:sp>
      <p:sp>
        <p:nvSpPr>
          <p:cNvPr id="3" name="Подзаголовок 2"/>
          <p:cNvSpPr>
            <a:spLocks noGrp="1"/>
          </p:cNvSpPr>
          <p:nvPr>
            <p:ph type="subTitle" idx="1"/>
          </p:nvPr>
        </p:nvSpPr>
        <p:spPr/>
        <p:txBody>
          <a:bodyPr/>
          <a:lstStyle/>
          <a:p>
            <a:endParaRPr lang="ru-RU"/>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X-Ray-Inspection-for-Components"/>
          <p:cNvPicPr>
            <a:picLocks noChangeAspect="1" noChangeArrowheads="1"/>
          </p:cNvPicPr>
          <p:nvPr/>
        </p:nvPicPr>
        <p:blipFill>
          <a:blip r:embed="rId2" cstate="print"/>
          <a:srcRect/>
          <a:stretch>
            <a:fillRect/>
          </a:stretch>
        </p:blipFill>
        <p:spPr bwMode="auto">
          <a:xfrm>
            <a:off x="0" y="0"/>
            <a:ext cx="9144000" cy="676262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17693"/>
            <a:ext cx="9144000" cy="6740307"/>
          </a:xfrm>
          <a:prstGeom prst="rect">
            <a:avLst/>
          </a:prstGeom>
        </p:spPr>
        <p:txBody>
          <a:bodyPr wrap="square">
            <a:spAutoFit/>
          </a:bodyPr>
          <a:lstStyle/>
          <a:p>
            <a:r>
              <a:rPr lang="ru-RU" sz="2400" dirty="0" smtClean="0"/>
              <a:t>За последние десятилетия печатные платы стали экспоненциально сложными с точки зрения плотности компонентов, количества слоев и сложной проводки. Эта возрастающая сложность делает эффективный контроль качества и обнаружение дефектов еще более важными. Традиционно проверка печатных плат </a:t>
            </a:r>
            <a:r>
              <a:rPr lang="ru-RU" sz="2400" dirty="0" err="1" smtClean="0"/>
              <a:t>осно-вывалась</a:t>
            </a:r>
            <a:r>
              <a:rPr lang="ru-RU" sz="2400" dirty="0" smtClean="0"/>
              <a:t> </a:t>
            </a:r>
            <a:r>
              <a:rPr lang="ru-RU" sz="2400" dirty="0" smtClean="0"/>
              <a:t>на визуальных методах, таких как ручная микроскопия или </a:t>
            </a:r>
            <a:r>
              <a:rPr lang="ru-RU" sz="2400" u="sng" dirty="0" smtClean="0">
                <a:hlinkClick r:id="rId2"/>
              </a:rPr>
              <a:t>автоматизированный оптический контроль</a:t>
            </a:r>
            <a:r>
              <a:rPr lang="ru-RU" sz="2400" dirty="0" smtClean="0"/>
              <a:t> (АОИ). Однако эти методы имеют существенные ограничения при выявлении дефектов в многослойных платах или скрытых паяных соединениях.</a:t>
            </a:r>
          </a:p>
          <a:p>
            <a:r>
              <a:rPr lang="ru-RU" sz="2400" dirty="0" smtClean="0"/>
              <a:t>Рентгеновский контроль обеспечивает мощный неразрушающий способ заглянуть внутрь печатных плат и точно определить дефекты, такие как пустоты, перемычки, открытые соединения и т. д. Это позволяет выявить проблемы на ранней стадии и предотвратить сбои в работе в дальнейшем. В этом руководстве представлен всесторонний обзор принципов рентгеновского контроля печатных плат, компонентов системы, возможностей, преимуществ по сравнению с другими методами и роли в процессах обеспечения качества.</a:t>
            </a:r>
            <a:endParaRPr lang="ru-RU"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6740307"/>
          </a:xfrm>
          <a:prstGeom prst="rect">
            <a:avLst/>
          </a:prstGeom>
        </p:spPr>
        <p:txBody>
          <a:bodyPr wrap="square">
            <a:spAutoFit/>
          </a:bodyPr>
          <a:lstStyle/>
          <a:p>
            <a:r>
              <a:rPr lang="ru-RU" sz="2400" dirty="0" smtClean="0"/>
              <a:t>Рентгеновский контроль подразумевает использование рентгеновских лучей для неразрушающего исследования внутренних особенностей и </a:t>
            </a:r>
            <a:r>
              <a:rPr lang="ru-RU" sz="2400" dirty="0" err="1" smtClean="0"/>
              <a:t>подповерхностных</a:t>
            </a:r>
            <a:r>
              <a:rPr lang="ru-RU" sz="2400" dirty="0" smtClean="0"/>
              <a:t> условий объектов испытаний. Он использует проникающую природу и дифференциальные характеристики поглощения рентгеновских лучей.</a:t>
            </a:r>
          </a:p>
          <a:p>
            <a:r>
              <a:rPr lang="ru-RU" sz="2400" dirty="0" smtClean="0"/>
              <a:t>При проверке печатных плат рентгеновское изображение используется для выявления скрытых паяных соединений, соединений компонентов и структурных деталей многослойных плат, которые недоступны при внешнем визуальном осмотре.</a:t>
            </a:r>
          </a:p>
          <a:p>
            <a:r>
              <a:rPr lang="ru-RU" sz="2400" dirty="0" smtClean="0"/>
              <a:t>Поскольку рентгеновские лучи имеют короткую длину волны, высокочастотные электромагнитные волны могут проникать в твердые объекты. Когда рентгеновские лучи взаимодействуют с </a:t>
            </a:r>
            <a:r>
              <a:rPr lang="ru-RU" sz="2400" u="sng" dirty="0" smtClean="0">
                <a:hlinkClick r:id="rId2"/>
              </a:rPr>
              <a:t>тест печатной платы</a:t>
            </a:r>
            <a:r>
              <a:rPr lang="ru-RU" sz="2400" dirty="0" smtClean="0"/>
              <a:t> Объект, различия в толщине и плотности материала по всем направлениям приводят к различному поглощению. При этом создается проекционное рентгеновское изображение, кодирующее детали внутренней структуры, которые могут выявить дефекты.</a:t>
            </a:r>
            <a:endParaRPr lang="ru-RU"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CB-x-ray-inspection-image"/>
          <p:cNvPicPr>
            <a:picLocks noChangeAspect="1" noChangeArrowheads="1"/>
          </p:cNvPicPr>
          <p:nvPr/>
        </p:nvPicPr>
        <p:blipFill>
          <a:blip r:embed="rId2" cstate="print"/>
          <a:srcRect/>
          <a:stretch>
            <a:fillRect/>
          </a:stretch>
        </p:blipFill>
        <p:spPr bwMode="auto">
          <a:xfrm>
            <a:off x="0" y="260648"/>
            <a:ext cx="9167146" cy="6093296"/>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97346"/>
            <a:ext cx="9144000" cy="5262979"/>
          </a:xfrm>
          <a:prstGeom prst="rect">
            <a:avLst/>
          </a:prstGeom>
        </p:spPr>
        <p:txBody>
          <a:bodyPr wrap="square">
            <a:spAutoFit/>
          </a:bodyPr>
          <a:lstStyle/>
          <a:p>
            <a:r>
              <a:rPr lang="ru-RU" sz="2400" dirty="0" smtClean="0"/>
              <a:t>Рентгеновский контроль включает использование источника рентгеновского излучения, системы манипулирования объектами испытаний, матрицы детекторов и обрабатывающей электроники для создания образцов изображений, которые анализируются на наличие дефектов:</a:t>
            </a:r>
          </a:p>
          <a:p>
            <a:pPr lvl="0"/>
            <a:r>
              <a:rPr lang="ru-RU" sz="2400" dirty="0" smtClean="0"/>
              <a:t>Источник рентгеновского излучения генерирует рентгеновские лучи (с помощью рентгеновской трубки или радиоактивного изотопа). Этот луч </a:t>
            </a:r>
            <a:r>
              <a:rPr lang="ru-RU" sz="2400" dirty="0" err="1" smtClean="0"/>
              <a:t>коллимируется</a:t>
            </a:r>
            <a:r>
              <a:rPr lang="ru-RU" sz="2400" dirty="0" smtClean="0"/>
              <a:t> и фокусируется на образце печатной платы.</a:t>
            </a:r>
          </a:p>
          <a:p>
            <a:pPr lvl="0"/>
            <a:r>
              <a:rPr lang="ru-RU" sz="2400" dirty="0" smtClean="0"/>
              <a:t>Печатная плата точно позиционируется и управляется с помощью подвижного предметного столика, что позволяет сканировать поперечные сечения или перспективы.</a:t>
            </a:r>
          </a:p>
          <a:p>
            <a:pPr lvl="0"/>
            <a:r>
              <a:rPr lang="ru-RU" sz="2400" dirty="0" smtClean="0"/>
              <a:t>Плотные паяные соединения и материалы компонентов поглощают рентгеновские лучи больше, чем материалы подложки/смолы. Это создает узор рентгеновских теней, улавливаемых детектором.</a:t>
            </a:r>
            <a:endParaRPr lang="ru-RU"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889844"/>
            <a:ext cx="9144000" cy="5693866"/>
          </a:xfrm>
          <a:prstGeom prst="rect">
            <a:avLst/>
          </a:prstGeom>
        </p:spPr>
        <p:txBody>
          <a:bodyPr wrap="square">
            <a:spAutoFit/>
          </a:bodyPr>
          <a:lstStyle/>
          <a:p>
            <a:pPr lvl="0"/>
            <a:r>
              <a:rPr lang="ru-RU" sz="2800" dirty="0" smtClean="0"/>
              <a:t>Данные детектора обрабатываются для восстановления цифрового 2D или 3D-изображения внутренней структуры печатной платы.</a:t>
            </a:r>
          </a:p>
          <a:p>
            <a:pPr lvl="0"/>
            <a:r>
              <a:rPr lang="ru-RU" sz="2800" dirty="0" smtClean="0"/>
              <a:t>Операторы изучают рентгеновские изображения на контрольных мониторах, чтобы выявить любые дефекты, </a:t>
            </a:r>
          </a:p>
          <a:p>
            <a:pPr lvl="0"/>
            <a:r>
              <a:rPr lang="ru-RU" sz="2800" dirty="0" smtClean="0"/>
              <a:t>такие как трещины, пустоты, открытые стыки и т. д.</a:t>
            </a:r>
          </a:p>
          <a:p>
            <a:pPr lvl="0"/>
            <a:r>
              <a:rPr lang="ru-RU" sz="2800" dirty="0" smtClean="0"/>
              <a:t>Методы обработки изображений, такие как вычитание, улучшение и реконструкция, помогают визуализировать дефекты.</a:t>
            </a:r>
          </a:p>
          <a:p>
            <a:r>
              <a:rPr lang="ru-RU" sz="2800" dirty="0" smtClean="0"/>
              <a:t>Таким образом, рентгеновский контроль обеспечивает бесконтактный способ проверки печатных плат на наличие скрытых дефектов, которые часто упускаются из виду при внешнем визуальном контроле.</a:t>
            </a:r>
            <a:endParaRPr lang="ru-RU"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smtClean="0"/>
              <a:t>Системы рентгеновского контроля печатных плат</a:t>
            </a:r>
            <a:endParaRPr lang="ru-RU" dirty="0"/>
          </a:p>
        </p:txBody>
      </p:sp>
      <p:sp>
        <p:nvSpPr>
          <p:cNvPr id="3" name="Подзаголовок 2"/>
          <p:cNvSpPr>
            <a:spLocks noGrp="1"/>
          </p:cNvSpPr>
          <p:nvPr>
            <p:ph type="subTitle" idx="1"/>
          </p:nvPr>
        </p:nvSpPr>
        <p:spPr/>
        <p:txBody>
          <a:bodyPr/>
          <a:lstStyle/>
          <a:p>
            <a:endParaRPr lang="ru-RU"/>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58847"/>
            <a:ext cx="9144000" cy="6370975"/>
          </a:xfrm>
          <a:prstGeom prst="rect">
            <a:avLst/>
          </a:prstGeom>
        </p:spPr>
        <p:txBody>
          <a:bodyPr wrap="square">
            <a:spAutoFit/>
          </a:bodyPr>
          <a:lstStyle/>
          <a:p>
            <a:r>
              <a:rPr lang="ru-RU" sz="2400" dirty="0" smtClean="0"/>
              <a:t>Для выполнения рентгеновского анализа печатных плат используются специальные системы рентгеновского контроля. Они состоят из:</a:t>
            </a:r>
          </a:p>
          <a:p>
            <a:r>
              <a:rPr lang="ru-RU" sz="2400" b="1" dirty="0" smtClean="0"/>
              <a:t>Источник рентгеновского излучения</a:t>
            </a:r>
            <a:r>
              <a:rPr lang="ru-RU" sz="2400" dirty="0" smtClean="0"/>
              <a:t> – При этом генерируется рентгеновский луч. Ламповые источники, использующие высокое напряжение на вакуумном диоде или радиоизотопах, являются обычным явлением. Управляющие коллиматоры формируют пучок.</a:t>
            </a:r>
          </a:p>
          <a:p>
            <a:r>
              <a:rPr lang="ru-RU" sz="2400" b="1" dirty="0" smtClean="0"/>
              <a:t>Система управления печатной платой</a:t>
            </a:r>
            <a:r>
              <a:rPr lang="ru-RU" sz="2400" dirty="0" smtClean="0"/>
              <a:t> – Высокоточные роботизированные столики позиционируют и перемещают образец печатной платы в рентгеновском луче для обеспечения 2D- или 3D-сканирования.</a:t>
            </a:r>
          </a:p>
          <a:p>
            <a:r>
              <a:rPr lang="ru-RU" sz="2400" b="1" dirty="0" smtClean="0"/>
              <a:t>Детекторы</a:t>
            </a:r>
            <a:r>
              <a:rPr lang="ru-RU" sz="2400" dirty="0" smtClean="0"/>
              <a:t> – Массивы датчиков улавливают рентгеновские лучи, проходящие через плату, и преобразуют их в электрические сигналы для реконструкции изображения.</a:t>
            </a:r>
          </a:p>
          <a:p>
            <a:r>
              <a:rPr lang="ru-RU" sz="2400" b="1" dirty="0" smtClean="0"/>
              <a:t>Обработка изображений</a:t>
            </a:r>
            <a:r>
              <a:rPr lang="ru-RU" sz="2400" dirty="0" smtClean="0"/>
              <a:t> – Усиленные процессоры выполняют алгоритмы построения, улучшения и распознавания дефектов изображений.</a:t>
            </a:r>
            <a:endParaRPr lang="ru-RU"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166843"/>
            <a:ext cx="9144000" cy="4832092"/>
          </a:xfrm>
          <a:prstGeom prst="rect">
            <a:avLst/>
          </a:prstGeom>
        </p:spPr>
        <p:txBody>
          <a:bodyPr wrap="square">
            <a:spAutoFit/>
          </a:bodyPr>
          <a:lstStyle/>
          <a:p>
            <a:r>
              <a:rPr lang="ru-RU" sz="2800" b="1" dirty="0" smtClean="0"/>
              <a:t>Дисплей</a:t>
            </a:r>
            <a:r>
              <a:rPr lang="ru-RU" sz="2800" dirty="0" smtClean="0"/>
              <a:t> – Мониторы высокого разрешения позволяют операторам визуально проверять рентгеновские изображения на предмет выявления дефектов.</a:t>
            </a:r>
          </a:p>
          <a:p>
            <a:r>
              <a:rPr lang="ru-RU" sz="2800" b="1" dirty="0" smtClean="0"/>
              <a:t>экранирование</a:t>
            </a:r>
            <a:r>
              <a:rPr lang="ru-RU" sz="2800" dirty="0" smtClean="0"/>
              <a:t> – Свинцовая защита вокруг системы защищает операторов от радиационного воздействия.</a:t>
            </a:r>
          </a:p>
          <a:p>
            <a:r>
              <a:rPr lang="ru-RU" sz="2800" b="1" dirty="0" err="1" smtClean="0"/>
              <a:t>Software</a:t>
            </a:r>
            <a:r>
              <a:rPr lang="ru-RU" sz="2800" dirty="0" smtClean="0"/>
              <a:t> – Контролирует параметры оборудования и связывает компоненты системы для автоматизированных процедур проверки.</a:t>
            </a:r>
          </a:p>
          <a:p>
            <a:r>
              <a:rPr lang="ru-RU" sz="2800" dirty="0" smtClean="0"/>
              <a:t>Эти оптимизированные системы рентгеновского контроля позволяют повторять сканирование печатных плат под разными углами и обнаруживать мельчайшие дефекты.</a:t>
            </a:r>
            <a:endParaRPr lang="ru-RU"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smtClean="0"/>
              <a:t>2D и 3D рентгеновский контроль</a:t>
            </a:r>
            <a:endParaRPr lang="ru-RU" dirty="0"/>
          </a:p>
        </p:txBody>
      </p:sp>
      <p:sp>
        <p:nvSpPr>
          <p:cNvPr id="3" name="Подзаголовок 2"/>
          <p:cNvSpPr>
            <a:spLocks noGrp="1"/>
          </p:cNvSpPr>
          <p:nvPr>
            <p:ph type="subTitle" idx="1"/>
          </p:nvPr>
        </p:nvSpPr>
        <p:spPr/>
        <p:txBody>
          <a:bodyPr/>
          <a:lstStyle/>
          <a:p>
            <a:endParaRPr lang="ru-RU"/>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2D-X-Ray-PCB"/>
          <p:cNvPicPr>
            <a:picLocks noChangeAspect="1" noChangeArrowheads="1"/>
          </p:cNvPicPr>
          <p:nvPr/>
        </p:nvPicPr>
        <p:blipFill>
          <a:blip r:embed="rId2" cstate="print"/>
          <a:srcRect/>
          <a:stretch>
            <a:fillRect/>
          </a:stretch>
        </p:blipFill>
        <p:spPr bwMode="auto">
          <a:xfrm>
            <a:off x="0" y="260648"/>
            <a:ext cx="9173040" cy="6165304"/>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ChangeArrowheads="1"/>
          </p:cNvSpPr>
          <p:nvPr/>
        </p:nvSpPr>
        <p:spPr bwMode="auto">
          <a:xfrm>
            <a:off x="0" y="-80186"/>
            <a:ext cx="9144000" cy="40934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ru-RU" sz="18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sz="2800" b="0"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Рентгеновские изображения получаются с одной точки зрения за одно сканирование.</a:t>
            </a:r>
            <a:endParaRPr kumimoji="0" lang="ru-RU" sz="28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sz="2800" b="0"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Несколько 2D-сканов с разных углов обзора можно объединить для обеспечения ограниченной 3D-визуализации.</a:t>
            </a:r>
            <a:endParaRPr kumimoji="0" lang="ru-RU" sz="28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sz="2800" b="0"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Более дешевый метод, но в нем отсутствует полная объемная визуализация дефектов, обеспечиваемая настоящей трехмерной визуализацией.</a:t>
            </a:r>
            <a:endParaRPr kumimoji="0" lang="ru-RU" sz="28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sz="1800" b="0" i="0" u="none" strike="noStrike" cap="none" normalizeH="0" baseline="0" dirty="0" smtClean="0">
              <a:ln>
                <a:noFill/>
              </a:ln>
              <a:solidFill>
                <a:schemeClr val="tx1"/>
              </a:solidFill>
              <a:effectLst/>
              <a:latin typeface="Arial"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1"/>
          <p:cNvSpPr>
            <a:spLocks noChangeArrowheads="1"/>
          </p:cNvSpPr>
          <p:nvPr/>
        </p:nvSpPr>
        <p:spPr bwMode="auto">
          <a:xfrm>
            <a:off x="2357387" y="6398567"/>
            <a:ext cx="4429226"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400" b="1"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3D рентгеновский контроль</a:t>
            </a:r>
            <a:endParaRPr kumimoji="0" lang="ru-RU" sz="2400" b="0" i="0" u="none" strike="noStrike" cap="none" normalizeH="0" baseline="0" dirty="0" smtClean="0">
              <a:ln>
                <a:noFill/>
              </a:ln>
              <a:solidFill>
                <a:schemeClr val="tx1"/>
              </a:solidFill>
              <a:effectLst/>
              <a:latin typeface="Arial" pitchFamily="34" charset="0"/>
            </a:endParaRPr>
          </a:p>
        </p:txBody>
      </p:sp>
      <p:pic>
        <p:nvPicPr>
          <p:cNvPr id="40962" name="Picture 2" descr="3D-PCB-X-Ray-Inspection"/>
          <p:cNvPicPr>
            <a:picLocks noChangeAspect="1" noChangeArrowheads="1"/>
          </p:cNvPicPr>
          <p:nvPr/>
        </p:nvPicPr>
        <p:blipFill>
          <a:blip r:embed="rId2" cstate="print"/>
          <a:srcRect/>
          <a:stretch>
            <a:fillRect/>
          </a:stretch>
        </p:blipFill>
        <p:spPr bwMode="auto">
          <a:xfrm>
            <a:off x="1331640" y="0"/>
            <a:ext cx="6336704" cy="6336704"/>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97346"/>
            <a:ext cx="9144000" cy="6001643"/>
          </a:xfrm>
          <a:prstGeom prst="rect">
            <a:avLst/>
          </a:prstGeom>
        </p:spPr>
        <p:txBody>
          <a:bodyPr wrap="square">
            <a:spAutoFit/>
          </a:bodyPr>
          <a:lstStyle/>
          <a:p>
            <a:pPr lvl="0"/>
            <a:r>
              <a:rPr lang="ru-RU" sz="2400" dirty="0" smtClean="0"/>
              <a:t>Рентгеновская КТ (компьютерная томография) создает трехмерную модель путем объединения нескольких двухмерных сканирований на 3°.</a:t>
            </a:r>
          </a:p>
          <a:p>
            <a:pPr lvl="0"/>
            <a:r>
              <a:rPr lang="ru-RU" sz="2400" dirty="0" smtClean="0"/>
              <a:t>Позволяет неразрушающую визуализацию полной внутренней структуры печатной платы в 3D.</a:t>
            </a:r>
          </a:p>
          <a:p>
            <a:pPr lvl="0"/>
            <a:r>
              <a:rPr lang="ru-RU" sz="2400" dirty="0" smtClean="0"/>
              <a:t>Позволяет точно определять местоположения дефектов в трех измерениях и измерять их размеры.</a:t>
            </a:r>
          </a:p>
          <a:p>
            <a:pPr lvl="0"/>
            <a:r>
              <a:rPr lang="ru-RU" sz="2400" dirty="0" smtClean="0"/>
              <a:t>Предоставляет подробные объемные данные, но требует больше времени и затрат на проверку.</a:t>
            </a:r>
          </a:p>
          <a:p>
            <a:r>
              <a:rPr lang="ru-RU" sz="2400" dirty="0" smtClean="0"/>
              <a:t>3D-рентгеновский контроль обеспечивает более тщательное обнаружение дефектов для печатных плат высочайшей надежности, где стоимость имеет второстепенное значение. Во многих случаях двухмерного рентгеновского контроля достаточно, чтобы обеспечить видимость поперечного сечения печатной платы, достаточную для выявления дефектов и принятия решения о том, прошел или не прошел.</a:t>
            </a:r>
            <a:endParaRPr lang="ru-RU"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smtClean="0"/>
              <a:t>Рентгеновский контроль компонентов</a:t>
            </a:r>
            <a:endParaRPr lang="ru-RU" dirty="0"/>
          </a:p>
        </p:txBody>
      </p:sp>
      <p:sp>
        <p:nvSpPr>
          <p:cNvPr id="3" name="Подзаголовок 2"/>
          <p:cNvSpPr>
            <a:spLocks noGrp="1"/>
          </p:cNvSpPr>
          <p:nvPr>
            <p:ph type="subTitle" idx="1"/>
          </p:nvPr>
        </p:nvSpPr>
        <p:spPr/>
        <p:txBody>
          <a:bodyPr/>
          <a:lstStyle/>
          <a:p>
            <a:endParaRPr lang="ru-RU"/>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58847"/>
            <a:ext cx="9144000" cy="5016758"/>
          </a:xfrm>
          <a:prstGeom prst="rect">
            <a:avLst/>
          </a:prstGeom>
        </p:spPr>
        <p:txBody>
          <a:bodyPr wrap="square">
            <a:spAutoFit/>
          </a:bodyPr>
          <a:lstStyle/>
          <a:p>
            <a:r>
              <a:rPr lang="ru-RU" sz="2000" b="1" i="1" dirty="0" smtClean="0"/>
              <a:t>Рентгеновский контроль компонентов</a:t>
            </a:r>
          </a:p>
          <a:p>
            <a:r>
              <a:rPr lang="ru-RU" sz="2000" dirty="0" smtClean="0"/>
              <a:t>Рентгеновское изображение чрезвычайно ценно для проверки таких компонентов печатной платы, как:</a:t>
            </a:r>
          </a:p>
          <a:p>
            <a:r>
              <a:rPr lang="ru-RU" sz="2000" b="1" dirty="0" smtClean="0"/>
              <a:t>Пакеты BGA/CSP</a:t>
            </a:r>
          </a:p>
          <a:p>
            <a:pPr lvl="0"/>
            <a:r>
              <a:rPr lang="ru-RU" sz="2000" dirty="0" smtClean="0"/>
              <a:t>Проверяет скрытые от глаз крепления шариков припоя под упаковкой.</a:t>
            </a:r>
          </a:p>
          <a:p>
            <a:pPr lvl="0"/>
            <a:r>
              <a:rPr lang="ru-RU" sz="2000" dirty="0" smtClean="0"/>
              <a:t>Находит пустоты, замыкания, открытые соединения и проблемы с изоляцией под компонентами.</a:t>
            </a:r>
          </a:p>
          <a:p>
            <a:pPr lvl="0"/>
            <a:r>
              <a:rPr lang="ru-RU" sz="2000" dirty="0" smtClean="0"/>
              <a:t>Проверяет наличие трещин или повреждений кремниевого кристалла внутри упаковки.</a:t>
            </a:r>
          </a:p>
          <a:p>
            <a:pPr lvl="0"/>
            <a:r>
              <a:rPr lang="ru-RU" sz="2000" dirty="0" smtClean="0"/>
              <a:t>Гарантирует отсутствие подъема площадки печатной платы и повреждений под компонентом.</a:t>
            </a:r>
          </a:p>
          <a:p>
            <a:r>
              <a:rPr lang="ru-RU" sz="2000" b="1" dirty="0" smtClean="0"/>
              <a:t>Пакеты QFN/DFN</a:t>
            </a:r>
          </a:p>
          <a:p>
            <a:pPr lvl="0"/>
            <a:r>
              <a:rPr lang="ru-RU" sz="2000" dirty="0" smtClean="0"/>
              <a:t>Осматривает не видимые сверху паяные соединения J-образных выводов.</a:t>
            </a:r>
          </a:p>
          <a:p>
            <a:pPr lvl="0"/>
            <a:r>
              <a:rPr lang="ru-RU" sz="2000" dirty="0" smtClean="0"/>
              <a:t>Обнаруживает пустоты припоя, недостаточное смачивание и подъем контактной площадки.</a:t>
            </a:r>
          </a:p>
          <a:p>
            <a:pPr lvl="0"/>
            <a:r>
              <a:rPr lang="ru-RU" sz="2000" dirty="0" smtClean="0"/>
              <a:t>Подтверждает выравнивание компонента с контактными площадками.</a:t>
            </a:r>
            <a:endParaRPr lang="ru-RU"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260648"/>
            <a:ext cx="9144000" cy="4708981"/>
          </a:xfrm>
          <a:prstGeom prst="rect">
            <a:avLst/>
          </a:prstGeom>
        </p:spPr>
        <p:txBody>
          <a:bodyPr wrap="square">
            <a:spAutoFit/>
          </a:bodyPr>
          <a:lstStyle/>
          <a:p>
            <a:r>
              <a:rPr lang="ru-RU" sz="2000" b="1" dirty="0" smtClean="0"/>
              <a:t>Соединители</a:t>
            </a:r>
          </a:p>
          <a:p>
            <a:pPr lvl="0"/>
            <a:r>
              <a:rPr lang="ru-RU" sz="2000" dirty="0" smtClean="0"/>
              <a:t>Проверяет паяные соединения на задней стороне разъема, недоступные иначе.</a:t>
            </a:r>
          </a:p>
          <a:p>
            <a:pPr lvl="0"/>
            <a:r>
              <a:rPr lang="ru-RU" sz="2000" dirty="0" smtClean="0"/>
              <a:t>Проверяет качество селективной, волновой или ручной пайки.</a:t>
            </a:r>
          </a:p>
          <a:p>
            <a:pPr lvl="0"/>
            <a:r>
              <a:rPr lang="ru-RU" sz="2000" dirty="0" smtClean="0"/>
              <a:t>Находит изогнутые или неправильно установленные штыри или гнезда.</a:t>
            </a:r>
          </a:p>
          <a:p>
            <a:r>
              <a:rPr lang="ru-RU" sz="2000" b="1" dirty="0" smtClean="0"/>
              <a:t>ИС пакеты</a:t>
            </a:r>
          </a:p>
          <a:p>
            <a:pPr lvl="0"/>
            <a:r>
              <a:rPr lang="ru-RU" sz="2000" dirty="0" smtClean="0"/>
              <a:t>Позволяет проверять скрытые паяные соединения корпусов с выводами, таких как SOIC, QFP, PLCC и т. д.</a:t>
            </a:r>
          </a:p>
          <a:p>
            <a:pPr lvl="0"/>
            <a:r>
              <a:rPr lang="ru-RU" sz="2000" dirty="0" smtClean="0"/>
              <a:t>Экраны для закороченных штифтов, надгробий, перекошенных деталей.</a:t>
            </a:r>
          </a:p>
          <a:p>
            <a:pPr lvl="0"/>
            <a:r>
              <a:rPr lang="ru-RU" sz="2000" dirty="0" smtClean="0"/>
              <a:t>Подтверждает адекватное заполнение прорезей припоем.</a:t>
            </a:r>
          </a:p>
          <a:p>
            <a:pPr lvl="0"/>
            <a:r>
              <a:rPr lang="ru-RU" sz="2000" dirty="0" smtClean="0"/>
              <a:t>Проверяет штамп на наличие повреждений и трещин.</a:t>
            </a:r>
          </a:p>
          <a:p>
            <a:r>
              <a:rPr lang="ru-RU" sz="2000" b="1" dirty="0" smtClean="0"/>
              <a:t>Пассивные компоненты</a:t>
            </a:r>
          </a:p>
          <a:p>
            <a:pPr lvl="0"/>
            <a:r>
              <a:rPr lang="ru-RU" sz="2000" dirty="0" smtClean="0"/>
              <a:t>Проверяет полные паяные соединения по окружности.</a:t>
            </a:r>
          </a:p>
          <a:p>
            <a:pPr lvl="0"/>
            <a:r>
              <a:rPr lang="ru-RU" sz="2000" dirty="0" smtClean="0"/>
              <a:t>Находит надгробные, плавающие или перекошенные конденсаторы/резисторы.</a:t>
            </a:r>
          </a:p>
          <a:p>
            <a:r>
              <a:rPr lang="ru-RU" sz="2000" dirty="0" smtClean="0"/>
              <a:t>Проверяет наличие пассивных способностей, установленных неправильно или отсутствующих</a:t>
            </a:r>
            <a:endParaRPr lang="ru-RU"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028343"/>
            <a:ext cx="9144000" cy="4154984"/>
          </a:xfrm>
          <a:prstGeom prst="rect">
            <a:avLst/>
          </a:prstGeom>
        </p:spPr>
        <p:txBody>
          <a:bodyPr wrap="square">
            <a:spAutoFit/>
          </a:bodyPr>
          <a:lstStyle/>
          <a:p>
            <a:r>
              <a:rPr lang="ru-RU" sz="2400" b="1" i="1" dirty="0" smtClean="0"/>
              <a:t>Рентгеновский контроль паяных соединений</a:t>
            </a:r>
          </a:p>
          <a:p>
            <a:r>
              <a:rPr lang="ru-RU" sz="2400" dirty="0" smtClean="0"/>
              <a:t>Поскольку припои содержат плотные металлические элементы, такие как олово, медь или серебро, они сильно ослабляют рентгеновские лучи. Это позволяет четко визуализировать паяные соединения внутри печатной платы:</a:t>
            </a:r>
          </a:p>
          <a:p>
            <a:r>
              <a:rPr lang="ru-RU" sz="2400" b="1" dirty="0" smtClean="0"/>
              <a:t>Дискретные компоненты</a:t>
            </a:r>
            <a:r>
              <a:rPr lang="ru-RU" sz="2400" dirty="0" smtClean="0"/>
              <a:t> – Убедитесь, что паяные соединения вокруг выводимых компонентов выполнены.</a:t>
            </a:r>
          </a:p>
          <a:p>
            <a:r>
              <a:rPr lang="ru-RU" sz="2400" b="1" dirty="0" smtClean="0"/>
              <a:t>SMT пайка</a:t>
            </a:r>
            <a:r>
              <a:rPr lang="ru-RU" sz="2400" dirty="0" smtClean="0"/>
              <a:t> – Проверьте смачивание контактной площадки, форму галтелей и достаточность припоя.</a:t>
            </a:r>
          </a:p>
          <a:p>
            <a:r>
              <a:rPr lang="ru-RU" sz="2400" b="1" dirty="0" smtClean="0"/>
              <a:t>Покрытые сквозные отверстия</a:t>
            </a:r>
            <a:r>
              <a:rPr lang="ru-RU" sz="2400" dirty="0" smtClean="0"/>
              <a:t> – Проверьте качество заполнения цилиндра и форму деталей со сквозными отверстиями.</a:t>
            </a:r>
            <a:endParaRPr lang="ru-RU"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305342"/>
            <a:ext cx="9144000" cy="4893647"/>
          </a:xfrm>
          <a:prstGeom prst="rect">
            <a:avLst/>
          </a:prstGeom>
        </p:spPr>
        <p:txBody>
          <a:bodyPr wrap="square">
            <a:spAutoFit/>
          </a:bodyPr>
          <a:lstStyle/>
          <a:p>
            <a:r>
              <a:rPr lang="ru-RU" sz="2400" b="1" dirty="0" err="1" smtClean="0"/>
              <a:t>Виас</a:t>
            </a:r>
            <a:r>
              <a:rPr lang="ru-RU" sz="2400" dirty="0" smtClean="0"/>
              <a:t> – Осмотрите слепые и заглубленные переходные отверстия в нескольких слоях.</a:t>
            </a:r>
          </a:p>
          <a:p>
            <a:r>
              <a:rPr lang="ru-RU" sz="2400" b="1" dirty="0" smtClean="0"/>
              <a:t>БГА/CSP</a:t>
            </a:r>
            <a:r>
              <a:rPr lang="ru-RU" sz="2400" dirty="0" smtClean="0"/>
              <a:t> – Обнаружение скрытых пустот, трещин и замыканий под упаковками.</a:t>
            </a:r>
          </a:p>
          <a:p>
            <a:r>
              <a:rPr lang="ru-RU" sz="2400" b="1" dirty="0" smtClean="0"/>
              <a:t>КФН/ДФН</a:t>
            </a:r>
            <a:r>
              <a:rPr lang="ru-RU" sz="2400" dirty="0" smtClean="0"/>
              <a:t> – Найдите количество и форму пасты после оплавления под компонентом.</a:t>
            </a:r>
          </a:p>
          <a:p>
            <a:r>
              <a:rPr lang="ru-RU" sz="2400" b="1" dirty="0" err="1" smtClean="0"/>
              <a:t>Пресс-разъемы</a:t>
            </a:r>
            <a:r>
              <a:rPr lang="ru-RU" sz="2400" dirty="0" smtClean="0"/>
              <a:t> – Обеспечьте правильную глубину и форму введения штифта.</a:t>
            </a:r>
          </a:p>
          <a:p>
            <a:r>
              <a:rPr lang="ru-RU" sz="2400" b="1" dirty="0" smtClean="0"/>
              <a:t>Ручная пайка</a:t>
            </a:r>
            <a:r>
              <a:rPr lang="ru-RU" sz="2400" dirty="0" smtClean="0"/>
              <a:t> – Проверьте форму соединения и соединения холодной пайки.</a:t>
            </a:r>
          </a:p>
          <a:p>
            <a:r>
              <a:rPr lang="ru-RU" sz="2400" dirty="0" smtClean="0"/>
              <a:t>Рентгенография позволяет оценить целостность паяных соединений с тех сторон, которые невозможны при визуальном осмотре. Это обеспечивает прочные соединения без дефектов.</a:t>
            </a:r>
            <a:endParaRPr lang="ru-RU"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474345"/>
            <a:ext cx="9144000" cy="4893647"/>
          </a:xfrm>
          <a:prstGeom prst="rect">
            <a:avLst/>
          </a:prstGeom>
        </p:spPr>
        <p:txBody>
          <a:bodyPr wrap="square">
            <a:spAutoFit/>
          </a:bodyPr>
          <a:lstStyle/>
          <a:p>
            <a:r>
              <a:rPr lang="ru-RU" sz="2400" dirty="0" smtClean="0"/>
              <a:t>Экспоненциальный рост сложности печатных плат сделал неразрушающую рентгеновскую визуализацию незаменимым процессом для проверки внутренней части многослойных плат. Он обеспечивает уникальные возможности обнаружения дефектов, не имеющие себе равных с такими методами визуального контроля, как АОИ, микроскопия или компараторы изображений.</a:t>
            </a:r>
          </a:p>
          <a:p>
            <a:r>
              <a:rPr lang="ru-RU" sz="2400" dirty="0" smtClean="0"/>
              <a:t>Для критически важных аэрокосмических, автомобильных, медицинских и оборонных применений преимущества предотвращения побегов намного перевешивают стоимость рентгеновских систем. Досконально понимая принципы, артефакты и методологии рентгеновского контроля, производители печатных плат могут наилучшим образом использовать его для максимизации уровня качества своей продукции.</a:t>
            </a:r>
            <a:endParaRPr lang="ru-RU"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720840"/>
            <a:ext cx="9144000" cy="3970318"/>
          </a:xfrm>
          <a:prstGeom prst="rect">
            <a:avLst/>
          </a:prstGeom>
        </p:spPr>
        <p:txBody>
          <a:bodyPr wrap="square">
            <a:spAutoFit/>
          </a:bodyPr>
          <a:lstStyle/>
          <a:p>
            <a:r>
              <a:rPr lang="ru-RU" sz="2800" dirty="0" smtClean="0"/>
              <a:t> Т. </a:t>
            </a:r>
            <a:r>
              <a:rPr lang="ru-RU" sz="2800" smtClean="0"/>
              <a:t>О. обобщены </a:t>
            </a:r>
            <a:r>
              <a:rPr lang="ru-RU" sz="2800" dirty="0" smtClean="0"/>
              <a:t>ключевые соображения по применению рентгеновского контроля для комплексной оценки целостности сборки печатной платы – от незначительных дефектов пайки и рисков надежности до поддельных компонентов. Благодаря оптимальному использованию в последовательности проверок и рекомендациям по проектированию с учетом рентгеновских лучей производители печатных плат могут добиться существенного улучшения качества.</a:t>
            </a:r>
            <a:endParaRPr lang="ru-RU" sz="2800" dirty="0"/>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TotalTime>
  <Words>2091</Words>
  <Application>Microsoft Office PowerPoint</Application>
  <PresentationFormat>Экран (4:3)</PresentationFormat>
  <Paragraphs>111</Paragraphs>
  <Slides>34</Slides>
  <Notes>1</Notes>
  <HiddenSlides>0</HiddenSlides>
  <MMClips>0</MMClips>
  <ScaleCrop>false</ScaleCrop>
  <HeadingPairs>
    <vt:vector size="4" baseType="variant">
      <vt:variant>
        <vt:lpstr>Тема</vt:lpstr>
      </vt:variant>
      <vt:variant>
        <vt:i4>1</vt:i4>
      </vt:variant>
      <vt:variant>
        <vt:lpstr>Заголовки слайдов</vt:lpstr>
      </vt:variant>
      <vt:variant>
        <vt:i4>34</vt:i4>
      </vt:variant>
    </vt:vector>
  </HeadingPairs>
  <TitlesOfParts>
    <vt:vector size="35" baseType="lpstr">
      <vt:lpstr>Тема Office</vt:lpstr>
      <vt:lpstr>Тестирование печатных плат </vt:lpstr>
      <vt:lpstr>Что тестируется?</vt:lpstr>
      <vt:lpstr>Слайд 3</vt:lpstr>
      <vt:lpstr>Популярные методы тестирования печатных плат</vt:lpstr>
      <vt:lpstr>Слайд 5</vt:lpstr>
      <vt:lpstr>Слайд 6</vt:lpstr>
      <vt:lpstr>Слайд 7</vt:lpstr>
      <vt:lpstr>Слайд 8</vt:lpstr>
      <vt:lpstr>Слайд 9</vt:lpstr>
      <vt:lpstr>Слайд 10</vt:lpstr>
      <vt:lpstr>Слайд 11</vt:lpstr>
      <vt:lpstr>Слайд 12</vt:lpstr>
      <vt:lpstr>Рентгеновский контроль для контроля качества печатных плат</vt:lpstr>
      <vt:lpstr>Слайд 14</vt:lpstr>
      <vt:lpstr>Слайд 15</vt:lpstr>
      <vt:lpstr>Слайд 16</vt:lpstr>
      <vt:lpstr>Слайд 17</vt:lpstr>
      <vt:lpstr>Слайд 18</vt:lpstr>
      <vt:lpstr>Слайд 19</vt:lpstr>
      <vt:lpstr>Системы рентгеновского контроля печатных плат</vt:lpstr>
      <vt:lpstr>Слайд 21</vt:lpstr>
      <vt:lpstr>Слайд 22</vt:lpstr>
      <vt:lpstr>2D и 3D рентгеновский контроль</vt:lpstr>
      <vt:lpstr>Слайд 24</vt:lpstr>
      <vt:lpstr>Слайд 25</vt:lpstr>
      <vt:lpstr>Слайд 26</vt:lpstr>
      <vt:lpstr>Слайд 27</vt:lpstr>
      <vt:lpstr>Рентгеновский контроль компонентов</vt:lpstr>
      <vt:lpstr>Слайд 29</vt:lpstr>
      <vt:lpstr>Слайд 30</vt:lpstr>
      <vt:lpstr>Слайд 31</vt:lpstr>
      <vt:lpstr>Слайд 32</vt:lpstr>
      <vt:lpstr>Слайд 33</vt:lpstr>
      <vt:lpstr>Слайд 34</vt:lpstr>
    </vt:vector>
  </TitlesOfParts>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ДДИАГНОСТИКА И УПРАВЛЕНИЕ ТЕХНОЛОГИЧЕСКИМИ СИСТЕМАМИ </dc:title>
  <dc:creator>-</dc:creator>
  <cp:lastModifiedBy>sobchuk</cp:lastModifiedBy>
  <cp:revision>45</cp:revision>
  <dcterms:created xsi:type="dcterms:W3CDTF">2016-08-30T11:40:16Z</dcterms:created>
  <dcterms:modified xsi:type="dcterms:W3CDTF">2024-10-28T12:51:43Z</dcterms:modified>
</cp:coreProperties>
</file>