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6BF1-A2EB-4931-A095-AE85DEEC8688}" type="datetimeFigureOut">
              <a:rPr lang="ru-RU" smtClean="0"/>
              <a:t>03.10.2016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501C-5AE9-4120-80ED-0D17558E83E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4217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6BF1-A2EB-4931-A095-AE85DEEC8688}" type="datetimeFigureOut">
              <a:rPr lang="ru-RU" smtClean="0"/>
              <a:t>03.10.2016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501C-5AE9-4120-80ED-0D17558E83E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9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6BF1-A2EB-4931-A095-AE85DEEC8688}" type="datetimeFigureOut">
              <a:rPr lang="ru-RU" smtClean="0"/>
              <a:t>03.10.2016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501C-5AE9-4120-80ED-0D17558E83E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55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6BF1-A2EB-4931-A095-AE85DEEC8688}" type="datetimeFigureOut">
              <a:rPr lang="ru-RU" smtClean="0"/>
              <a:t>03.10.2016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501C-5AE9-4120-80ED-0D17558E83E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6606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6BF1-A2EB-4931-A095-AE85DEEC8688}" type="datetimeFigureOut">
              <a:rPr lang="ru-RU" smtClean="0"/>
              <a:t>03.10.2016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501C-5AE9-4120-80ED-0D17558E83E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886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6BF1-A2EB-4931-A095-AE85DEEC8688}" type="datetimeFigureOut">
              <a:rPr lang="ru-RU" smtClean="0"/>
              <a:t>03.10.2016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501C-5AE9-4120-80ED-0D17558E83E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0820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6BF1-A2EB-4931-A095-AE85DEEC8688}" type="datetimeFigureOut">
              <a:rPr lang="ru-RU" smtClean="0"/>
              <a:t>03.10.2016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501C-5AE9-4120-80ED-0D17558E83E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4856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6BF1-A2EB-4931-A095-AE85DEEC8688}" type="datetimeFigureOut">
              <a:rPr lang="ru-RU" smtClean="0"/>
              <a:t>03.10.2016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501C-5AE9-4120-80ED-0D17558E83E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046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6BF1-A2EB-4931-A095-AE85DEEC8688}" type="datetimeFigureOut">
              <a:rPr lang="ru-RU" smtClean="0"/>
              <a:t>03.10.2016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501C-5AE9-4120-80ED-0D17558E83E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741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6BF1-A2EB-4931-A095-AE85DEEC8688}" type="datetimeFigureOut">
              <a:rPr lang="ru-RU" smtClean="0"/>
              <a:t>03.10.2016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501C-5AE9-4120-80ED-0D17558E83E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483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86BF1-A2EB-4931-A095-AE85DEEC8688}" type="datetimeFigureOut">
              <a:rPr lang="ru-RU" smtClean="0"/>
              <a:t>03.10.2016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501C-5AE9-4120-80ED-0D17558E83E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6473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86BF1-A2EB-4931-A095-AE85DEEC8688}" type="datetimeFigureOut">
              <a:rPr lang="ru-RU" smtClean="0"/>
              <a:t>03.10.2016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F501C-5AE9-4120-80ED-0D17558E83E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826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700809"/>
            <a:ext cx="7772400" cy="1899642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5.4</a:t>
            </a:r>
            <a:r>
              <a:rPr lang="ru-RU" b="1" dirty="0"/>
              <a:t>. Методы измерения теплового сопротивления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полупроводниковых приборов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1395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Необходимость измерения теплового сопротивления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Тепловое сопротивление полупроводниковых приборов </a:t>
            </a:r>
            <a:r>
              <a:rPr lang="ru-RU" dirty="0" smtClean="0"/>
              <a:t>определяет изменение </a:t>
            </a:r>
            <a:r>
              <a:rPr lang="ru-RU" dirty="0"/>
              <a:t>температуры электронно-дырочного перехода </a:t>
            </a:r>
            <a:r>
              <a:rPr lang="ru-RU" dirty="0" smtClean="0"/>
              <a:t>относительно корпуса </a:t>
            </a:r>
            <a:r>
              <a:rPr lang="ru-RU" dirty="0"/>
              <a:t>или окружающей среды, вызванное протеканием через </a:t>
            </a:r>
            <a:r>
              <a:rPr lang="ru-RU" dirty="0" smtClean="0"/>
              <a:t>переход электрического </a:t>
            </a:r>
            <a:r>
              <a:rPr lang="ru-RU" dirty="0"/>
              <a:t>тока. </a:t>
            </a:r>
          </a:p>
          <a:p>
            <a:r>
              <a:rPr lang="ru-RU" dirty="0"/>
              <a:t>Измерение данного параметра приобретает особую</a:t>
            </a:r>
            <a:br>
              <a:rPr lang="ru-RU" dirty="0"/>
            </a:br>
            <a:r>
              <a:rPr lang="ru-RU" dirty="0"/>
              <a:t>важность для мощных светоизлучающих диодов и мощных транзисторов</a:t>
            </a:r>
            <a:r>
              <a:rPr lang="ru-RU" dirty="0" smtClean="0"/>
              <a:t>, у </a:t>
            </a:r>
            <a:r>
              <a:rPr lang="ru-RU" dirty="0"/>
              <a:t>которых большая рассеиваемая мощность может вызвать сильный перегрев кристалла с последующими негативными последствиями. </a:t>
            </a:r>
          </a:p>
          <a:p>
            <a:r>
              <a:rPr lang="ru-RU" dirty="0"/>
              <a:t>Для светодиодов, например, это резкое уменьшение эффективности излучения и сокращение срока службы. Следует учитывать и то обстоятельство, что полимер, из которого изготовлен корпус светодиода, нельзя нагревать свыше определенного предела, так как деформация полимерной колбы, внутри которой находится кристалл, может привести к отслаиванию токоподводящих проводников от кристалла.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311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Измеряемые величины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2108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Для определения величины теплового сопротивления </a:t>
            </a:r>
            <a:r>
              <a:rPr lang="ru-RU" dirty="0" smtClean="0"/>
              <a:t>необходимо измерить </a:t>
            </a:r>
            <a:r>
              <a:rPr lang="ru-RU" dirty="0"/>
              <a:t>величину рассеиваемой мощности и температуру </a:t>
            </a:r>
            <a:r>
              <a:rPr lang="ru-RU" i="1" dirty="0" smtClean="0"/>
              <a:t>p-n</a:t>
            </a:r>
            <a:r>
              <a:rPr lang="ru-RU" dirty="0" smtClean="0"/>
              <a:t>-перехода полупроводникового </a:t>
            </a:r>
            <a:r>
              <a:rPr lang="ru-RU" dirty="0"/>
              <a:t>прибора. </a:t>
            </a:r>
            <a:endParaRPr lang="ru-RU" dirty="0" smtClean="0"/>
          </a:p>
          <a:p>
            <a:r>
              <a:rPr lang="ru-RU" dirty="0" smtClean="0"/>
              <a:t>Измерение </a:t>
            </a:r>
            <a:r>
              <a:rPr lang="ru-RU" dirty="0"/>
              <a:t>рассеиваемой мощности Р проблем не вызывает. </a:t>
            </a:r>
            <a:r>
              <a:rPr lang="ru-RU" dirty="0" smtClean="0"/>
              <a:t> Она </a:t>
            </a:r>
            <a:r>
              <a:rPr lang="ru-RU" dirty="0"/>
              <a:t>определяется произведением силы тока </a:t>
            </a:r>
            <a:r>
              <a:rPr lang="ru-RU" dirty="0" err="1"/>
              <a:t>Iгр</a:t>
            </a:r>
            <a:r>
              <a:rPr lang="ru-RU" dirty="0"/>
              <a:t>, протекающего через переход на падение напряжения U на нем. Если </a:t>
            </a:r>
            <a:r>
              <a:rPr lang="ru-RU" dirty="0" smtClean="0"/>
              <a:t>разогрев осуществляется </a:t>
            </a:r>
            <a:r>
              <a:rPr lang="ru-RU" dirty="0"/>
              <a:t>импульсами тока, то необходимо произведение </a:t>
            </a:r>
            <a:r>
              <a:rPr lang="ru-RU" dirty="0" err="1"/>
              <a:t>Iгр·U</a:t>
            </a:r>
            <a:r>
              <a:rPr lang="ru-RU" dirty="0"/>
              <a:t> дополнительно умножить на коэффициент заполнения импульсов, определяемый отношением длительности импульсов к периоду следования. </a:t>
            </a:r>
            <a:endParaRPr lang="ru-RU" dirty="0" smtClean="0"/>
          </a:p>
          <a:p>
            <a:r>
              <a:rPr lang="ru-RU" dirty="0" smtClean="0"/>
              <a:t>Что </a:t>
            </a:r>
            <a:r>
              <a:rPr lang="ru-RU" dirty="0"/>
              <a:t>касается температуры, то ее можно определить косвенным способом, измерив какой-либо </a:t>
            </a:r>
            <a:r>
              <a:rPr lang="ru-RU" dirty="0" err="1"/>
              <a:t>температурочувствительный</a:t>
            </a:r>
            <a:r>
              <a:rPr lang="ru-RU" dirty="0"/>
              <a:t> параметр, например, прямое падение напряжения на переходе UТЧП.</a:t>
            </a:r>
          </a:p>
        </p:txBody>
      </p:sp>
    </p:spTree>
    <p:extLst>
      <p:ext uri="{BB962C8B-B14F-4D97-AF65-F5344CB8AC3E}">
        <p14:creationId xmlns:p14="http://schemas.microsoft.com/office/powerpoint/2010/main" val="829053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Реализация метода определения теплового сопротивления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Для реализации этого </a:t>
            </a:r>
            <a:r>
              <a:rPr lang="ru-RU" dirty="0" smtClean="0"/>
              <a:t>метода через </a:t>
            </a:r>
            <a:r>
              <a:rPr lang="ru-RU" dirty="0"/>
              <a:t>прибор пропускают небольшой по величине прямой ток, исключающий заметный разогрев активной области кристалла, а затем кратковременный греющий импульс, вызывающий нагрев </a:t>
            </a:r>
            <a:r>
              <a:rPr lang="ru-RU" i="1" dirty="0"/>
              <a:t>p-n</a:t>
            </a:r>
            <a:r>
              <a:rPr lang="ru-RU" dirty="0"/>
              <a:t>-перехода и последующее его остывание. </a:t>
            </a:r>
            <a:endParaRPr lang="ru-RU" dirty="0" smtClean="0"/>
          </a:p>
          <a:p>
            <a:r>
              <a:rPr lang="ru-RU" dirty="0" smtClean="0"/>
              <a:t>Измерив </a:t>
            </a:r>
            <a:r>
              <a:rPr lang="ru-RU" dirty="0"/>
              <a:t>прямое падение напряжения на </a:t>
            </a:r>
            <a:r>
              <a:rPr lang="ru-RU" dirty="0" smtClean="0"/>
              <a:t>переходе U </a:t>
            </a:r>
            <a:r>
              <a:rPr lang="ru-RU" baseline="-25000" dirty="0" smtClean="0"/>
              <a:t>ТЧП</a:t>
            </a:r>
            <a:r>
              <a:rPr lang="ru-RU" dirty="0" smtClean="0"/>
              <a:t> </a:t>
            </a:r>
            <a:r>
              <a:rPr lang="ru-RU" dirty="0"/>
              <a:t>непосредственно после разогрева и после его остывания, можно определить увеличение температуры </a:t>
            </a:r>
            <a:r>
              <a:rPr lang="ru-RU" i="1" dirty="0"/>
              <a:t>p-n</a:t>
            </a:r>
            <a:r>
              <a:rPr lang="ru-RU" dirty="0"/>
              <a:t>-перехода относительно корпуса ΔТ, что дает возможность определить и тепловое сопротивление RT «переход-корпус»: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 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где </a:t>
            </a:r>
            <a:r>
              <a:rPr lang="ru-RU" dirty="0"/>
              <a:t>ΔU</a:t>
            </a:r>
            <a:r>
              <a:rPr lang="ru-RU" baseline="-25000" dirty="0"/>
              <a:t>ТЧП</a:t>
            </a:r>
            <a:r>
              <a:rPr lang="ru-RU" dirty="0"/>
              <a:t> – изменение </a:t>
            </a:r>
            <a:r>
              <a:rPr lang="ru-RU" dirty="0" err="1"/>
              <a:t>температурочувствительного</a:t>
            </a:r>
            <a:r>
              <a:rPr lang="ru-RU" dirty="0"/>
              <a:t> параметра непосредственно после разогрева прибора и после его остывания (выхода в стационарный тепловой режим); </a:t>
            </a:r>
            <a:r>
              <a:rPr lang="ru-RU" dirty="0" err="1"/>
              <a:t>kт</a:t>
            </a:r>
            <a:r>
              <a:rPr lang="ru-RU" dirty="0"/>
              <a:t> – температурный коэффициент напряжения, который, например, для полупроводниковых приборов из кремния при прямом токе в несколько миллиампер примерно равен 2 мВ/К.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699792" y="3717032"/>
            <a:ext cx="3601720" cy="129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5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Недостатки метода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Однако данный метод обладает невысокой точностью, </a:t>
            </a:r>
            <a:r>
              <a:rPr lang="ru-RU" dirty="0" smtClean="0"/>
              <a:t>поскольку пропускание </a:t>
            </a:r>
            <a:r>
              <a:rPr lang="ru-RU" dirty="0"/>
              <a:t>через прибор греющего импульса тока приводит не только </a:t>
            </a:r>
            <a:r>
              <a:rPr lang="ru-RU" dirty="0" smtClean="0"/>
              <a:t>к разогреву </a:t>
            </a:r>
            <a:r>
              <a:rPr lang="ru-RU" dirty="0"/>
              <a:t>кристалла, но и вызывает инжекцию неосновных носителей заряда через </a:t>
            </a:r>
            <a:r>
              <a:rPr lang="ru-RU" i="1" dirty="0"/>
              <a:t>p-n</a:t>
            </a:r>
            <a:r>
              <a:rPr lang="ru-RU" dirty="0"/>
              <a:t>-переход и последующую их рекомбинацию.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результате </a:t>
            </a:r>
            <a:r>
              <a:rPr lang="ru-RU" dirty="0" smtClean="0"/>
              <a:t>на характер </a:t>
            </a:r>
            <a:r>
              <a:rPr lang="ru-RU" dirty="0"/>
              <a:t>изменения прямого падения напряжения оказывают влияние </a:t>
            </a:r>
            <a:r>
              <a:rPr lang="ru-RU" dirty="0" smtClean="0"/>
              <a:t>как тепловые </a:t>
            </a:r>
            <a:r>
              <a:rPr lang="ru-RU" dirty="0"/>
              <a:t>процессы, так и электрические. Разделить эти два фактора влияния весьма проблематично, что и вызывает большую погрешность в определении теплового сопротивления. </a:t>
            </a:r>
            <a:endParaRPr lang="ru-RU" dirty="0" smtClean="0"/>
          </a:p>
          <a:p>
            <a:r>
              <a:rPr lang="ru-RU" dirty="0" smtClean="0"/>
              <a:t>Недостатком </a:t>
            </a:r>
            <a:r>
              <a:rPr lang="ru-RU" dirty="0"/>
              <a:t>метода является также то, что с его помощью можно определить лишь полное тепловое сопротивление «переход-корпус», которое состоит из нескольких компонент, определяемых структурой полупроводниковых слоев и элементов конструкции прибора.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2660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Составляющие теплового сопротивления светодиода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Для примера на </a:t>
            </a:r>
            <a:r>
              <a:rPr lang="ru-RU" dirty="0" smtClean="0"/>
              <a:t>рис. </a:t>
            </a:r>
            <a:r>
              <a:rPr lang="ru-RU" dirty="0"/>
              <a:t>представлена упрощенная конструкция мощного полупроводникового светодиода. Там же показаны компоненты полного теплового сопротивления , включающие в себя сопротивления «</a:t>
            </a:r>
            <a:r>
              <a:rPr lang="ru-RU" i="1" dirty="0"/>
              <a:t>p-n </a:t>
            </a:r>
            <a:r>
              <a:rPr lang="ru-RU" dirty="0"/>
              <a:t>переход – монтажная пластина» </a:t>
            </a:r>
            <a:r>
              <a:rPr lang="ru-RU" dirty="0" smtClean="0"/>
              <a:t>R</a:t>
            </a:r>
            <a:r>
              <a:rPr lang="ru-RU" baseline="-25000" dirty="0" smtClean="0"/>
              <a:t>Тп-пл</a:t>
            </a:r>
            <a:r>
              <a:rPr lang="ru-RU" dirty="0" smtClean="0"/>
              <a:t> , </a:t>
            </a:r>
            <a:r>
              <a:rPr lang="ru-RU" dirty="0"/>
              <a:t>«монтажная пластина – радиатор» </a:t>
            </a:r>
            <a:r>
              <a:rPr lang="ru-RU" dirty="0" err="1" smtClean="0"/>
              <a:t>R</a:t>
            </a:r>
            <a:r>
              <a:rPr lang="ru-RU" baseline="-25000" dirty="0" err="1" smtClean="0"/>
              <a:t>Тпл</a:t>
            </a:r>
            <a:r>
              <a:rPr lang="ru-RU" baseline="-25000" dirty="0" smtClean="0"/>
              <a:t>-р</a:t>
            </a:r>
            <a:r>
              <a:rPr lang="ru-RU" dirty="0" smtClean="0"/>
              <a:t>  и </a:t>
            </a:r>
            <a:r>
              <a:rPr lang="ru-RU" dirty="0"/>
              <a:t>«радиатор – окружающая среда» R</a:t>
            </a:r>
            <a:r>
              <a:rPr lang="ru-RU" baseline="-25000" dirty="0"/>
              <a:t>Тр-ср</a:t>
            </a:r>
            <a:r>
              <a:rPr lang="ru-RU" dirty="0"/>
              <a:t>. Через Т</a:t>
            </a:r>
            <a:r>
              <a:rPr lang="ru-RU" baseline="-25000" dirty="0"/>
              <a:t>п</a:t>
            </a:r>
            <a:r>
              <a:rPr lang="ru-RU" dirty="0"/>
              <a:t>, Т</a:t>
            </a:r>
            <a:r>
              <a:rPr lang="ru-RU" baseline="-25000" dirty="0"/>
              <a:t>пл</a:t>
            </a:r>
            <a:r>
              <a:rPr lang="ru-RU" dirty="0"/>
              <a:t>, Т</a:t>
            </a:r>
            <a:r>
              <a:rPr lang="ru-RU" baseline="-25000" dirty="0"/>
              <a:t>р</a:t>
            </a:r>
            <a:r>
              <a:rPr lang="ru-RU" dirty="0"/>
              <a:t> и Т</a:t>
            </a:r>
            <a:r>
              <a:rPr lang="ru-RU" baseline="-25000" dirty="0"/>
              <a:t>ср</a:t>
            </a:r>
            <a:r>
              <a:rPr lang="ru-RU" dirty="0"/>
              <a:t> обозначены </a:t>
            </a:r>
            <a:r>
              <a:rPr lang="ru-RU" dirty="0" smtClean="0"/>
              <a:t>соответственно температуры </a:t>
            </a:r>
            <a:r>
              <a:rPr lang="ru-RU" i="1" dirty="0"/>
              <a:t>p-n </a:t>
            </a:r>
            <a:r>
              <a:rPr lang="ru-RU" dirty="0"/>
              <a:t>перехода, пластины, радиатора и окружающей среды; Р – греющая мощность.</a:t>
            </a:r>
          </a:p>
          <a:p>
            <a:r>
              <a:rPr lang="ru-RU" dirty="0"/>
              <a:t> 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r>
              <a:rPr lang="ru-RU" dirty="0" smtClean="0"/>
              <a:t>Рис</a:t>
            </a:r>
            <a:r>
              <a:rPr lang="ru-RU" dirty="0"/>
              <a:t>. </a:t>
            </a:r>
            <a:r>
              <a:rPr lang="ru-RU" dirty="0" smtClean="0"/>
              <a:t> </a:t>
            </a:r>
            <a:r>
              <a:rPr lang="ru-RU" dirty="0"/>
              <a:t>Упрощенная конструкция светодиода</a:t>
            </a:r>
          </a:p>
          <a:p>
            <a:r>
              <a:rPr lang="ru-RU" dirty="0"/>
              <a:t>	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835696" y="3573016"/>
            <a:ext cx="5091430" cy="214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12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Измерения компонент теплового сопротивления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Для измерения компонент теплового сопротивления используют </a:t>
            </a:r>
            <a:r>
              <a:rPr lang="ru-RU" dirty="0" smtClean="0"/>
              <a:t>два принципиально </a:t>
            </a:r>
            <a:r>
              <a:rPr lang="ru-RU" dirty="0"/>
              <a:t>отличающихся друг от друга метода, которые </a:t>
            </a:r>
            <a:r>
              <a:rPr lang="ru-RU" dirty="0" smtClean="0"/>
              <a:t>условно можно </a:t>
            </a:r>
            <a:r>
              <a:rPr lang="ru-RU" dirty="0"/>
              <a:t>назвать временным и спектральным. </a:t>
            </a:r>
            <a:endParaRPr lang="ru-RU" dirty="0" smtClean="0"/>
          </a:p>
          <a:p>
            <a:r>
              <a:rPr lang="ru-RU" dirty="0" smtClean="0"/>
              <a:t>Временной </a:t>
            </a:r>
            <a:r>
              <a:rPr lang="ru-RU" dirty="0"/>
              <a:t>метод основан </a:t>
            </a:r>
            <a:r>
              <a:rPr lang="ru-RU" dirty="0" smtClean="0"/>
              <a:t>на разогреве </a:t>
            </a:r>
            <a:r>
              <a:rPr lang="ru-RU" dirty="0"/>
              <a:t>полупроводникового прибора ступенчато изменяющейся мощностью и измерения отклика на это воздействие – температуры </a:t>
            </a:r>
            <a:r>
              <a:rPr lang="ru-RU" i="1" dirty="0"/>
              <a:t>p-n </a:t>
            </a:r>
            <a:r>
              <a:rPr lang="ru-RU" dirty="0"/>
              <a:t>перехода </a:t>
            </a:r>
            <a:r>
              <a:rPr lang="ru-RU" dirty="0" err="1" smtClean="0"/>
              <a:t>T</a:t>
            </a:r>
            <a:r>
              <a:rPr lang="ru-RU" baseline="-25000" dirty="0" err="1" smtClean="0"/>
              <a:t>п</a:t>
            </a:r>
            <a:r>
              <a:rPr lang="ru-RU" dirty="0" smtClean="0"/>
              <a:t>(t</a:t>
            </a:r>
            <a:r>
              <a:rPr lang="ru-RU" dirty="0"/>
              <a:t>) в процессе нагрева прибора до достижения стационарного состояния.</a:t>
            </a:r>
          </a:p>
          <a:p>
            <a:r>
              <a:rPr lang="ru-RU" dirty="0"/>
              <a:t>Температура определяется на основе измерения прямого падения напряжения на переходе U</a:t>
            </a:r>
            <a:r>
              <a:rPr lang="ru-RU" baseline="-25000" dirty="0"/>
              <a:t>ТЧП</a:t>
            </a:r>
            <a:r>
              <a:rPr lang="ru-RU" dirty="0"/>
              <a:t> при малом измерительном токе. Анализ такой переходной характеристики </a:t>
            </a:r>
            <a:r>
              <a:rPr lang="ru-RU" dirty="0" err="1" smtClean="0"/>
              <a:t>T</a:t>
            </a:r>
            <a:r>
              <a:rPr lang="ru-RU" baseline="-25000" dirty="0" err="1" smtClean="0"/>
              <a:t>п</a:t>
            </a:r>
            <a:r>
              <a:rPr lang="ru-RU" dirty="0" smtClean="0"/>
              <a:t>(t</a:t>
            </a:r>
            <a:r>
              <a:rPr lang="ru-RU" dirty="0"/>
              <a:t>) позволяет определить компоненты полного теплового сопротивления, соответствующие отдельным слоям структуры или элементам конструкции прибора, по которым распространяется тепловой поток.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444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Кривая нагрева </a:t>
            </a:r>
            <a:r>
              <a:rPr lang="ru-RU" b="1" i="1" dirty="0"/>
              <a:t>p-n </a:t>
            </a:r>
            <a:r>
              <a:rPr lang="ru-RU" b="1" dirty="0"/>
              <a:t>перехода полупроводникового прибора</a:t>
            </a:r>
            <a:r>
              <a:rPr lang="ru-RU" dirty="0"/>
              <a:t> 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fontScale="92500" lnSpcReduction="20000"/>
          </a:bodyPr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линейном (а) и логарифмическом (б) масштабе времени</a:t>
            </a:r>
          </a:p>
          <a:p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187624" y="1844825"/>
            <a:ext cx="6984776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817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Комментарии к кривым нагрева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507288" cy="583264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На рис. </a:t>
            </a:r>
            <a:r>
              <a:rPr lang="ru-RU" dirty="0" smtClean="0"/>
              <a:t> </a:t>
            </a:r>
            <a:r>
              <a:rPr lang="ru-RU" dirty="0"/>
              <a:t>представлена кривая нагрева </a:t>
            </a:r>
            <a:r>
              <a:rPr lang="ru-RU" i="1" dirty="0"/>
              <a:t>p-n </a:t>
            </a:r>
            <a:r>
              <a:rPr lang="ru-RU" dirty="0"/>
              <a:t>перехода  полупроводникового прибора. </a:t>
            </a:r>
            <a:endParaRPr lang="ru-RU" dirty="0" smtClean="0"/>
          </a:p>
          <a:p>
            <a:r>
              <a:rPr lang="ru-RU" dirty="0" smtClean="0"/>
              <a:t>Общее </a:t>
            </a:r>
            <a:r>
              <a:rPr lang="ru-RU" dirty="0"/>
              <a:t>время разогрева обычно составляет несколько сотен секунд, а периодичность измерения U</a:t>
            </a:r>
            <a:r>
              <a:rPr lang="ru-RU" baseline="-25000" dirty="0"/>
              <a:t>ТЧП</a:t>
            </a:r>
            <a:r>
              <a:rPr lang="ru-RU" dirty="0"/>
              <a:t> различна на разных временных участках. На начальном участке временные интервалы между соседними измерениями U</a:t>
            </a:r>
            <a:r>
              <a:rPr lang="ru-RU" baseline="-25000" dirty="0"/>
              <a:t>ТЧП</a:t>
            </a:r>
            <a:r>
              <a:rPr lang="ru-RU" dirty="0"/>
              <a:t> составляют единицы или десятки микросекунд, а при выходе на стационарный режим – единицы секунд. Это позволяет, с</a:t>
            </a:r>
            <a:br>
              <a:rPr lang="ru-RU" dirty="0"/>
            </a:br>
            <a:r>
              <a:rPr lang="ru-RU" dirty="0"/>
              <a:t>одной стороны, обнаруживать особенности изменения температуры </a:t>
            </a:r>
            <a:r>
              <a:rPr lang="ru-RU" i="1" dirty="0"/>
              <a:t>р-п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перехода в процессе его разогрева и в то же время ограничивает количество измерений U</a:t>
            </a:r>
            <a:r>
              <a:rPr lang="ru-RU" baseline="-25000" dirty="0"/>
              <a:t>ТЧП</a:t>
            </a:r>
            <a:r>
              <a:rPr lang="ru-RU" dirty="0"/>
              <a:t> для последующей их математической обработки. </a:t>
            </a:r>
            <a:endParaRPr lang="ru-RU" dirty="0" smtClean="0"/>
          </a:p>
          <a:p>
            <a:r>
              <a:rPr lang="ru-RU" dirty="0" smtClean="0"/>
              <a:t>Так, например</a:t>
            </a:r>
            <a:r>
              <a:rPr lang="ru-RU" dirty="0"/>
              <a:t>, на зависимости температуры перехода от времени </a:t>
            </a:r>
            <a:r>
              <a:rPr lang="ru-RU" dirty="0" err="1" smtClean="0"/>
              <a:t>Т</a:t>
            </a:r>
            <a:r>
              <a:rPr lang="ru-RU" baseline="-25000" dirty="0" err="1" smtClean="0"/>
              <a:t>п</a:t>
            </a:r>
            <a:r>
              <a:rPr lang="ru-RU" dirty="0" smtClean="0"/>
              <a:t>(t</a:t>
            </a:r>
            <a:r>
              <a:rPr lang="ru-RU" dirty="0"/>
              <a:t>) (рис. </a:t>
            </a:r>
            <a:r>
              <a:rPr lang="ru-RU" dirty="0" smtClean="0"/>
              <a:t>б</a:t>
            </a:r>
            <a:r>
              <a:rPr lang="ru-RU" dirty="0"/>
              <a:t>), построенной в логарифмическом масштабе времени, выделяются участки медленного и быстрого изменения температуры, соответствующие характерным слоям конструкции прибора. Участок </a:t>
            </a:r>
            <a:r>
              <a:rPr lang="ru-RU" dirty="0" smtClean="0"/>
              <a:t>медленного изменения </a:t>
            </a:r>
            <a:r>
              <a:rPr lang="ru-RU" dirty="0"/>
              <a:t>(полка) соответствует накоплению тепла в теплоемкости определенного слоя; участок быстрого изменения наблюдается, когда тепловой поток достигает следующего слоя. </a:t>
            </a:r>
            <a:endParaRPr lang="ru-RU" dirty="0" smtClean="0"/>
          </a:p>
          <a:p>
            <a:r>
              <a:rPr lang="ru-RU" dirty="0" smtClean="0"/>
              <a:t>На </a:t>
            </a:r>
            <a:r>
              <a:rPr lang="ru-RU" dirty="0"/>
              <a:t>кривой нагрева, построенной в линейном масштабе времени эти особенности не проявляются (рис. </a:t>
            </a:r>
            <a:r>
              <a:rPr lang="ru-RU" dirty="0" smtClean="0"/>
              <a:t>а</a:t>
            </a:r>
            <a:r>
              <a:rPr lang="ru-RU" dirty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153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Спектральный метод измерения теплового сопротивления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Альтернативой временному методу является спектральный метод, который обеспечивает более высокую точность измерения теплового сопротивления полупроводниковых приборов. В частотном методе нагрев производится мощностью, изменяющейся по гармоническому закону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где </a:t>
            </a:r>
            <a:r>
              <a:rPr lang="ru-RU" dirty="0"/>
              <a:t>P</a:t>
            </a:r>
            <a:r>
              <a:rPr lang="ru-RU" baseline="-25000" dirty="0"/>
              <a:t>1</a:t>
            </a:r>
            <a:r>
              <a:rPr lang="ru-RU" dirty="0"/>
              <a:t> – </a:t>
            </a:r>
            <a:r>
              <a:rPr lang="ru-RU" dirty="0" smtClean="0"/>
              <a:t> амплитуда </a:t>
            </a:r>
            <a:r>
              <a:rPr lang="ru-RU" dirty="0"/>
              <a:t>переменной составляющей мощности; </a:t>
            </a:r>
            <a:r>
              <a:rPr lang="ru-RU" dirty="0" smtClean="0"/>
              <a:t>P</a:t>
            </a:r>
            <a:r>
              <a:rPr lang="ru-RU" baseline="-25000" dirty="0" smtClean="0"/>
              <a:t>0 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 постоянная </a:t>
            </a:r>
            <a:r>
              <a:rPr lang="ru-RU" dirty="0"/>
              <a:t>составляющая мощности </a:t>
            </a:r>
            <a:r>
              <a:rPr lang="ru-RU" dirty="0" smtClean="0"/>
              <a:t> (</a:t>
            </a:r>
            <a:r>
              <a:rPr lang="ru-RU" dirty="0"/>
              <a:t>P</a:t>
            </a:r>
            <a:r>
              <a:rPr lang="ru-RU" baseline="-25000" dirty="0"/>
              <a:t>1</a:t>
            </a:r>
            <a:r>
              <a:rPr lang="ru-RU" dirty="0"/>
              <a:t> &lt; P</a:t>
            </a:r>
            <a:r>
              <a:rPr lang="ru-RU" baseline="-25000" dirty="0"/>
              <a:t>0</a:t>
            </a:r>
            <a:r>
              <a:rPr lang="ru-RU" dirty="0"/>
              <a:t>); ω – частота модуляции греющей мощности. 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843808" y="3861048"/>
            <a:ext cx="3960440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14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ШИМ греющей мощности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Нагрев прибора осуществляется последовательностью прямоугольных импульсов тока заданной амплитуды и частоты следования, длительность которых </a:t>
            </a:r>
            <a:r>
              <a:rPr lang="ru-RU" dirty="0" err="1"/>
              <a:t>промодулирована</a:t>
            </a:r>
            <a:r>
              <a:rPr lang="ru-RU" dirty="0"/>
              <a:t> по гармоническому закону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  <a:p>
            <a:r>
              <a:rPr lang="ru-RU" dirty="0"/>
              <a:t/>
            </a:r>
            <a:br>
              <a:rPr lang="ru-RU" dirty="0"/>
            </a:br>
            <a:r>
              <a:rPr lang="ru-RU" dirty="0"/>
              <a:t>где τ</a:t>
            </a:r>
            <a:r>
              <a:rPr lang="ru-RU" baseline="-25000" dirty="0"/>
              <a:t>u0</a:t>
            </a:r>
            <a:r>
              <a:rPr lang="ru-RU" dirty="0"/>
              <a:t> – средняя длительность импульсов; а – коэффициент, определяющий глубину широтно-импульсной модуляции греющей мощности.</a:t>
            </a:r>
          </a:p>
          <a:p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2483768" y="3717032"/>
            <a:ext cx="3888432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85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 smtClean="0"/>
              <a:t>Измерение  </a:t>
            </a:r>
            <a:r>
              <a:rPr lang="ru-RU" sz="3200" b="1" dirty="0" err="1" smtClean="0"/>
              <a:t>температурочувствительного</a:t>
            </a:r>
            <a:r>
              <a:rPr lang="ru-RU" sz="3200" b="1" dirty="0" smtClean="0"/>
              <a:t> параметра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069160"/>
          </a:xfrm>
        </p:spPr>
        <p:txBody>
          <a:bodyPr>
            <a:normAutofit fontScale="47500" lnSpcReduction="20000"/>
          </a:bodyPr>
          <a:lstStyle/>
          <a:p>
            <a:r>
              <a:rPr lang="ru-RU" sz="3800" dirty="0"/>
              <a:t>Измерение </a:t>
            </a:r>
            <a:r>
              <a:rPr lang="ru-RU" sz="3800" dirty="0" err="1"/>
              <a:t>температурочувствительного</a:t>
            </a:r>
            <a:r>
              <a:rPr lang="ru-RU" sz="3800" dirty="0"/>
              <a:t> параметра (напряжения на</a:t>
            </a:r>
            <a:br>
              <a:rPr lang="ru-RU" sz="3800" dirty="0"/>
            </a:br>
            <a:r>
              <a:rPr lang="ru-RU" sz="3800" i="1" dirty="0"/>
              <a:t>p-n </a:t>
            </a:r>
            <a:r>
              <a:rPr lang="ru-RU" sz="3800" dirty="0"/>
              <a:t>переходе при малом прямом токе) производится в паузах между греющими импульсами, с небольшой относительно среза импульсов временной задержкой, необходимой для завершения переходных электрических процессов. </a:t>
            </a:r>
            <a:endParaRPr lang="ru-RU" sz="3800" dirty="0" smtClean="0"/>
          </a:p>
          <a:p>
            <a:r>
              <a:rPr lang="ru-RU" sz="3800" dirty="0" smtClean="0"/>
              <a:t>Измерение </a:t>
            </a:r>
            <a:r>
              <a:rPr lang="ru-RU" sz="3800" dirty="0"/>
              <a:t>U</a:t>
            </a:r>
            <a:r>
              <a:rPr lang="ru-RU" sz="3800" baseline="-25000" dirty="0"/>
              <a:t>ТЧП</a:t>
            </a:r>
            <a:r>
              <a:rPr lang="ru-RU" sz="3800" dirty="0"/>
              <a:t> начинается после непродолжительного предварительного разогрева полупроводникового прибора и вывода его в такой тепловой режим, при котором температура </a:t>
            </a:r>
            <a:r>
              <a:rPr lang="ru-RU" sz="3800" i="1" dirty="0"/>
              <a:t>p-n </a:t>
            </a:r>
            <a:r>
              <a:rPr lang="ru-RU" sz="3800" dirty="0"/>
              <a:t>перехода будет пульсировать относительно некоторого квазистационарного значения Т(t), изменяющегося с частотой модуляции греющей мощности:</a:t>
            </a:r>
          </a:p>
          <a:p>
            <a:r>
              <a:rPr lang="ru-RU" sz="3800" dirty="0"/>
              <a:t/>
            </a:r>
            <a:br>
              <a:rPr lang="ru-RU" sz="3800" dirty="0"/>
            </a:br>
            <a:endParaRPr lang="ru-RU" sz="3800" dirty="0"/>
          </a:p>
          <a:p>
            <a:r>
              <a:rPr lang="ru-RU" sz="3800" dirty="0"/>
              <a:t> </a:t>
            </a:r>
          </a:p>
          <a:p>
            <a:endParaRPr lang="ru-RU" sz="3800" dirty="0" smtClean="0"/>
          </a:p>
          <a:p>
            <a:endParaRPr lang="ru-RU" sz="3800" dirty="0"/>
          </a:p>
          <a:p>
            <a:r>
              <a:rPr lang="ru-RU" sz="3800" dirty="0" smtClean="0"/>
              <a:t>где </a:t>
            </a:r>
            <a:r>
              <a:rPr lang="ru-RU" sz="3800" dirty="0"/>
              <a:t>Т</a:t>
            </a:r>
            <a:r>
              <a:rPr lang="ru-RU" sz="3800" baseline="-25000" dirty="0"/>
              <a:t>0</a:t>
            </a:r>
            <a:r>
              <a:rPr lang="ru-RU" sz="3800" dirty="0"/>
              <a:t> – среднее значение температуры </a:t>
            </a:r>
            <a:r>
              <a:rPr lang="ru-RU" sz="3800" i="1" dirty="0"/>
              <a:t>p-n </a:t>
            </a:r>
            <a:r>
              <a:rPr lang="ru-RU" sz="3800" dirty="0"/>
              <a:t>перехода, T</a:t>
            </a:r>
            <a:r>
              <a:rPr lang="ru-RU" sz="3800" baseline="-25000" dirty="0"/>
              <a:t>1</a:t>
            </a:r>
            <a:r>
              <a:rPr lang="ru-RU" sz="3800" dirty="0"/>
              <a:t> – амплитуда </a:t>
            </a:r>
            <a:r>
              <a:rPr lang="ru-RU" sz="3800" dirty="0" smtClean="0"/>
              <a:t>гармонической </a:t>
            </a:r>
            <a:r>
              <a:rPr lang="ru-RU" sz="3800" dirty="0"/>
              <a:t>составляющей температуры </a:t>
            </a:r>
            <a:r>
              <a:rPr lang="ru-RU" sz="3800" i="1" dirty="0"/>
              <a:t>p-n </a:t>
            </a:r>
            <a:r>
              <a:rPr lang="ru-RU" sz="3800" dirty="0"/>
              <a:t>перехода на частоте модуляции; φ – сдвиг фаз между переменной составляющей температуры </a:t>
            </a:r>
            <a:r>
              <a:rPr lang="ru-RU" sz="3800" i="1" dirty="0"/>
              <a:t>p-n </a:t>
            </a:r>
            <a:r>
              <a:rPr lang="ru-RU" sz="3800" dirty="0"/>
              <a:t>перехода и переменной составляющей греющей мощности. 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483768" y="3933056"/>
            <a:ext cx="4176463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851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Определение модуля теплового импеданса |Z</a:t>
            </a:r>
            <a:r>
              <a:rPr lang="ru-RU" b="1" baseline="-25000" dirty="0" smtClean="0"/>
              <a:t>T</a:t>
            </a:r>
            <a:r>
              <a:rPr lang="ru-RU" b="1" dirty="0" smtClean="0"/>
              <a:t>|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При соответствующем выборе длительности и частоты следования греющих импульсов тока величина пульсаций температуры при включении и выключении греющего тока будет существенно меньше амплитуды гармонической составляющей температуры перехода.</a:t>
            </a:r>
          </a:p>
          <a:p>
            <a:r>
              <a:rPr lang="ru-RU" dirty="0"/>
              <a:t>Произведя Фурье-преобразование температуры перехода T(t) и греющей мощности P(t) и вычислив Фурье-трансформанты их первых гармоник, можно определить модуль теплового импеданса |Z</a:t>
            </a:r>
            <a:r>
              <a:rPr lang="ru-RU" baseline="-25000" dirty="0"/>
              <a:t>T</a:t>
            </a:r>
            <a:r>
              <a:rPr lang="ru-RU" dirty="0"/>
              <a:t>| и его фазу φ, определяющую сдвиг фаз между температурой перехода и греющей мощностью</a:t>
            </a:r>
          </a:p>
          <a:p>
            <a:r>
              <a:rPr lang="en-US" dirty="0"/>
              <a:t> </a:t>
            </a:r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Измерив </a:t>
            </a:r>
            <a:r>
              <a:rPr lang="ru-RU" dirty="0"/>
              <a:t>зависимость модуля теплового импеданса (теплового сопротивления) от частоты модуляции греющей мощности f можно определить вклад отдельных компонент теплового сопротивления в общее тепловое сопротивление. 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1331640" y="3933056"/>
            <a:ext cx="6840760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49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b="1" dirty="0"/>
              <a:t>Зависимости теплового сопротивления R</a:t>
            </a:r>
            <a:r>
              <a:rPr lang="ru-RU" sz="2400" b="1" baseline="-25000" dirty="0"/>
              <a:t>T</a:t>
            </a:r>
            <a:r>
              <a:rPr lang="ru-RU" sz="2400" b="1" dirty="0"/>
              <a:t> и фазы теплового импеданса φ от частоты модуляции греющей мощности</a:t>
            </a:r>
            <a:br>
              <a:rPr lang="ru-RU" sz="2400" b="1" dirty="0"/>
            </a:br>
            <a:endParaRPr lang="ru-RU" sz="2400" b="1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8" y="1700808"/>
            <a:ext cx="8568952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649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/>
              <a:t>Комментарии к частотным зависимостям теплового сопротивления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На рис. </a:t>
            </a:r>
            <a:r>
              <a:rPr lang="ru-RU" dirty="0" smtClean="0"/>
              <a:t>представлены </a:t>
            </a:r>
            <a:r>
              <a:rPr lang="ru-RU" dirty="0"/>
              <a:t>частотные зависимости для теплового сопротивления R</a:t>
            </a:r>
            <a:r>
              <a:rPr lang="ru-RU" baseline="-25000" dirty="0"/>
              <a:t>T</a:t>
            </a:r>
            <a:r>
              <a:rPr lang="ru-RU" dirty="0"/>
              <a:t> и фазы φ для двух образцов, представляющих собой мощные светодиоды на монтажной плате.</a:t>
            </a:r>
          </a:p>
          <a:p>
            <a:r>
              <a:rPr lang="ru-RU" dirty="0" smtClean="0"/>
              <a:t>Из </a:t>
            </a:r>
            <a:r>
              <a:rPr lang="ru-RU" dirty="0"/>
              <a:t>представленных зависимостей видно, что в середине </a:t>
            </a:r>
            <a:r>
              <a:rPr lang="ru-RU" dirty="0" smtClean="0"/>
              <a:t>частотного диапазона </a:t>
            </a:r>
            <a:r>
              <a:rPr lang="ru-RU" dirty="0"/>
              <a:t>и в области низких частот имеются участки, на которых тепловое сопротивление практически не изменяется, а сдвиг фаз между температурой перехода и греющей мощностью принимает минимальные значения</a:t>
            </a:r>
            <a:r>
              <a:rPr lang="ru-RU" dirty="0" smtClean="0"/>
              <a:t>.</a:t>
            </a:r>
          </a:p>
          <a:p>
            <a:r>
              <a:rPr lang="ru-RU" dirty="0" smtClean="0"/>
              <a:t>Это </a:t>
            </a:r>
            <a:r>
              <a:rPr lang="ru-RU" dirty="0"/>
              <a:t>указывает на то, что общее тепловое сопротивления включает в </a:t>
            </a:r>
            <a:r>
              <a:rPr lang="ru-RU" dirty="0" smtClean="0"/>
              <a:t>себя две </a:t>
            </a:r>
            <a:r>
              <a:rPr lang="ru-RU" dirty="0"/>
              <a:t>составляющие. Одна из них проявляется в области частот от 1 до 10 </a:t>
            </a:r>
            <a:r>
              <a:rPr lang="ru-RU" dirty="0" smtClean="0"/>
              <a:t>Гц и </a:t>
            </a:r>
            <a:r>
              <a:rPr lang="ru-RU" dirty="0"/>
              <a:t>соответствует компоненте теплового сопротивления «</a:t>
            </a:r>
            <a:r>
              <a:rPr lang="ru-RU" i="1" dirty="0"/>
              <a:t>p-n </a:t>
            </a:r>
            <a:r>
              <a:rPr lang="ru-RU" dirty="0"/>
              <a:t>переход – основание корпуса». </a:t>
            </a:r>
          </a:p>
          <a:p>
            <a:r>
              <a:rPr lang="ru-RU" dirty="0"/>
              <a:t>Другая составляющая проявляется в области частот менее 0,05 Гц и соответствует компоненте теплового сопротивления «основание корпуса – монтажная пластина».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709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Преимущества и проблемы спектрального метода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997152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 Достоинством спектрального метода является то, что информация о теплофизических параметрах объекта измерения получается за один временной скан, не превышающий обычно по длительности несколько сотен секунд при общем количестве отсчетов температуры менее 2000 (200 отсчетов на декаду). </a:t>
            </a:r>
            <a:endParaRPr lang="ru-RU" dirty="0" smtClean="0"/>
          </a:p>
          <a:p>
            <a:r>
              <a:rPr lang="ru-RU" dirty="0" smtClean="0"/>
              <a:t>Вместе </a:t>
            </a:r>
            <a:r>
              <a:rPr lang="ru-RU" dirty="0"/>
              <a:t>с тем необходимо учитывать, что изменения температуры между соседними отсчетами могут составлять величину на уровне 0,01ºС (рис. б). При температурном коэффициенте напряжения</a:t>
            </a:r>
            <a:br>
              <a:rPr lang="ru-RU" dirty="0"/>
            </a:br>
            <a:r>
              <a:rPr lang="ru-RU" dirty="0"/>
              <a:t>2 мВ/ºС это соответствует изменению прямого напряжения на</a:t>
            </a:r>
            <a:br>
              <a:rPr lang="ru-RU" dirty="0"/>
            </a:br>
            <a:r>
              <a:rPr lang="ru-RU" i="1" dirty="0"/>
              <a:t>p-n</a:t>
            </a:r>
            <a:r>
              <a:rPr lang="ru-RU" dirty="0"/>
              <a:t>-переходе около 0,02 мВ, что меньше единицы младшего </a:t>
            </a:r>
            <a:r>
              <a:rPr lang="ru-RU" dirty="0" smtClean="0"/>
              <a:t>разряда 16-битного </a:t>
            </a:r>
            <a:r>
              <a:rPr lang="ru-RU" dirty="0"/>
              <a:t>АЦП. </a:t>
            </a:r>
            <a:endParaRPr lang="ru-RU" dirty="0" smtClean="0"/>
          </a:p>
          <a:p>
            <a:r>
              <a:rPr lang="ru-RU" dirty="0" smtClean="0"/>
              <a:t>Возможность </a:t>
            </a:r>
            <a:r>
              <a:rPr lang="ru-RU" dirty="0"/>
              <a:t>провести многократные измерения температуры с последующим усреднением отсутствует. Все это может привести к существенным погрешностям, вызванным квантованием аналогового сигнала при измерении температуры перехода.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28136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920</Words>
  <Application>Microsoft Office PowerPoint</Application>
  <PresentationFormat>Экран (4:3)</PresentationFormat>
  <Paragraphs>94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 5.4. Методы измерения теплового сопротивления полупроводниковых приборов </vt:lpstr>
      <vt:lpstr>Необходимость измерения теплового сопротивления</vt:lpstr>
      <vt:lpstr>Измеряемые величины</vt:lpstr>
      <vt:lpstr>Реализация метода определения теплового сопротивления</vt:lpstr>
      <vt:lpstr>Недостатки метода</vt:lpstr>
      <vt:lpstr>Составляющие теплового сопротивления светодиода</vt:lpstr>
      <vt:lpstr>Измерения компонент теплового сопротивления</vt:lpstr>
      <vt:lpstr>Кривая нагрева p-n перехода полупроводникового прибора </vt:lpstr>
      <vt:lpstr> Комментарии к кривым нагрева </vt:lpstr>
      <vt:lpstr>Спектральный метод измерения теплового сопротивления </vt:lpstr>
      <vt:lpstr>ШИМ греющей мощности</vt:lpstr>
      <vt:lpstr>Измерение  температурочувствительного параметра</vt:lpstr>
      <vt:lpstr>Определение модуля теплового импеданса |ZT|</vt:lpstr>
      <vt:lpstr>Зависимости теплового сопротивления RT и фазы теплового импеданса φ от частоты модуляции греющей мощности </vt:lpstr>
      <vt:lpstr>Комментарии к частотным зависимостям теплового сопротивления</vt:lpstr>
      <vt:lpstr>Преимущества и проблемы спектрального метода</vt:lpstr>
    </vt:vector>
  </TitlesOfParts>
  <Company>-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-</dc:creator>
  <cp:lastModifiedBy>-</cp:lastModifiedBy>
  <cp:revision>20</cp:revision>
  <dcterms:created xsi:type="dcterms:W3CDTF">2016-10-03T07:07:18Z</dcterms:created>
  <dcterms:modified xsi:type="dcterms:W3CDTF">2016-10-03T08:22:10Z</dcterms:modified>
</cp:coreProperties>
</file>